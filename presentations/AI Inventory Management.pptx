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10"/>
  </p:normalViewPr>
  <p:slideViewPr>
    <p:cSldViewPr snapToGrid="0" snapToObjects="1">
      <p:cViewPr>
        <p:scale>
          <a:sx n="121" d="100"/>
          <a:sy n="121" d="100"/>
        </p:scale>
        <p:origin x="123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467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474720" cy="481888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74720" y="73152"/>
            <a:ext cx="54864" cy="481888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BUSINESS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PROGRAM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2286000"/>
            <a:ext cx="822960" cy="822960"/>
          </a:xfrm>
          <a:prstGeom prst="ellipse">
            <a:avLst/>
          </a:prstGeom>
          <a:solidFill>
            <a:srgbClr val="0D7C8A">
              <a:alpha val="20000"/>
            </a:srgbClr>
          </a:solidFill>
          <a:ln w="12700">
            <a:solidFill>
              <a:srgbClr val="0D7C8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0" y="3474720"/>
            <a:ext cx="1280160" cy="1280160"/>
          </a:xfrm>
          <a:prstGeom prst="ellipse">
            <a:avLst/>
          </a:prstGeom>
          <a:solidFill>
            <a:srgbClr val="C9913D">
              <a:alpha val="12000"/>
            </a:srgbClr>
          </a:solidFill>
          <a:ln w="12700">
            <a:solidFill>
              <a:srgbClr val="C9913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Faheem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Elkheshin</a:t>
            </a:r>
            <a:endParaRPr lang="en-US" sz="13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ID:23225423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029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2677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Ahmed Elseddawy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2788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March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5029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AI-OPTIMIZED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749040" y="1051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50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49040" y="1600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 CONSTRUCTION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49040" y="2212848"/>
            <a:ext cx="4754880" cy="27432"/>
          </a:xfrm>
          <a:prstGeom prst="rect">
            <a:avLst/>
          </a:prstGeom>
          <a:solidFill>
            <a:srgbClr val="6B8CAE">
              <a:alpha val="60000"/>
            </a:srgbClr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Digital Transformation Case Study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263347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ERP-Integrated, AI-Driven Construction Management Platform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3246120"/>
            <a:ext cx="22860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49040" y="3246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ERP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246120"/>
            <a:ext cx="22860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3246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Primavera P6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3721608"/>
            <a:ext cx="22860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49040" y="3721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3721608"/>
            <a:ext cx="22860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63640" y="3721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AI-Optimized Inventory Management in Construction | MBA Case Study</a:t>
            </a:r>
            <a:endParaRPr lang="en-US" sz="8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7220827-98B3-CF4F-A2DE-748B72582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148"/>
            <a:ext cx="3529584" cy="45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Overview of the AI-Driven Construction Management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64008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2984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609344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projects face chronic inventory failures: material shortages, overstock, delayed approvals, and zero integration between planning, procurement, and execution systems.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64008" cy="1572768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12984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73752" y="1609344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platform integrating SAP, Primavera P6, warehouse operations, and site execution — enabling predictive inventory readiness and live cost control.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99232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64008" cy="157276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3108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41985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NLP, RPA, Supervised &amp; Unsupervised learning, and Predictive Analytics converge into a single intelligent decision engine.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999232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999232"/>
            <a:ext cx="64008" cy="15727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73752" y="3108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3752" y="341985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30–45% reduction in material delays, near-real-time cost visibility, lower emergency purchasing, and a transformational shift in project delivery performance.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77724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BUSINESS CONTEXT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Inventory Management is a Strategic Challenge in Construction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64008" cy="804672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115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Digitalization Gap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389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lags all major industries in digital adoption. Only 16% of firms use integrated project management platforms.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984248"/>
            <a:ext cx="64008" cy="804672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0482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32257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(P6), procurement (SAP), warehouse (manual), and site execution operate in silos with no shared intelligence.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16936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916936"/>
            <a:ext cx="64008" cy="80467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980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as a Risk Driver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2552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25% of project delays are caused by material unavailability or mismatch between schedule demand and supply readiness.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849624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849624"/>
            <a:ext cx="64008" cy="80467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913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Imperative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1879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integration is no longer optional — it is the foundation of competitive advantage in large-scale construction delivery.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1078992"/>
            <a:ext cx="32918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112471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20840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construction projects exceed budget due to poor material tracking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2011680"/>
            <a:ext cx="32918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77840" y="205740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720840" y="2103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delays caused by inventory mismatches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32120" y="2944368"/>
            <a:ext cx="32918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77840" y="299008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720840" y="303580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emergency purchasing cost vs planned procurement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32120" y="3877056"/>
            <a:ext cx="329184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77840" y="392277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$1.8T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720840" y="396849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global construction rework cost due to planning failures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systemic failures driving cost overruns and delivery risk in construction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91840" y="1051560"/>
            <a:ext cx="2103120" cy="1280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dirty="0"/>
          </a:p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dirty="0"/>
          </a:p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20440" y="19202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377440" cy="1691640"/>
          </a:xfrm>
          <a:prstGeom prst="rect">
            <a:avLst/>
          </a:prstGeom>
          <a:solidFill>
            <a:srgbClr val="1B2B4B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69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Material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stoppages from unavailable critical materials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377440" cy="1691640"/>
          </a:xfrm>
          <a:prstGeom prst="rect">
            <a:avLst/>
          </a:prstGeom>
          <a:solidFill>
            <a:srgbClr val="1B2B4B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0698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Overstock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Waste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691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procurement tying up cash and clogging site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3017520"/>
            <a:ext cx="2377440" cy="1691640"/>
          </a:xfrm>
          <a:prstGeom prst="rect">
            <a:avLst/>
          </a:prstGeom>
          <a:solidFill>
            <a:srgbClr val="1B2B4B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31272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Delayed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Inspection, QC, and RFI delays blocking execution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92240" y="3017520"/>
            <a:ext cx="2377440" cy="1691640"/>
          </a:xfrm>
          <a:prstGeom prst="rect">
            <a:avLst/>
          </a:prstGeom>
          <a:solidFill>
            <a:srgbClr val="1B2B4B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312724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Schedule vs.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Mismatch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demand not linked to warehouse readiness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3017520"/>
            <a:ext cx="2377440" cy="1691640"/>
          </a:xfrm>
          <a:prstGeom prst="rect">
            <a:avLst/>
          </a:prstGeom>
          <a:solidFill>
            <a:srgbClr val="1B2B4B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91840" y="362386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No Unified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Platform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4709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P6, and site logs produce contradictory signals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77724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&amp; THEIR LIMITATIONS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Tools Fall Short of Integrated Project Intelligence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886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ERP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control, PO management, GRN, actuals posting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actuals (2–4 weeks lag), no schedule linkage, not site-aware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demand, real-time field updates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Primavera P6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scheduling, resource loading, WBS 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cost actuals, static updates, no warehouse visibility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readiness check, live cost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Site Process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zero-cost tools, direct site knowledge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audit trail, no system integration, human error-prone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alerts, approval workflows, analytics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Spreadsheet-based data bridging possible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error-prone, monthly batch updates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D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control matrix, AI-driven forecasting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AI-POWERED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Construction Intelligence Platform — From Reactive to Predictive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91840" y="1371600"/>
            <a:ext cx="2560320" cy="2331720"/>
          </a:xfrm>
          <a:prstGeom prst="ellipse">
            <a:avLst/>
          </a:prstGeom>
          <a:solidFill>
            <a:srgbClr val="0D7C8A"/>
          </a:solidFill>
          <a:ln w="12700">
            <a:solidFill>
              <a:srgbClr val="15A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2560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1168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C991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472184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ERP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&amp; 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0" y="1417320"/>
            <a:ext cx="201168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E6B9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39712" y="1472184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Primavera P6</a:t>
            </a:r>
            <a:endParaRPr lang="en-US" sz="1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WBS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201168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E6B9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3255264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</a:p>
        </p:txBody>
      </p:sp>
      <p:sp>
        <p:nvSpPr>
          <p:cNvPr id="12" name="Shape 10"/>
          <p:cNvSpPr/>
          <p:nvPr/>
        </p:nvSpPr>
        <p:spPr>
          <a:xfrm>
            <a:off x="6766560" y="3200400"/>
            <a:ext cx="201168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E6B9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39712" y="3255264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Execution</a:t>
            </a:r>
            <a:endParaRPr lang="en-US" sz="1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QC</a:t>
            </a:r>
            <a:endParaRPr lang="en-US" sz="1000" dirty="0">
              <a:solidFill>
                <a:srgbClr val="FFC00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566160" y="4005072"/>
            <a:ext cx="201168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E6B9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21737" y="4061040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1828800"/>
            <a:ext cx="1005840" cy="411480"/>
          </a:xfrm>
          <a:prstGeom prst="line">
            <a:avLst/>
          </a:prstGeom>
          <a:noFill/>
          <a:ln w="12700">
            <a:solidFill>
              <a:srgbClr val="15A5B5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0" y="1828800"/>
            <a:ext cx="0" cy="411480"/>
          </a:xfrm>
          <a:prstGeom prst="line">
            <a:avLst/>
          </a:prstGeom>
          <a:noFill/>
          <a:ln w="12700">
            <a:solidFill>
              <a:srgbClr val="15A5B5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2286000" y="3182112"/>
            <a:ext cx="1188720" cy="429768"/>
          </a:xfrm>
          <a:prstGeom prst="line">
            <a:avLst/>
          </a:prstGeom>
          <a:noFill/>
          <a:ln w="12700">
            <a:solidFill>
              <a:srgbClr val="15A5B5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66560" y="3611880"/>
            <a:ext cx="0" cy="0"/>
          </a:xfrm>
          <a:prstGeom prst="line">
            <a:avLst/>
          </a:prstGeom>
          <a:noFill/>
          <a:ln w="12700">
            <a:solidFill>
              <a:srgbClr val="15A5B5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4206240"/>
            <a:ext cx="0" cy="0"/>
          </a:xfrm>
          <a:prstGeom prst="line">
            <a:avLst/>
          </a:prstGeom>
          <a:noFill/>
          <a:ln w="12700">
            <a:solidFill>
              <a:srgbClr val="E6B95E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6</a:t>
            </a:r>
            <a:endParaRPr lang="en-US" sz="9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13401950-7E4C-AE97-93C5-D02296FDE4B7}"/>
              </a:ext>
            </a:extLst>
          </p:cNvPr>
          <p:cNvSpPr/>
          <p:nvPr/>
        </p:nvSpPr>
        <p:spPr>
          <a:xfrm flipV="1">
            <a:off x="4572000" y="3703320"/>
            <a:ext cx="0" cy="301752"/>
          </a:xfrm>
          <a:prstGeom prst="line">
            <a:avLst/>
          </a:prstGeom>
          <a:noFill/>
          <a:ln w="12700">
            <a:solidFill>
              <a:srgbClr val="15A5B5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20A56D81-314C-A8A9-1BDE-131C10C348BB}"/>
              </a:ext>
            </a:extLst>
          </p:cNvPr>
          <p:cNvSpPr/>
          <p:nvPr/>
        </p:nvSpPr>
        <p:spPr>
          <a:xfrm flipH="1" flipV="1">
            <a:off x="5678213" y="3161722"/>
            <a:ext cx="1088345" cy="429768"/>
          </a:xfrm>
          <a:prstGeom prst="line">
            <a:avLst/>
          </a:prstGeom>
          <a:noFill/>
          <a:ln w="12700">
            <a:solidFill>
              <a:srgbClr val="15A5B5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D481BEA0-663E-D3E6-167F-4534C6A47C13}"/>
              </a:ext>
            </a:extLst>
          </p:cNvPr>
          <p:cNvSpPr/>
          <p:nvPr/>
        </p:nvSpPr>
        <p:spPr>
          <a:xfrm flipH="1">
            <a:off x="5769655" y="1835842"/>
            <a:ext cx="1070056" cy="379476"/>
          </a:xfrm>
          <a:prstGeom prst="line">
            <a:avLst/>
          </a:prstGeom>
          <a:noFill/>
          <a:ln w="12700">
            <a:solidFill>
              <a:srgbClr val="15A5B5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77724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DATA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Foundation — Seven Layers of Integrated Project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54864" cy="749808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12471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BOQ &amp; Estimate Build-Up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399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quantities and unit rates per WBS activity — the cost and material demand foundation.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54864" cy="74980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12471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SAP ERP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64608" y="1399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purchase orders, commitments, GRN receipts, and actual cost postings in real-time.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3852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54864" cy="749808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20116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Primavera P6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schedule, WBS, resource loading, lookahead windows, and milestone tracking.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93852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938528"/>
            <a:ext cx="54864" cy="749808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201168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Warehouse Transactions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2286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receipts, issuances, stock levels, bin locations, and movement history.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82549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825496"/>
            <a:ext cx="54864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289864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Inspection &amp; QC Logs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requests, hold/release status, NCR records, and constraint flags by work front.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82549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2825496"/>
            <a:ext cx="54864" cy="749808"/>
          </a:xfrm>
          <a:prstGeom prst="rect">
            <a:avLst/>
          </a:prstGeom>
          <a:solidFill>
            <a:srgbClr val="15A5B5"/>
          </a:solidFill>
          <a:ln w="12700">
            <a:solidFill>
              <a:srgbClr val="15A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289864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RFID &amp; Labor Tracking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64608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labor deployment by zone, gang productivity norms, and shift output records.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74556" y="3776472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474556" y="3776472"/>
            <a:ext cx="54864" cy="713232"/>
          </a:xfrm>
          <a:prstGeom prst="rect">
            <a:avLst/>
          </a:prstGeom>
          <a:solidFill>
            <a:srgbClr val="7E8FA6"/>
          </a:solidFill>
          <a:ln w="12700">
            <a:solidFill>
              <a:srgbClr val="7E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42032" y="379933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Historical &amp; Supplier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78608" y="4041333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times, price history, supplier performance scores, and productivity benchmarks.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77724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 of Intelligence — From Reporting to Autonomous Guidance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011680" cy="822960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01752" y="14813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KPI reports, SAP actuals, and P6 progress snapshots. Current inventory status vs. demand.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1752" y="318211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consumed vs. planned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trends by work package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variance by WBS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04872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04872" y="1051560"/>
            <a:ext cx="2011680" cy="822960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96312" y="1078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78024" y="14813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78024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it happen?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of delays, cost deviations, and inventory failures across integrated data sources.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78024" y="318211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inspection hold → material delay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lag vs. actual progress gap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source analysis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81144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81144" y="1051560"/>
            <a:ext cx="2011680" cy="82296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72584" y="1078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54296" y="14813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54296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happen?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54296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forecast material demand, delivery windows, and cost trajectories based on schedule and historical patterns.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54296" y="318211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material demand forecast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lead time prediction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 early warning alerts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57416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57416" y="1051560"/>
            <a:ext cx="201168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48856" y="10789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30568" y="14813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30568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30568" y="23042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 procurement actions, approval sequences, and resource adjustments — from insight to decision.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30568" y="3182112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 purchase orders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alert by criticality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buffer optimization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4736592"/>
            <a:ext cx="8686800" cy="0"/>
          </a:xfrm>
          <a:prstGeom prst="line">
            <a:avLst/>
          </a:prstGeom>
          <a:noFill/>
          <a:ln w="12700">
            <a:solidFill>
              <a:srgbClr val="E8ECF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 INCREASING ANALYTICAL MATURITY &amp; STRATEGIC VALUE ►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TECHNIQUES USED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Engine — AI Methods Driving Predictive Project Control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4592" y="1024128"/>
            <a:ext cx="2788920" cy="1737360"/>
          </a:xfrm>
          <a:prstGeom prst="rect">
            <a:avLst/>
          </a:prstGeom>
          <a:solidFill>
            <a:srgbClr val="1B2B4B"/>
          </a:solidFill>
          <a:ln w="12700">
            <a:solidFill>
              <a:srgbClr val="0D7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1024128"/>
            <a:ext cx="2788920" cy="73152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Supervised Machine Learning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forecasting, delay prediction, supplier lead-time modeling using labeled historical project data.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23042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Material demand forecasts, cost EAC, risk scores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024128"/>
            <a:ext cx="2788920" cy="1737360"/>
          </a:xfrm>
          <a:prstGeom prst="rect">
            <a:avLst/>
          </a:prstGeom>
          <a:solidFill>
            <a:srgbClr val="1B2B4B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08960" y="1024128"/>
            <a:ext cx="2788920" cy="73152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18688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Unsupervised Learning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18688" y="15727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project phases and supplier behaviors; anomaly detection in consumption vs. planned rates.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18688" y="23042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Overstock clusters, consumption anomaly flags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3328" y="1024128"/>
            <a:ext cx="2788920" cy="1737360"/>
          </a:xfrm>
          <a:prstGeom prst="rect">
            <a:avLst/>
          </a:prstGeom>
          <a:solidFill>
            <a:srgbClr val="1B2B4B"/>
          </a:solidFill>
          <a:ln w="12700">
            <a:solidFill>
              <a:srgbClr val="C991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53328" y="1024128"/>
            <a:ext cx="2788920" cy="7315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63056" y="11887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Semi-Supervised + Rules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63056" y="157276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small labeled datasets with rule-based thresholds to trigger procurement and QC alerts.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63056" y="23042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Auto-triggered purchase alerts, hold flags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3017520"/>
            <a:ext cx="4206240" cy="1737360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4592" y="3017520"/>
            <a:ext cx="42062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182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Natural Language Processing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3566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RFIs, inspection reports, and NCR logs to extract delays, constraints, and action items automatically.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4297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Constraint extraction, automatic issue tagging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99432" y="3017520"/>
            <a:ext cx="4206240" cy="1737360"/>
          </a:xfrm>
          <a:prstGeom prst="rect">
            <a:avLst/>
          </a:prstGeom>
          <a:solidFill>
            <a:srgbClr val="1B2B4B"/>
          </a:solidFill>
          <a:ln w="12700">
            <a:solidFill>
              <a:srgbClr val="15A5B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99432" y="3017520"/>
            <a:ext cx="4206240" cy="73152"/>
          </a:xfrm>
          <a:prstGeom prst="rect">
            <a:avLst/>
          </a:prstGeom>
          <a:solidFill>
            <a:srgbClr val="15A5B5"/>
          </a:solidFill>
          <a:ln w="12700">
            <a:solidFill>
              <a:srgbClr val="15A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3182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Robotic Process Automation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566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 tasks: SAP data extraction, P6 progress updates, report generation, and email alerts.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4297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Monthly reports, SAP extracts, status notifications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77724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Operational Flow — From Project Setup to Management Insight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1572768" cy="7772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37744" y="1417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Setup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55648" y="1463040"/>
            <a:ext cx="182880" cy="0"/>
          </a:xfrm>
          <a:prstGeom prst="line">
            <a:avLst/>
          </a:prstGeom>
          <a:noFill/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938528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938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BOQ &amp; WBS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2596896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59689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P6 baseline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3255264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25526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material norms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3913632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9136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cost budgets in SAP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38528" y="105156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38528" y="1051560"/>
            <a:ext cx="1572768" cy="777240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84248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93392" y="1417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11296" y="1463040"/>
            <a:ext cx="182880" cy="0"/>
          </a:xfrm>
          <a:prstGeom prst="line">
            <a:avLst/>
          </a:prstGeom>
          <a:noFill/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11680" y="1938528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29968" y="1938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vs. P6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11680" y="2596896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29968" y="259689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actuals to WBS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11680" y="3255264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29968" y="325526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float &amp; critical path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0" y="3913632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029968" y="39136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CTC forecasts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94176" y="105156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94176" y="1051560"/>
            <a:ext cx="1572768" cy="77724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39896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49040" y="1417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66944" y="1463040"/>
            <a:ext cx="182880" cy="0"/>
          </a:xfrm>
          <a:prstGeom prst="line">
            <a:avLst/>
          </a:prstGeom>
          <a:noFill/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767328" y="1938528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85616" y="1938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stock tracking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767328" y="2596896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85616" y="259689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AI-triggered PO alerts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67328" y="3255264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85616" y="325526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lead time models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767328" y="3913632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85616" y="39136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reconciliation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449824" y="105156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49824" y="1051560"/>
            <a:ext cx="1572768" cy="77724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95544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5504688" y="1417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22592" y="1463040"/>
            <a:ext cx="18288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522976" y="1938528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541264" y="1938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quantity recording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22976" y="2596896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541264" y="259689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labor tracking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22976" y="3255264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541264" y="325526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inspection logging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522976" y="3913632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541264" y="39136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capture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205472" y="1051560"/>
            <a:ext cx="1572768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205472" y="1051560"/>
            <a:ext cx="157276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251192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7260336" y="1417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278624" y="1938528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296912" y="1938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dashboard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278624" y="2596896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296912" y="259689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EVM/EVA narratives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278624" y="3255264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296912" y="325526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cost alerts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278624" y="3913632"/>
            <a:ext cx="1426464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296912" y="39136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 &amp; DECISION SUPPORT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Command Categories — Real-Time Visibility Across All Project Dimensions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987552"/>
            <a:ext cx="4206240" cy="1783080"/>
          </a:xfrm>
          <a:prstGeom prst="rect">
            <a:avLst/>
          </a:prstGeom>
          <a:solidFill>
            <a:srgbClr val="1B2B4B"/>
          </a:solidFill>
          <a:ln w="12700">
            <a:solidFill>
              <a:srgbClr val="0D7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4206240" cy="347472"/>
          </a:xfrm>
          <a:prstGeom prst="rect">
            <a:avLst/>
          </a:prstGeom>
          <a:solidFill>
            <a:srgbClr val="0D7C8A">
              <a:alpha val="90000"/>
            </a:srgbClr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1042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INVENTORY READINESS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4264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Readiness Index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14264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685800" cy="228600"/>
          </a:xfrm>
          <a:prstGeom prst="rect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4630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2608" y="1847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Stock Coverage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97480" y="1847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1883664"/>
            <a:ext cx="685800" cy="228600"/>
          </a:xfrm>
          <a:prstGeom prst="rect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18836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2608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Frequency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22677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2304288"/>
            <a:ext cx="685800" cy="228600"/>
          </a:xfrm>
          <a:prstGeom prst="rect">
            <a:avLst/>
          </a:prstGeom>
          <a:solidFill>
            <a:srgbClr val="15A5B5">
              <a:alpha val="30000"/>
            </a:srgbClr>
          </a:solidFill>
          <a:ln w="12700">
            <a:solidFill>
              <a:srgbClr val="15A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23042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63440" y="987552"/>
            <a:ext cx="4206240" cy="1783080"/>
          </a:xfrm>
          <a:prstGeom prst="rect">
            <a:avLst/>
          </a:prstGeom>
          <a:solidFill>
            <a:srgbClr val="1B2B4B"/>
          </a:solidFill>
          <a:ln w="12700">
            <a:solidFill>
              <a:srgbClr val="C991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987552"/>
            <a:ext cx="4206240" cy="347472"/>
          </a:xfrm>
          <a:prstGeom prst="rect">
            <a:avLst/>
          </a:prstGeom>
          <a:solidFill>
            <a:srgbClr val="C9913D">
              <a:alpha val="90000"/>
            </a:srgbClr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1042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EXECUTION QUALITY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14264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Pass Rate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040" y="14264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1463040"/>
            <a:ext cx="685800" cy="228600"/>
          </a:xfrm>
          <a:prstGeom prst="rect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14630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73168" y="1847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Constraints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78040" y="18470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1883664"/>
            <a:ext cx="685800" cy="228600"/>
          </a:xfrm>
          <a:prstGeom prst="rect">
            <a:avLst/>
          </a:prstGeom>
          <a:solidFill>
            <a:srgbClr val="E67E22">
              <a:alpha val="3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46720" y="18836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73168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Rate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78040" y="22677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46720" y="2304288"/>
            <a:ext cx="685800" cy="228600"/>
          </a:xfrm>
          <a:prstGeom prst="rect">
            <a:avLst/>
          </a:prstGeom>
          <a:solidFill>
            <a:srgbClr val="15A5B5">
              <a:alpha val="30000"/>
            </a:srgbClr>
          </a:solidFill>
          <a:ln w="12700">
            <a:solidFill>
              <a:srgbClr val="15A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46720" y="23042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82880" y="2953512"/>
            <a:ext cx="4206240" cy="1783080"/>
          </a:xfrm>
          <a:prstGeom prst="rect">
            <a:avLst/>
          </a:prstGeom>
          <a:solidFill>
            <a:srgbClr val="1B2B4B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82880" y="2953512"/>
            <a:ext cx="4206240" cy="347472"/>
          </a:xfrm>
          <a:prstGeom prst="rect">
            <a:avLst/>
          </a:prstGeom>
          <a:solidFill>
            <a:srgbClr val="6B8CAE">
              <a:alpha val="90000"/>
            </a:srgbClr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2608" y="3008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PRODUCTIVITY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2608" y="3392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Productivity Index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97480" y="33924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566160" y="3429000"/>
            <a:ext cx="685800" cy="228600"/>
          </a:xfrm>
          <a:prstGeom prst="rect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66160" y="34290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92608" y="3813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 Progress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97480" y="38130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566160" y="3849624"/>
            <a:ext cx="685800" cy="228600"/>
          </a:xfrm>
          <a:prstGeom prst="rect">
            <a:avLst/>
          </a:prstGeom>
          <a:solidFill>
            <a:srgbClr val="15A5B5">
              <a:alpha val="30000"/>
            </a:srgbClr>
          </a:solidFill>
          <a:ln w="12700">
            <a:solidFill>
              <a:srgbClr val="15A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66160" y="38496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92608" y="4233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Compliance Rate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697480" y="42336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66160" y="4270248"/>
            <a:ext cx="685800" cy="228600"/>
          </a:xfrm>
          <a:prstGeom prst="rect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566160" y="42702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663440" y="2953512"/>
            <a:ext cx="4206240" cy="1783080"/>
          </a:xfrm>
          <a:prstGeom prst="rect">
            <a:avLst/>
          </a:prstGeom>
          <a:solidFill>
            <a:srgbClr val="1B2B4B"/>
          </a:solidFill>
          <a:ln w="12700">
            <a:solidFill>
              <a:srgbClr val="E6B9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663440" y="2953512"/>
            <a:ext cx="4206240" cy="347472"/>
          </a:xfrm>
          <a:prstGeom prst="rect">
            <a:avLst/>
          </a:prstGeom>
          <a:solidFill>
            <a:srgbClr val="E6B95E">
              <a:alpha val="90000"/>
            </a:srgbClr>
          </a:solidFill>
          <a:ln w="12700">
            <a:solidFill>
              <a:srgbClr val="E6B9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73168" y="3008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COMMERCIAL CONTROL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73168" y="3392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Performance Index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78040" y="339242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046720" y="3429000"/>
            <a:ext cx="685800" cy="228600"/>
          </a:xfrm>
          <a:prstGeom prst="rect">
            <a:avLst/>
          </a:prstGeom>
          <a:solidFill>
            <a:srgbClr val="E67E22">
              <a:alpha val="3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046720" y="34290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773168" y="3813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Variance vs Budget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78040" y="38130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-2.3%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046720" y="3849624"/>
            <a:ext cx="685800" cy="228600"/>
          </a:xfrm>
          <a:prstGeom prst="rect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046720" y="38496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773168" y="4233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Coverage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178040" y="42336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046720" y="4270248"/>
            <a:ext cx="685800" cy="228600"/>
          </a:xfrm>
          <a:prstGeom prst="rect">
            <a:avLst/>
          </a:prstGeom>
          <a:solidFill>
            <a:srgbClr val="27AE60">
              <a:alpha val="3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046720" y="42702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77724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COST PROXY CONCEPT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SAP Actuals Gap with Near-Real-Time Cost Intelligence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SAP actuals post 2–4 weeks after site execution — creating a decision-making blind spot at month-end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3840480" cy="457200"/>
          </a:xfrm>
          <a:prstGeom prst="rect">
            <a:avLst/>
          </a:prstGeom>
          <a:solidFill>
            <a:srgbClr val="7E8FA6"/>
          </a:solidFill>
          <a:ln w="12700">
            <a:solidFill>
              <a:srgbClr val="7E8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SAP REPORTING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batch posting of actuals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arrive 2–4 weeks after work done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between reporting cycles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on stale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respond to emerging cost overruns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correction — too late to prevent loss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78308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1783080"/>
            <a:ext cx="3840480" cy="457200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181051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LIVE COST PROXY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233172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quantities × productivity norms → estimated cost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commitments (POs) as cost proxy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issuances as material consumed signal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daily — not monthly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Dual-layer: proxy (operational) + official (finance)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in near-real-time with confidence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2834640"/>
            <a:ext cx="804672" cy="804672"/>
          </a:xfrm>
          <a:prstGeom prst="ellipse">
            <a:avLst/>
          </a:prstGeom>
          <a:solidFill>
            <a:srgbClr val="C9913D"/>
          </a:solidFill>
          <a:ln w="12700">
            <a:solidFill>
              <a:srgbClr val="E6B9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60520" y="283464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Execution to Intelligent, Connected Construction Operations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8595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240280" y="9875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(Traditional)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0" y="9875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(AI-Powered)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85953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54864" cy="594360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5910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12848" y="1572768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spreadsheet reconciliation every month-end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68112" y="15727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real-time integration across SAP, P6, and warehouse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67128"/>
            <a:ext cx="8595360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54864" cy="59436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2768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&amp; Visibility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12848" y="2258568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Siloed departments with contradictory reports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68112" y="22585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source of truth on unified AI-powered platform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85953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852928"/>
            <a:ext cx="54864" cy="594360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9626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Intelligence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12848" y="2944368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Reactive procurement — order after shortage occurs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68112" y="29443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Predictive demand triggers — order before shortage risk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538728"/>
            <a:ext cx="8595360" cy="594360"/>
          </a:xfrm>
          <a:prstGeom prst="rect">
            <a:avLst/>
          </a:prstGeom>
          <a:solidFill>
            <a:srgbClr val="1B2B4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538728"/>
            <a:ext cx="54864" cy="594360"/>
          </a:xfrm>
          <a:prstGeom prst="rect">
            <a:avLst/>
          </a:prstGeom>
          <a:solidFill>
            <a:srgbClr val="E6B95E"/>
          </a:solidFill>
          <a:ln w="12700">
            <a:solidFill>
              <a:srgbClr val="E6B9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6484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Responsiveness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12848" y="3630168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Executive decisions based on outdated monthly data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68112" y="36301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KPI dashboards enabling same-day decisions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85953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4224528"/>
            <a:ext cx="54864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3342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&amp; Governance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12848" y="4315968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audit trail for site cost and material movement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68112" y="43159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digital audit log with version control and governance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77724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 &amp; GOVERNANCE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Flow, Security Layers, and Control Integrity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011680" cy="804672"/>
          </a:xfrm>
          <a:prstGeom prst="rect">
            <a:avLst/>
          </a:prstGeom>
          <a:solidFill>
            <a:srgbClr val="1B2B4B">
              <a:alpha val="92000"/>
            </a:srgbClr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26187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Data Sources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188720"/>
            <a:ext cx="1463040" cy="621792"/>
          </a:xfrm>
          <a:prstGeom prst="rect">
            <a:avLst/>
          </a:prstGeom>
          <a:solidFill>
            <a:srgbClr val="1B2B4B">
              <a:alpha val="15000"/>
            </a:srgbClr>
          </a:solidFill>
          <a:ln w="12700">
            <a:solidFill>
              <a:srgbClr val="1B2B4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32304" y="11887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ERP (Actuals, PO, Budget)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68496" y="1188720"/>
            <a:ext cx="1463040" cy="621792"/>
          </a:xfrm>
          <a:prstGeom prst="rect">
            <a:avLst/>
          </a:prstGeom>
          <a:solidFill>
            <a:srgbClr val="1B2B4B">
              <a:alpha val="15000"/>
            </a:srgbClr>
          </a:solidFill>
          <a:ln w="12700">
            <a:solidFill>
              <a:srgbClr val="1B2B4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11887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Primavera P6 (WBS, Schedule)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59552" y="1188720"/>
            <a:ext cx="1463040" cy="621792"/>
          </a:xfrm>
          <a:prstGeom prst="rect">
            <a:avLst/>
          </a:prstGeom>
          <a:solidFill>
            <a:srgbClr val="1B2B4B">
              <a:alpha val="15000"/>
            </a:srgbClr>
          </a:solidFill>
          <a:ln w="12700">
            <a:solidFill>
              <a:srgbClr val="1B2B4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14416" y="11887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Transactions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50608" y="1188720"/>
            <a:ext cx="1463040" cy="621792"/>
          </a:xfrm>
          <a:prstGeom prst="rect">
            <a:avLst/>
          </a:prstGeom>
          <a:solidFill>
            <a:srgbClr val="1B2B4B">
              <a:alpha val="15000"/>
            </a:srgbClr>
          </a:solidFill>
          <a:ln w="12700">
            <a:solidFill>
              <a:srgbClr val="1B2B4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05472" y="11887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Measurement Logs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901952"/>
            <a:ext cx="0" cy="109728"/>
          </a:xfrm>
          <a:prstGeom prst="line">
            <a:avLst/>
          </a:prstGeom>
          <a:noFill/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103120"/>
            <a:ext cx="8686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7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2103120"/>
            <a:ext cx="2011680" cy="804672"/>
          </a:xfrm>
          <a:prstGeom prst="rect">
            <a:avLst/>
          </a:prstGeom>
          <a:solidFill>
            <a:srgbClr val="0D7C8A">
              <a:alpha val="92000"/>
            </a:srgbClr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2608" y="22677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Data Warehouse (SQL Server)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2194560"/>
            <a:ext cx="1463040" cy="621792"/>
          </a:xfrm>
          <a:prstGeom prst="rect">
            <a:avLst/>
          </a:prstGeom>
          <a:solidFill>
            <a:srgbClr val="0D7C8A">
              <a:alpha val="15000"/>
            </a:srgbClr>
          </a:solidFill>
          <a:ln w="12700">
            <a:solidFill>
              <a:srgbClr val="0D7C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32304" y="21945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staging and transformation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68496" y="2194560"/>
            <a:ext cx="1463040" cy="621792"/>
          </a:xfrm>
          <a:prstGeom prst="rect">
            <a:avLst/>
          </a:prstGeom>
          <a:solidFill>
            <a:srgbClr val="0D7C8A">
              <a:alpha val="15000"/>
            </a:srgbClr>
          </a:solidFill>
          <a:ln w="12700">
            <a:solidFill>
              <a:srgbClr val="0D7C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0" y="21945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governance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59552" y="2194560"/>
            <a:ext cx="1463040" cy="621792"/>
          </a:xfrm>
          <a:prstGeom prst="rect">
            <a:avLst/>
          </a:prstGeom>
          <a:solidFill>
            <a:srgbClr val="0D7C8A">
              <a:alpha val="15000"/>
            </a:srgbClr>
          </a:solidFill>
          <a:ln w="12700">
            <a:solidFill>
              <a:srgbClr val="0D7C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14416" y="21945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and version control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50608" y="2194560"/>
            <a:ext cx="1463040" cy="621792"/>
          </a:xfrm>
          <a:prstGeom prst="rect">
            <a:avLst/>
          </a:prstGeom>
          <a:solidFill>
            <a:srgbClr val="0D7C8A">
              <a:alpha val="15000"/>
            </a:srgbClr>
          </a:solidFill>
          <a:ln w="12700">
            <a:solidFill>
              <a:srgbClr val="0D7C8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05472" y="21945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with validation rules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2907792"/>
            <a:ext cx="0" cy="109728"/>
          </a:xfrm>
          <a:prstGeom prst="line">
            <a:avLst/>
          </a:prstGeom>
          <a:noFill/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28600" y="3108960"/>
            <a:ext cx="8686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91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3108960"/>
            <a:ext cx="2011680" cy="804672"/>
          </a:xfrm>
          <a:prstGeom prst="rect">
            <a:avLst/>
          </a:prstGeom>
          <a:solidFill>
            <a:srgbClr val="C9913D">
              <a:alpha val="92000"/>
            </a:srgbClr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2608" y="327355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AI &amp; Analytics Engine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3200400"/>
            <a:ext cx="1463040" cy="621792"/>
          </a:xfrm>
          <a:prstGeom prst="rect">
            <a:avLst/>
          </a:prstGeom>
          <a:solidFill>
            <a:srgbClr val="C9913D">
              <a:alpha val="15000"/>
            </a:srgbClr>
          </a:solidFill>
          <a:ln w="12700">
            <a:solidFill>
              <a:srgbClr val="C991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32304" y="32004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 models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968496" y="3200400"/>
            <a:ext cx="1463040" cy="621792"/>
          </a:xfrm>
          <a:prstGeom prst="rect">
            <a:avLst/>
          </a:prstGeom>
          <a:solidFill>
            <a:srgbClr val="C9913D">
              <a:alpha val="15000"/>
            </a:srgbClr>
          </a:solidFill>
          <a:ln w="12700">
            <a:solidFill>
              <a:srgbClr val="C991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23360" y="32004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control matrix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59552" y="3200400"/>
            <a:ext cx="1463040" cy="621792"/>
          </a:xfrm>
          <a:prstGeom prst="rect">
            <a:avLst/>
          </a:prstGeom>
          <a:solidFill>
            <a:srgbClr val="C9913D">
              <a:alpha val="15000"/>
            </a:srgbClr>
          </a:solidFill>
          <a:ln w="12700">
            <a:solidFill>
              <a:srgbClr val="C991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14416" y="32004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text processing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150608" y="3200400"/>
            <a:ext cx="1463040" cy="621792"/>
          </a:xfrm>
          <a:prstGeom prst="rect">
            <a:avLst/>
          </a:prstGeom>
          <a:solidFill>
            <a:srgbClr val="C9913D">
              <a:alpha val="15000"/>
            </a:srgbClr>
          </a:solidFill>
          <a:ln w="12700">
            <a:solidFill>
              <a:srgbClr val="C9913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205472" y="32004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workflow automation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0" y="3913632"/>
            <a:ext cx="0" cy="109728"/>
          </a:xfrm>
          <a:prstGeom prst="line">
            <a:avLst/>
          </a:prstGeom>
          <a:noFill/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28600" y="4114800"/>
            <a:ext cx="8686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28600" y="4114800"/>
            <a:ext cx="2011680" cy="804672"/>
          </a:xfrm>
          <a:prstGeom prst="rect">
            <a:avLst/>
          </a:prstGeom>
          <a:solidFill>
            <a:srgbClr val="3D5A80">
              <a:alpha val="92000"/>
            </a:srgbClr>
          </a:solidFill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92608" y="42793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Governance &amp; Security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77440" y="4206240"/>
            <a:ext cx="1463040" cy="621792"/>
          </a:xfrm>
          <a:prstGeom prst="rect">
            <a:avLst/>
          </a:prstGeom>
          <a:solidFill>
            <a:srgbClr val="3D5A80">
              <a:alpha val="15000"/>
            </a:srgbClr>
          </a:solidFill>
          <a:ln w="12700">
            <a:solidFill>
              <a:srgbClr val="3D5A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432304" y="42062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968496" y="4206240"/>
            <a:ext cx="1463040" cy="621792"/>
          </a:xfrm>
          <a:prstGeom prst="rect">
            <a:avLst/>
          </a:prstGeom>
          <a:solidFill>
            <a:srgbClr val="3D5A80">
              <a:alpha val="15000"/>
            </a:srgbClr>
          </a:solidFill>
          <a:ln w="12700">
            <a:solidFill>
              <a:srgbClr val="3D5A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023360" y="42062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 and compliance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59552" y="4206240"/>
            <a:ext cx="1463040" cy="621792"/>
          </a:xfrm>
          <a:prstGeom prst="rect">
            <a:avLst/>
          </a:prstGeom>
          <a:solidFill>
            <a:srgbClr val="3D5A80">
              <a:alpha val="15000"/>
            </a:srgbClr>
          </a:solidFill>
          <a:ln w="12700">
            <a:solidFill>
              <a:srgbClr val="3D5A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614416" y="42062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workflows and e-sign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150608" y="4206240"/>
            <a:ext cx="1463040" cy="621792"/>
          </a:xfrm>
          <a:prstGeom prst="rect">
            <a:avLst/>
          </a:prstGeom>
          <a:solidFill>
            <a:srgbClr val="3D5A80">
              <a:alpha val="15000"/>
            </a:srgbClr>
          </a:solidFill>
          <a:ln w="12700">
            <a:solidFill>
              <a:srgbClr val="3D5A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205472" y="42062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audit logging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VALUE CREATION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Strategic, Operational, and Financial Returns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834640" cy="3767328"/>
          </a:xfrm>
          <a:prstGeom prst="rect">
            <a:avLst/>
          </a:prstGeom>
          <a:solidFill>
            <a:srgbClr val="1B2B4B"/>
          </a:solidFill>
          <a:ln w="12700">
            <a:solidFill>
              <a:srgbClr val="C991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834640" cy="68580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987552"/>
            <a:ext cx="2688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FINANCIAL VALUE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10896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56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material delay costs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487168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" y="25328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in emergency purchasing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191256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0896" y="323697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264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material waste &amp; overstock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895344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" y="394106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684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cost savings vs. baseline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960120"/>
            <a:ext cx="2834640" cy="3767328"/>
          </a:xfrm>
          <a:prstGeom prst="rect">
            <a:avLst/>
          </a:prstGeom>
          <a:solidFill>
            <a:srgbClr val="1B2B4B"/>
          </a:solidFill>
          <a:ln w="12700">
            <a:solidFill>
              <a:srgbClr val="0D7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54680" y="960120"/>
            <a:ext cx="2834640" cy="685800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27832" y="987552"/>
            <a:ext cx="2688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OPERATIONAL VALUE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1783080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82696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60520" y="1856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month-end reporting cycle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487168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82696" y="25328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wks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6052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issue detection vs. traditional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3191256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82696" y="323697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60520" y="3264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routine procurement tasks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46120" y="3895344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82696" y="394106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160520" y="39684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constraint resolution on site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960120"/>
            <a:ext cx="2834640" cy="3767328"/>
          </a:xfrm>
          <a:prstGeom prst="rect">
            <a:avLst/>
          </a:prstGeom>
          <a:solidFill>
            <a:srgbClr val="1B2B4B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960120"/>
            <a:ext cx="2834640" cy="685800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99632" y="987552"/>
            <a:ext cx="2688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STRATEGIC VALUE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1783080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54496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132320" y="18562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confidence &amp; contract competitiveness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2487168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54496" y="25328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3232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visibility across all packages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3191256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54496" y="323697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132320" y="32644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digital maturity rating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3895344"/>
            <a:ext cx="26517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54496" y="394106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132320" y="39684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manual reconciliation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77724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ETHICAL ISSUES &amp; LIMITATIONS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Deployment — What Must Be Managed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24128"/>
          <a:ext cx="8686800" cy="3749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Incomplete, inconsistent, or delayed input data from SAP and site systems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 governance, validation rules, and ETL quality checks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models may produce inaccurate forecasts in novel project conditions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validation, model monitoring, and fallback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teams and planners resisting new digital workflows and 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management program, champion network, and training plan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&amp; Security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cost and commercial data exposed through platform vulnerabilities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encryption, access logs, and SOC compliance standards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data may embed biases from past underperforming projects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model audits, diverse training data, and bias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Oversight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Over-reliance on AI recommendations without critical management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D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approval thresholds and AI-assist (not AI-decide)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777240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IMPLEMENTATION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583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Approach to Sustainable AI Transformation in Construction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051560"/>
            <a:ext cx="594360" cy="594360"/>
          </a:xfrm>
          <a:prstGeom prst="ellipse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1348740"/>
            <a:ext cx="1600200" cy="0"/>
          </a:xfrm>
          <a:prstGeom prst="line">
            <a:avLst/>
          </a:prstGeom>
          <a:noFill/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7190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9568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(Months 1–4)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2487168"/>
            <a:ext cx="1874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2608" y="2487168"/>
            <a:ext cx="1874520" cy="54864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1719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SAP master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SQL Server warehouse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P6 WBS to BOQ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control matrix rules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3240" y="1051560"/>
            <a:ext cx="594360" cy="594360"/>
          </a:xfrm>
          <a:prstGeom prst="ellipse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63240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1348740"/>
            <a:ext cx="1600200" cy="0"/>
          </a:xfrm>
          <a:prstGeom prst="line">
            <a:avLst/>
          </a:prstGeom>
          <a:noFill/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87168" y="17190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87168" y="19568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(Months 5–9)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87168" y="2487168"/>
            <a:ext cx="1874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87168" y="2487168"/>
            <a:ext cx="1874520" cy="54864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0" y="2606040"/>
            <a:ext cx="1719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2–3 critical packages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inventory readiness KPIs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live cost proxy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site &amp; controls teams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57800" y="1051560"/>
            <a:ext cx="594360" cy="594360"/>
          </a:xfrm>
          <a:prstGeom prst="ellipse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1348740"/>
            <a:ext cx="1600200" cy="0"/>
          </a:xfrm>
          <a:prstGeom prst="line">
            <a:avLst/>
          </a:prstGeom>
          <a:noFill/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81728" y="17190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81728" y="19568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(Months 10–18)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2487168"/>
            <a:ext cx="1874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1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81728" y="2487168"/>
            <a:ext cx="1874520" cy="54864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2606040"/>
            <a:ext cx="1719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packages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ML demand models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procurement alerts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Power BI dashboard rollout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52360" y="1051560"/>
            <a:ext cx="594360" cy="594360"/>
          </a:xfrm>
          <a:prstGeom prst="ellipse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52360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76288" y="17190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76288" y="195681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(Year 2+)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76288" y="2487168"/>
            <a:ext cx="1874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76288" y="2487168"/>
            <a:ext cx="1874520" cy="54864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49440" y="2606040"/>
            <a:ext cx="1719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integration &amp; 4D linking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for site QC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development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project assistant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ASSESSMENT &amp;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Inventory Management: The Path from Reactive to Predictive Construction Control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206240" cy="1554480"/>
          </a:xfrm>
          <a:prstGeom prst="rect">
            <a:avLst/>
          </a:prstGeom>
          <a:solidFill>
            <a:srgbClr val="1B2B4B"/>
          </a:solidFill>
          <a:ln w="12700">
            <a:solidFill>
              <a:srgbClr val="0D7C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4206240" cy="54864"/>
          </a:xfrm>
          <a:prstGeom prst="rect">
            <a:avLst/>
          </a:prstGeom>
          <a:solidFill>
            <a:srgbClr val="0D7C8A"/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1298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0392" y="13258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the Core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783080"/>
            <a:ext cx="3950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breakthrough is not AI alone — it is the convergence of time, cost, quantity, quality, location, and approval status into a single decision engine.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06240" cy="1554480"/>
          </a:xfrm>
          <a:prstGeom prst="rect">
            <a:avLst/>
          </a:prstGeom>
          <a:solidFill>
            <a:srgbClr val="1B2B4B"/>
          </a:solidFill>
          <a:ln w="12700">
            <a:solidFill>
              <a:srgbClr val="C991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06240" cy="54864"/>
          </a:xfrm>
          <a:prstGeom prst="rect">
            <a:avLst/>
          </a:prstGeom>
          <a:solidFill>
            <a:srgbClr val="C9913D"/>
          </a:solidFill>
          <a:ln w="12700">
            <a:solidFill>
              <a:srgbClr val="C991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12984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30952" y="13258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Determines Success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783080"/>
            <a:ext cx="3950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quality, role-based control, and human oversight are non-negotiable prerequisites — the system is only as good as the data it is fed.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26080"/>
            <a:ext cx="4206240" cy="1554480"/>
          </a:xfrm>
          <a:prstGeom prst="rect">
            <a:avLst/>
          </a:prstGeom>
          <a:solidFill>
            <a:srgbClr val="1B2B4B"/>
          </a:solidFill>
          <a:ln w="12700">
            <a:solidFill>
              <a:srgbClr val="6B8C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4206240" cy="54864"/>
          </a:xfrm>
          <a:prstGeom prst="rect">
            <a:avLst/>
          </a:prstGeom>
          <a:solidFill>
            <a:srgbClr val="6B8CAE"/>
          </a:solidFill>
          <a:ln w="12700">
            <a:solidFill>
              <a:srgbClr val="6B8C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" y="3035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" y="306324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Deployment is Critical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3520440"/>
            <a:ext cx="3950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Pilot-first, scale-second. Starting with 2–3 critical work packages builds organizational confidence and validates model performance before full rollout.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206240" cy="1554480"/>
          </a:xfrm>
          <a:prstGeom prst="rect">
            <a:avLst/>
          </a:prstGeom>
          <a:solidFill>
            <a:srgbClr val="1B2B4B"/>
          </a:solidFill>
          <a:ln w="12700">
            <a:solidFill>
              <a:srgbClr val="E6B9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206240" cy="54864"/>
          </a:xfrm>
          <a:prstGeom prst="rect">
            <a:avLst/>
          </a:prstGeom>
          <a:solidFill>
            <a:srgbClr val="E6B95E"/>
          </a:solidFill>
          <a:ln w="12700">
            <a:solidFill>
              <a:srgbClr val="E6B9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3035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B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30952" y="306324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Transformation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3520440"/>
            <a:ext cx="3950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firms that build intelligent, integrated project controls platforms will define the next decade of delivery excellence and client trust.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7C8A">
              <a:alpha val="90000"/>
            </a:srgbClr>
          </a:solidFill>
          <a:ln w="12700">
            <a:solidFill>
              <a:srgbClr val="0D7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future of construction is not built with bricks and mortar alone — it is built with data, intelligence, and integration."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64008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CAE"/>
                </a:solidFill>
              </a:rPr>
              <a:t>AI-Optimized Inventory Management in Construction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503920" y="4892040"/>
            <a:ext cx="5486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13D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2244</Words>
  <Application>Microsoft Office PowerPoint</Application>
  <PresentationFormat>On-screen Show (16:9)</PresentationFormat>
  <Paragraphs>466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AI-Optimized Inventory Management Systems in Construction</dc:title>
  <dc:subject>PptxGenJS Presentation</dc:subject>
  <dc:creator>Omar Faheem Elkheshin</dc:creator>
  <cp:lastModifiedBy>Omar Fahem Elsayed</cp:lastModifiedBy>
  <cp:revision>2</cp:revision>
  <dcterms:created xsi:type="dcterms:W3CDTF">2026-03-30T12:08:46Z</dcterms:created>
  <dcterms:modified xsi:type="dcterms:W3CDTF">2026-04-07T04:15:35Z</dcterms:modified>
</cp:coreProperties>
</file>