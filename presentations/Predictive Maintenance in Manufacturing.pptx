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2" r:id="rId6"/>
    <p:sldId id="260"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4" r:id="rId25"/>
    <p:sldId id="279" r:id="rId26"/>
    <p:sldId id="280" r:id="rId27"/>
    <p:sldId id="281" r:id="rId28"/>
    <p:sldId id="282"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FFEEB3-E02F-49F1-88BF-C6C6E54730DD}" v="11" dt="2026-02-03T22:37:36.9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san Farid" userId="ff31cb3c50c056e0" providerId="LiveId" clId="{B15F960A-E674-4BA3-9149-3E06FDD98EB4}"/>
    <pc:docChg chg="custSel addSld modSld modMainMaster">
      <pc:chgData name="Hassan Farid" userId="ff31cb3c50c056e0" providerId="LiveId" clId="{B15F960A-E674-4BA3-9149-3E06FDD98EB4}" dt="2026-02-03T22:39:24.351" v="24" actId="478"/>
      <pc:docMkLst>
        <pc:docMk/>
      </pc:docMkLst>
      <pc:sldChg chg="addSp delSp modSp mod setBg">
        <pc:chgData name="Hassan Farid" userId="ff31cb3c50c056e0" providerId="LiveId" clId="{B15F960A-E674-4BA3-9149-3E06FDD98EB4}" dt="2026-02-03T22:37:57.034" v="21" actId="26606"/>
        <pc:sldMkLst>
          <pc:docMk/>
          <pc:sldMk cId="3348929835" sldId="256"/>
        </pc:sldMkLst>
        <pc:spChg chg="mod">
          <ac:chgData name="Hassan Farid" userId="ff31cb3c50c056e0" providerId="LiveId" clId="{B15F960A-E674-4BA3-9149-3E06FDD98EB4}" dt="2026-02-03T22:37:57.034" v="21" actId="26606"/>
          <ac:spMkLst>
            <pc:docMk/>
            <pc:sldMk cId="3348929835" sldId="256"/>
            <ac:spMk id="2" creationId="{B9D22DA8-73C2-4C1F-6843-9E380C025985}"/>
          </ac:spMkLst>
        </pc:spChg>
        <pc:spChg chg="mod">
          <ac:chgData name="Hassan Farid" userId="ff31cb3c50c056e0" providerId="LiveId" clId="{B15F960A-E674-4BA3-9149-3E06FDD98EB4}" dt="2026-02-03T22:37:57.034" v="21" actId="26606"/>
          <ac:spMkLst>
            <pc:docMk/>
            <pc:sldMk cId="3348929835" sldId="256"/>
            <ac:spMk id="3" creationId="{D4EBF5A3-CD96-DAF2-39E0-E98CE59B13A9}"/>
          </ac:spMkLst>
        </pc:spChg>
        <pc:spChg chg="add">
          <ac:chgData name="Hassan Farid" userId="ff31cb3c50c056e0" providerId="LiveId" clId="{B15F960A-E674-4BA3-9149-3E06FDD98EB4}" dt="2026-02-03T22:34:41.799" v="1"/>
          <ac:spMkLst>
            <pc:docMk/>
            <pc:sldMk cId="3348929835" sldId="256"/>
            <ac:spMk id="4" creationId="{5BFDC3FE-0DDB-4552-8C84-F07E9FE7DDBC}"/>
          </ac:spMkLst>
        </pc:spChg>
        <pc:spChg chg="add">
          <ac:chgData name="Hassan Farid" userId="ff31cb3c50c056e0" providerId="LiveId" clId="{B15F960A-E674-4BA3-9149-3E06FDD98EB4}" dt="2026-02-03T22:37:34.011" v="18"/>
          <ac:spMkLst>
            <pc:docMk/>
            <pc:sldMk cId="3348929835" sldId="256"/>
            <ac:spMk id="6" creationId="{092154FF-2447-6142-EAB7-3176A6842FC7}"/>
          </ac:spMkLst>
        </pc:spChg>
        <pc:spChg chg="add">
          <ac:chgData name="Hassan Farid" userId="ff31cb3c50c056e0" providerId="LiveId" clId="{B15F960A-E674-4BA3-9149-3E06FDD98EB4}" dt="2026-02-03T22:37:57.034" v="21" actId="26606"/>
          <ac:spMkLst>
            <pc:docMk/>
            <pc:sldMk cId="3348929835" sldId="256"/>
            <ac:spMk id="10" creationId="{BC004D7F-4B2C-49DD-84E7-6685948CA69C}"/>
          </ac:spMkLst>
        </pc:spChg>
        <pc:spChg chg="add">
          <ac:chgData name="Hassan Farid" userId="ff31cb3c50c056e0" providerId="LiveId" clId="{B15F960A-E674-4BA3-9149-3E06FDD98EB4}" dt="2026-02-03T22:37:57.034" v="21" actId="26606"/>
          <ac:spMkLst>
            <pc:docMk/>
            <pc:sldMk cId="3348929835" sldId="256"/>
            <ac:spMk id="20" creationId="{D98D9C15-E7B4-462B-9B16-D45AA97C11DF}"/>
          </ac:spMkLst>
        </pc:spChg>
        <pc:grpChg chg="add">
          <ac:chgData name="Hassan Farid" userId="ff31cb3c50c056e0" providerId="LiveId" clId="{B15F960A-E674-4BA3-9149-3E06FDD98EB4}" dt="2026-02-03T22:37:57.034" v="21" actId="26606"/>
          <ac:grpSpMkLst>
            <pc:docMk/>
            <pc:sldMk cId="3348929835" sldId="256"/>
            <ac:grpSpMk id="12" creationId="{E4929BB6-2614-469C-B2DC-14288A41EE26}"/>
          </ac:grpSpMkLst>
        </pc:grpChg>
        <pc:picChg chg="add mod">
          <ac:chgData name="Hassan Farid" userId="ff31cb3c50c056e0" providerId="LiveId" clId="{B15F960A-E674-4BA3-9149-3E06FDD98EB4}" dt="2026-02-03T22:37:57.034" v="21" actId="26606"/>
          <ac:picMkLst>
            <pc:docMk/>
            <pc:sldMk cId="3348929835" sldId="256"/>
            <ac:picMk id="5" creationId="{D1B6FE32-0F14-B803-6839-7E3CF8A9141C}"/>
          </ac:picMkLst>
        </pc:picChg>
        <pc:picChg chg="add del">
          <ac:chgData name="Hassan Farid" userId="ff31cb3c50c056e0" providerId="LiveId" clId="{B15F960A-E674-4BA3-9149-3E06FDD98EB4}" dt="2026-02-03T22:37:41.154" v="20" actId="478"/>
          <ac:picMkLst>
            <pc:docMk/>
            <pc:sldMk cId="3348929835" sldId="256"/>
            <ac:picMk id="7" creationId="{1FD6CE17-6442-22FE-5A55-7220019BE9E0}"/>
          </ac:picMkLst>
        </pc:picChg>
        <pc:cxnChg chg="add">
          <ac:chgData name="Hassan Farid" userId="ff31cb3c50c056e0" providerId="LiveId" clId="{B15F960A-E674-4BA3-9149-3E06FDD98EB4}" dt="2026-02-03T22:37:57.034" v="21" actId="26606"/>
          <ac:cxnSpMkLst>
            <pc:docMk/>
            <pc:sldMk cId="3348929835" sldId="256"/>
            <ac:cxnSpMk id="18" creationId="{0EE67EC5-3FEB-443B-8CD7-446D2BBA8D9C}"/>
          </ac:cxnSpMkLst>
        </pc:cxnChg>
      </pc:sldChg>
      <pc:sldChg chg="modSp new">
        <pc:chgData name="Hassan Farid" userId="ff31cb3c50c056e0" providerId="LiveId" clId="{B15F960A-E674-4BA3-9149-3E06FDD98EB4}" dt="2026-02-03T22:36:30.159" v="13"/>
        <pc:sldMkLst>
          <pc:docMk/>
          <pc:sldMk cId="1619823666" sldId="257"/>
        </pc:sldMkLst>
        <pc:spChg chg="mod">
          <ac:chgData name="Hassan Farid" userId="ff31cb3c50c056e0" providerId="LiveId" clId="{B15F960A-E674-4BA3-9149-3E06FDD98EB4}" dt="2026-02-03T22:36:30.159" v="13"/>
          <ac:spMkLst>
            <pc:docMk/>
            <pc:sldMk cId="1619823666" sldId="257"/>
            <ac:spMk id="2" creationId="{45F725E0-8C26-F8E4-10CE-A355DC8E9549}"/>
          </ac:spMkLst>
        </pc:spChg>
        <pc:spChg chg="mod">
          <ac:chgData name="Hassan Farid" userId="ff31cb3c50c056e0" providerId="LiveId" clId="{B15F960A-E674-4BA3-9149-3E06FDD98EB4}" dt="2026-02-03T22:36:30.159" v="13"/>
          <ac:spMkLst>
            <pc:docMk/>
            <pc:sldMk cId="1619823666" sldId="257"/>
            <ac:spMk id="3" creationId="{D7B5FF0A-21C1-08CE-1B36-0831524EFB19}"/>
          </ac:spMkLst>
        </pc:spChg>
      </pc:sldChg>
      <pc:sldMasterChg chg="modSldLayout">
        <pc:chgData name="Hassan Farid" userId="ff31cb3c50c056e0" providerId="LiveId" clId="{B15F960A-E674-4BA3-9149-3E06FDD98EB4}" dt="2026-02-03T22:39:24.351" v="24" actId="478"/>
        <pc:sldMasterMkLst>
          <pc:docMk/>
          <pc:sldMasterMk cId="2501923399" sldId="2147483660"/>
        </pc:sldMasterMkLst>
        <pc:sldLayoutChg chg="addSp delSp modSp mod">
          <pc:chgData name="Hassan Farid" userId="ff31cb3c50c056e0" providerId="LiveId" clId="{B15F960A-E674-4BA3-9149-3E06FDD98EB4}" dt="2026-02-03T22:39:24.351" v="24" actId="478"/>
          <pc:sldLayoutMkLst>
            <pc:docMk/>
            <pc:sldMasterMk cId="2501923399" sldId="2147483660"/>
            <pc:sldLayoutMk cId="4079749056" sldId="2147483662"/>
          </pc:sldLayoutMkLst>
          <pc:spChg chg="mod">
            <ac:chgData name="Hassan Farid" userId="ff31cb3c50c056e0" providerId="LiveId" clId="{B15F960A-E674-4BA3-9149-3E06FDD98EB4}" dt="2026-02-03T22:38:55.586" v="23" actId="120"/>
            <ac:spMkLst>
              <pc:docMk/>
              <pc:sldMasterMk cId="2501923399" sldId="2147483660"/>
              <pc:sldLayoutMk cId="4079749056" sldId="2147483662"/>
              <ac:spMk id="2" creationId="{00000000-0000-0000-0000-000000000000}"/>
            </ac:spMkLst>
          </pc:spChg>
          <pc:cxnChg chg="del">
            <ac:chgData name="Hassan Farid" userId="ff31cb3c50c056e0" providerId="LiveId" clId="{B15F960A-E674-4BA3-9149-3E06FDD98EB4}" dt="2026-02-03T22:39:24.351" v="24" actId="478"/>
            <ac:cxnSpMkLst>
              <pc:docMk/>
              <pc:sldMasterMk cId="2501923399" sldId="2147483660"/>
              <pc:sldLayoutMk cId="4079749056" sldId="2147483662"/>
              <ac:cxnSpMk id="7" creationId="{00000000-0000-0000-0000-000000000000}"/>
            </ac:cxnSpMkLst>
          </pc:cxnChg>
          <pc:cxnChg chg="add">
            <ac:chgData name="Hassan Farid" userId="ff31cb3c50c056e0" providerId="LiveId" clId="{B15F960A-E674-4BA3-9149-3E06FDD98EB4}" dt="2026-02-03T22:36:30.159" v="13"/>
            <ac:cxnSpMkLst>
              <pc:docMk/>
              <pc:sldMasterMk cId="2501923399" sldId="2147483660"/>
              <pc:sldLayoutMk cId="4079749056" sldId="2147483662"/>
              <ac:cxnSpMk id="8" creationId="{ED3C1E9A-38C7-4E3F-548D-4143694DA01D}"/>
            </ac:cxnSpMkLst>
          </pc:cxnChg>
        </pc:sldLayoutChg>
      </pc:sldMasterChg>
      <pc:sldMasterChg chg="modSldLayout">
        <pc:chgData name="Hassan Farid" userId="ff31cb3c50c056e0" providerId="LiveId" clId="{B15F960A-E674-4BA3-9149-3E06FDD98EB4}" dt="2026-02-03T22:35:31.568" v="11"/>
        <pc:sldMasterMkLst>
          <pc:docMk/>
          <pc:sldMasterMk cId="3862811272" sldId="2147483660"/>
        </pc:sldMasterMkLst>
        <pc:sldLayoutChg chg="addSp">
          <pc:chgData name="Hassan Farid" userId="ff31cb3c50c056e0" providerId="LiveId" clId="{B15F960A-E674-4BA3-9149-3E06FDD98EB4}" dt="2026-02-03T22:35:31.568" v="11"/>
          <pc:sldLayoutMkLst>
            <pc:docMk/>
            <pc:sldMasterMk cId="3862811272" sldId="2147483660"/>
            <pc:sldLayoutMk cId="1399351025" sldId="2147483662"/>
          </pc:sldLayoutMkLst>
          <pc:cxnChg chg="add">
            <ac:chgData name="Hassan Farid" userId="ff31cb3c50c056e0" providerId="LiveId" clId="{B15F960A-E674-4BA3-9149-3E06FDD98EB4}" dt="2026-02-03T22:35:31.568" v="11"/>
            <ac:cxnSpMkLst>
              <pc:docMk/>
              <pc:sldMasterMk cId="3862811272" sldId="2147483660"/>
              <pc:sldLayoutMk cId="1399351025" sldId="2147483662"/>
              <ac:cxnSpMk id="7" creationId="{8CCF2AB3-F483-4679-46C8-1CB132D8CDAC}"/>
            </ac:cxnSpMkLst>
          </pc:cxnChg>
        </pc:sldLayoutChg>
      </pc:sldMaster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EAF5B08D-CFFC-4A9E-BA10-E53E9DD94C45}" type="datetimeFigureOut">
              <a:rPr lang="en-US" smtClean="0"/>
              <a:pPr/>
              <a:t>4/4/2026</a:t>
            </a:fld>
            <a:endParaRPr lang="en-US" b="0" dirty="0"/>
          </a:p>
        </p:txBody>
      </p:sp>
      <p:sp>
        <p:nvSpPr>
          <p:cNvPr id="5" name="Footer Placeholder 4"/>
          <p:cNvSpPr>
            <a:spLocks noGrp="1"/>
          </p:cNvSpPr>
          <p:nvPr>
            <p:ph type="ftr" sz="quarter" idx="11"/>
          </p:nvPr>
        </p:nvSpPr>
        <p:spPr>
          <a:xfrm>
            <a:off x="2692397" y="5037663"/>
            <a:ext cx="5214635" cy="279400"/>
          </a:xfrm>
        </p:spPr>
        <p:txBody>
          <a:bodyPr/>
          <a:lstStyle/>
          <a:p>
            <a:r>
              <a:rPr lang="en-US"/>
              <a:t>Arab Academy for Science and Technology and Maritime</a:t>
            </a:r>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02F44017-08E3-4B2C-B557-C246899BABB5}"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684582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9601196" cy="1303867"/>
          </a:xfrm>
        </p:spPr>
        <p:txBody>
          <a:bodyPr/>
          <a:lstStyle>
            <a:lvl1pPr algn="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lgn="ctr"/>
            <a:fld id="{EAF5B08D-CFFC-4A9E-BA10-E53E9DD94C45}" type="datetimeFigureOut">
              <a:rPr lang="en-US" smtClean="0"/>
              <a:pPr algn="ctr"/>
              <a:t>4/4/2026</a:t>
            </a:fld>
            <a:endParaRPr lang="en-US" dirty="0"/>
          </a:p>
        </p:txBody>
      </p:sp>
      <p:sp>
        <p:nvSpPr>
          <p:cNvPr id="5" name="Footer Placeholder 4"/>
          <p:cNvSpPr>
            <a:spLocks noGrp="1"/>
          </p:cNvSpPr>
          <p:nvPr>
            <p:ph type="ftr" sz="quarter" idx="11"/>
          </p:nvPr>
        </p:nvSpPr>
        <p:spPr/>
        <p:txBody>
          <a:bodyPr/>
          <a:lstStyle/>
          <a:p>
            <a:r>
              <a:rPr lang="en-US"/>
              <a:t>Arab Academy for Science and Technology and Maritime</a:t>
            </a:r>
          </a:p>
          <a:p>
            <a:endParaRPr lang="en-US" dirty="0"/>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cxnSp>
        <p:nvCxnSpPr>
          <p:cNvPr id="8" name="Straight Connector 7">
            <a:extLst>
              <a:ext uri="{FF2B5EF4-FFF2-40B4-BE49-F238E27FC236}">
                <a16:creationId xmlns:a16="http://schemas.microsoft.com/office/drawing/2014/main" id="{ED3C1E9A-38C7-4E3F-548D-4143694DA01D}"/>
              </a:ext>
            </a:extLst>
          </p:cNvPr>
          <p:cNvCxnSpPr/>
          <p:nvPr userDrawn="1"/>
        </p:nvCxnSpPr>
        <p:spPr>
          <a:xfrm>
            <a:off x="838200" y="1690688"/>
            <a:ext cx="10515600"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79749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2209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AF5B08D-CFFC-4A9E-BA10-E53E9DD94C45}"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44017-08E3-4B2C-B557-C246899BABB5}" type="slidenum">
              <a:rPr lang="en-US" smtClean="0"/>
              <a:t>‹#›</a:t>
            </a:fld>
            <a:endParaRPr lang="en-US"/>
          </a:p>
        </p:txBody>
      </p:sp>
    </p:spTree>
    <p:extLst>
      <p:ext uri="{BB962C8B-B14F-4D97-AF65-F5344CB8AC3E}">
        <p14:creationId xmlns:p14="http://schemas.microsoft.com/office/powerpoint/2010/main" val="697621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AF5B08D-CFFC-4A9E-BA10-E53E9DD94C45}" type="datetimeFigureOut">
              <a:rPr lang="en-US" smtClean="0"/>
              <a:t>4/4/2026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F44017-08E3-4B2C-B557-C246899BABB5}"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77061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AF5B08D-CFFC-4A9E-BA10-E53E9DD94C45}" type="datetimeFigureOut">
              <a:rPr lang="en-US" smtClean="0"/>
              <a:t>4/4/2026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F44017-08E3-4B2C-B557-C246899BABB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5001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F5B08D-CFFC-4A9E-BA10-E53E9DD94C45}" type="datetimeFigureOut">
              <a:rPr lang="en-US" smtClean="0"/>
              <a:t>4/4/2026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F44017-08E3-4B2C-B557-C246899BABB5}" type="slidenum">
              <a:rPr lang="en-US" smtClean="0"/>
              <a:t>‹#›</a:t>
            </a:fld>
            <a:endParaRPr lang="en-US"/>
          </a:p>
        </p:txBody>
      </p:sp>
    </p:spTree>
    <p:extLst>
      <p:ext uri="{BB962C8B-B14F-4D97-AF65-F5344CB8AC3E}">
        <p14:creationId xmlns:p14="http://schemas.microsoft.com/office/powerpoint/2010/main" val="1432919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F5B08D-CFFC-4A9E-BA10-E53E9DD94C45}"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44017-08E3-4B2C-B557-C246899BABB5}"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4236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F5B08D-CFFC-4A9E-BA10-E53E9DD94C45}"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44017-08E3-4B2C-B557-C246899BABB5}" type="slidenum">
              <a:rPr lang="en-US" smtClean="0"/>
              <a:t>‹#›</a:t>
            </a:fld>
            <a:endParaRPr lang="en-US"/>
          </a:p>
        </p:txBody>
      </p:sp>
    </p:spTree>
    <p:extLst>
      <p:ext uri="{BB962C8B-B14F-4D97-AF65-F5344CB8AC3E}">
        <p14:creationId xmlns:p14="http://schemas.microsoft.com/office/powerpoint/2010/main" val="14813412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F5B08D-CFFC-4A9E-BA10-E53E9DD94C45}" type="datetimeFigureOut">
              <a:rPr lang="en-US" smtClean="0"/>
              <a:t>4/4/2026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44017-08E3-4B2C-B557-C246899BABB5}" type="slidenum">
              <a:rPr lang="en-US" smtClean="0"/>
              <a:t>‹#›</a:t>
            </a:fld>
            <a:endParaRPr lang="en-US"/>
          </a:p>
        </p:txBody>
      </p:sp>
    </p:spTree>
    <p:extLst>
      <p:ext uri="{BB962C8B-B14F-4D97-AF65-F5344CB8AC3E}">
        <p14:creationId xmlns:p14="http://schemas.microsoft.com/office/powerpoint/2010/main" val="20255761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78691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7807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spTree>
    <p:extLst>
      <p:ext uri="{BB962C8B-B14F-4D97-AF65-F5344CB8AC3E}">
        <p14:creationId xmlns:p14="http://schemas.microsoft.com/office/powerpoint/2010/main" val="3660973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97363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4956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88263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AF5B08D-CFFC-4A9E-BA10-E53E9DD94C45}" type="datetimeFigureOut">
              <a:rPr lang="en-US" smtClean="0"/>
              <a:t>4/4/2026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44017-08E3-4B2C-B557-C246899BABB5}"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16708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AF5B08D-CFFC-4A9E-BA10-E53E9DD94C45}" type="datetimeFigureOut">
              <a:rPr lang="en-US" smtClean="0"/>
              <a:t>4/4/2026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2F44017-08E3-4B2C-B557-C246899BABB5}" type="slidenum">
              <a:rPr lang="en-US" smtClean="0"/>
              <a:t>‹#›</a:t>
            </a:fld>
            <a:endParaRPr lang="en-US"/>
          </a:p>
        </p:txBody>
      </p:sp>
    </p:spTree>
    <p:extLst>
      <p:ext uri="{BB962C8B-B14F-4D97-AF65-F5344CB8AC3E}">
        <p14:creationId xmlns:p14="http://schemas.microsoft.com/office/powerpoint/2010/main" val="250192339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004D7F-4B2C-49DD-84E7-6685948CA69C}"/>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E4929BB6-2614-469C-B2DC-14288A41EE2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229962" cy="6856214"/>
            <a:chOff x="-15736" y="0"/>
            <a:chExt cx="12229962" cy="6856214"/>
          </a:xfrm>
        </p:grpSpPr>
        <p:pic>
          <p:nvPicPr>
            <p:cNvPr id="13" name="Picture 12">
              <a:extLst>
                <a:ext uri="{FF2B5EF4-FFF2-40B4-BE49-F238E27FC236}">
                  <a16:creationId xmlns:a16="http://schemas.microsoft.com/office/drawing/2014/main" id="{0F9303EB-6869-4D98-89A4-11F721A73C21}"/>
                </a:ext>
                <a:ext uri="{C183D7F6-B498-43B3-948B-1728B52AA6E4}">
                  <adec:decorative xmlns=""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4" name="Rectangle 13">
              <a:extLst>
                <a:ext uri="{FF2B5EF4-FFF2-40B4-BE49-F238E27FC236}">
                  <a16:creationId xmlns:a16="http://schemas.microsoft.com/office/drawing/2014/main" id="{B0B2CEAC-0FA7-40BF-AFDC-86D21BF94F6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CFC5E682-2A3D-4D7E-A460-0164698D2CB8}"/>
                </a:ext>
                <a:ext uri="{C183D7F6-B498-43B3-948B-1728B52AA6E4}">
                  <adec:decorative xmlns=""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6" name="Picture 15">
              <a:extLst>
                <a:ext uri="{FF2B5EF4-FFF2-40B4-BE49-F238E27FC236}">
                  <a16:creationId xmlns:a16="http://schemas.microsoft.com/office/drawing/2014/main" id="{48343B0D-4B8E-48D5-940C-60507FF43716}"/>
                </a:ext>
                <a:ext uri="{C183D7F6-B498-43B3-948B-1728B52AA6E4}">
                  <adec:decorative xmlns=""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1">
            <a:extLst>
              <a:ext uri="{FF2B5EF4-FFF2-40B4-BE49-F238E27FC236}">
                <a16:creationId xmlns:a16="http://schemas.microsoft.com/office/drawing/2014/main" id="{B9D22DA8-73C2-4C1F-6843-9E380C025985}"/>
              </a:ext>
            </a:extLst>
          </p:cNvPr>
          <p:cNvSpPr>
            <a:spLocks noGrp="1"/>
          </p:cNvSpPr>
          <p:nvPr>
            <p:ph type="ctrTitle"/>
          </p:nvPr>
        </p:nvSpPr>
        <p:spPr>
          <a:xfrm>
            <a:off x="1072267" y="1041401"/>
            <a:ext cx="6528018" cy="2345264"/>
          </a:xfrm>
        </p:spPr>
        <p:txBody>
          <a:bodyPr>
            <a:noAutofit/>
          </a:bodyPr>
          <a:lstStyle/>
          <a:p>
            <a:r>
              <a:rPr lang="en-US" sz="4400" dirty="0"/>
              <a:t>Case Studies in AI for Business</a:t>
            </a:r>
            <a:br>
              <a:rPr lang="en-US" sz="4400" dirty="0"/>
            </a:br>
            <a:r>
              <a:rPr lang="en-US" sz="4400" dirty="0"/>
              <a:t>Prof. Dr. Ahmed </a:t>
            </a:r>
            <a:r>
              <a:rPr lang="en-US" sz="4400" dirty="0" err="1"/>
              <a:t>Elseddawy</a:t>
            </a:r>
            <a:endParaRPr lang="en-US" sz="4400" dirty="0">
              <a:solidFill>
                <a:srgbClr val="262626"/>
              </a:solidFill>
            </a:endParaRPr>
          </a:p>
        </p:txBody>
      </p:sp>
      <p:sp>
        <p:nvSpPr>
          <p:cNvPr id="3" name="Subtitle 2">
            <a:extLst>
              <a:ext uri="{FF2B5EF4-FFF2-40B4-BE49-F238E27FC236}">
                <a16:creationId xmlns:a16="http://schemas.microsoft.com/office/drawing/2014/main" id="{D4EBF5A3-CD96-DAF2-39E0-E98CE59B13A9}"/>
              </a:ext>
            </a:extLst>
          </p:cNvPr>
          <p:cNvSpPr>
            <a:spLocks noGrp="1"/>
          </p:cNvSpPr>
          <p:nvPr>
            <p:ph type="subTitle" idx="1"/>
          </p:nvPr>
        </p:nvSpPr>
        <p:spPr>
          <a:xfrm>
            <a:off x="1072267" y="3657597"/>
            <a:ext cx="6528018" cy="1320802"/>
          </a:xfrm>
        </p:spPr>
        <p:txBody>
          <a:bodyPr>
            <a:normAutofit fontScale="62500" lnSpcReduction="20000"/>
          </a:bodyPr>
          <a:lstStyle/>
          <a:p>
            <a:r>
              <a:rPr lang="en-US" sz="4400" dirty="0">
                <a:ln w="3175" cmpd="sng">
                  <a:noFill/>
                </a:ln>
                <a:solidFill>
                  <a:schemeClr val="tx1">
                    <a:lumMod val="85000"/>
                    <a:lumOff val="15000"/>
                  </a:schemeClr>
                </a:solidFill>
                <a:latin typeface="+mj-lt"/>
                <a:ea typeface="+mj-ea"/>
                <a:cs typeface="+mj-cs"/>
              </a:rPr>
              <a:t>Done by : Ahmed Samir </a:t>
            </a:r>
            <a:r>
              <a:rPr lang="en-US" sz="4400" dirty="0" smtClean="0">
                <a:ln w="3175" cmpd="sng">
                  <a:noFill/>
                </a:ln>
                <a:solidFill>
                  <a:schemeClr val="tx1">
                    <a:lumMod val="85000"/>
                    <a:lumOff val="15000"/>
                  </a:schemeClr>
                </a:solidFill>
                <a:latin typeface="+mj-lt"/>
                <a:ea typeface="+mj-ea"/>
                <a:cs typeface="+mj-cs"/>
              </a:rPr>
              <a:t>EL- Sayed </a:t>
            </a:r>
            <a:r>
              <a:rPr lang="en-US" sz="4400" dirty="0">
                <a:ln w="3175" cmpd="sng">
                  <a:noFill/>
                </a:ln>
                <a:solidFill>
                  <a:schemeClr val="tx1">
                    <a:lumMod val="85000"/>
                    <a:lumOff val="15000"/>
                  </a:schemeClr>
                </a:solidFill>
                <a:latin typeface="+mj-lt"/>
                <a:ea typeface="+mj-ea"/>
                <a:cs typeface="+mj-cs"/>
              </a:rPr>
              <a:t>Mohamed</a:t>
            </a:r>
          </a:p>
          <a:p>
            <a:r>
              <a:rPr lang="en-US" sz="4400" dirty="0">
                <a:ln w="3175" cmpd="sng">
                  <a:noFill/>
                </a:ln>
                <a:solidFill>
                  <a:schemeClr val="tx1">
                    <a:lumMod val="85000"/>
                    <a:lumOff val="15000"/>
                  </a:schemeClr>
                </a:solidFill>
                <a:latin typeface="+mj-lt"/>
                <a:ea typeface="+mj-ea"/>
                <a:cs typeface="+mj-cs"/>
              </a:rPr>
              <a:t>ID: 23225151</a:t>
            </a:r>
          </a:p>
        </p:txBody>
      </p:sp>
      <p:cxnSp>
        <p:nvCxnSpPr>
          <p:cNvPr id="18" name="Straight Connector 17">
            <a:extLst>
              <a:ext uri="{FF2B5EF4-FFF2-40B4-BE49-F238E27FC236}">
                <a16:creationId xmlns:a16="http://schemas.microsoft.com/office/drawing/2014/main" id="{0EE67EC5-3FEB-443B-8CD7-446D2BBA8D9C}"/>
              </a:ext>
              <a:ext uri="{C183D7F6-B498-43B3-948B-1728B52AA6E4}">
                <adec:decorative xmlns=""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08045" y="3541181"/>
            <a:ext cx="6492240" cy="0"/>
          </a:xfrm>
          <a:prstGeom prst="line">
            <a:avLst/>
          </a:prstGeom>
        </p:spPr>
        <p:style>
          <a:lnRef idx="2">
            <a:schemeClr val="accent1"/>
          </a:lnRef>
          <a:fillRef idx="0">
            <a:schemeClr val="accent1"/>
          </a:fillRef>
          <a:effectRef idx="1">
            <a:schemeClr val="accent1"/>
          </a:effectRef>
          <a:fontRef idx="minor">
            <a:schemeClr val="tx1"/>
          </a:fontRef>
        </p:style>
      </p:cxnSp>
      <p:sp>
        <p:nvSpPr>
          <p:cNvPr id="20" name="Rectangle 19">
            <a:extLst>
              <a:ext uri="{FF2B5EF4-FFF2-40B4-BE49-F238E27FC236}">
                <a16:creationId xmlns:a16="http://schemas.microsoft.com/office/drawing/2014/main" id="{D98D9C15-E7B4-462B-9B16-D45AA97C11DF}"/>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54662" y="1092200"/>
            <a:ext cx="3059206" cy="4515104"/>
          </a:xfrm>
          <a:prstGeom prst="rect">
            <a:avLst/>
          </a:prstGeom>
          <a:solidFill>
            <a:schemeClr val="bg1"/>
          </a:solidFill>
          <a:ln w="57150" cmpd="thickThin">
            <a:solidFill>
              <a:schemeClr val="tx1">
                <a:lumMod val="50000"/>
                <a:lumOff val="50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1B6FE32-0F14-B803-6839-7E3CF8A9141C}"/>
              </a:ext>
            </a:extLst>
          </p:cNvPr>
          <p:cNvPicPr>
            <a:picLocks noChangeAspect="1"/>
          </p:cNvPicPr>
          <p:nvPr/>
        </p:nvPicPr>
        <p:blipFill>
          <a:blip r:embed="rId5"/>
          <a:stretch>
            <a:fillRect/>
          </a:stretch>
        </p:blipFill>
        <p:spPr>
          <a:xfrm>
            <a:off x="8374701" y="2140955"/>
            <a:ext cx="2433793" cy="2397286"/>
          </a:xfrm>
          <a:prstGeom prst="rect">
            <a:avLst/>
          </a:prstGeom>
        </p:spPr>
      </p:pic>
    </p:spTree>
    <p:extLst>
      <p:ext uri="{BB962C8B-B14F-4D97-AF65-F5344CB8AC3E}">
        <p14:creationId xmlns:p14="http://schemas.microsoft.com/office/powerpoint/2010/main" val="33489298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C6F277-E40D-42A6-A80E-4F943030AE1C}"/>
              </a:ext>
            </a:extLst>
          </p:cNvPr>
          <p:cNvSpPr>
            <a:spLocks noGrp="1"/>
          </p:cNvSpPr>
          <p:nvPr>
            <p:ph type="title"/>
          </p:nvPr>
        </p:nvSpPr>
        <p:spPr>
          <a:xfrm>
            <a:off x="1295402" y="872198"/>
            <a:ext cx="9601196" cy="4220307"/>
          </a:xfrm>
        </p:spPr>
        <p:txBody>
          <a:bodyPr/>
          <a:lstStyle/>
          <a:p>
            <a:r>
              <a:rPr lang="en-US" dirty="0"/>
              <a:t/>
            </a:r>
            <a:br>
              <a:rPr lang="en-US" dirty="0"/>
            </a:br>
            <a:r>
              <a:rPr lang="en-US" dirty="0"/>
              <a:t> </a:t>
            </a:r>
            <a:br>
              <a:rPr lang="en-US" dirty="0"/>
            </a:br>
            <a:r>
              <a:rPr lang="en-US" dirty="0"/>
              <a:t>Predictive Maintenance Using AI in Manufacturing Plants </a:t>
            </a:r>
            <a:br>
              <a:rPr lang="en-US" dirty="0"/>
            </a:br>
            <a:endParaRPr lang="en-US" dirty="0"/>
          </a:p>
        </p:txBody>
      </p:sp>
    </p:spTree>
    <p:extLst>
      <p:ext uri="{BB962C8B-B14F-4D97-AF65-F5344CB8AC3E}">
        <p14:creationId xmlns:p14="http://schemas.microsoft.com/office/powerpoint/2010/main" val="16198236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8320-E5B2-4E49-B63B-44F0A3475212}"/>
              </a:ext>
            </a:extLst>
          </p:cNvPr>
          <p:cNvSpPr>
            <a:spLocks noGrp="1"/>
          </p:cNvSpPr>
          <p:nvPr>
            <p:ph type="title"/>
          </p:nvPr>
        </p:nvSpPr>
        <p:spPr>
          <a:xfrm>
            <a:off x="1295402" y="982132"/>
            <a:ext cx="9601196" cy="4771554"/>
          </a:xfrm>
        </p:spPr>
        <p:txBody>
          <a:bodyPr/>
          <a:lstStyle/>
          <a:p>
            <a:r>
              <a:rPr lang="en-US" dirty="0"/>
              <a:t>Business Understanding </a:t>
            </a:r>
          </a:p>
        </p:txBody>
      </p:sp>
    </p:spTree>
    <p:extLst>
      <p:ext uri="{BB962C8B-B14F-4D97-AF65-F5344CB8AC3E}">
        <p14:creationId xmlns:p14="http://schemas.microsoft.com/office/powerpoint/2010/main" val="3182959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63ED2-30B2-40F4-B3C2-4E11B0FEDC06}"/>
              </a:ext>
            </a:extLst>
          </p:cNvPr>
          <p:cNvSpPr>
            <a:spLocks noGrp="1"/>
          </p:cNvSpPr>
          <p:nvPr>
            <p:ph type="title"/>
          </p:nvPr>
        </p:nvSpPr>
        <p:spPr/>
        <p:txBody>
          <a:bodyPr>
            <a:noAutofit/>
          </a:bodyPr>
          <a:lstStyle/>
          <a:p>
            <a:r>
              <a:rPr lang="en-US" sz="3200" dirty="0"/>
              <a:t>Industry 4.0 and Digital Transformation in Manufacturing</a:t>
            </a:r>
          </a:p>
        </p:txBody>
      </p:sp>
      <p:sp>
        <p:nvSpPr>
          <p:cNvPr id="4" name="Rectangle 1">
            <a:extLst>
              <a:ext uri="{FF2B5EF4-FFF2-40B4-BE49-F238E27FC236}">
                <a16:creationId xmlns:a16="http://schemas.microsoft.com/office/drawing/2014/main" id="{BE7072B3-DAF7-4262-83C4-8A6716756F83}"/>
              </a:ext>
            </a:extLst>
          </p:cNvPr>
          <p:cNvSpPr>
            <a:spLocks noGrp="1" noChangeArrowheads="1"/>
          </p:cNvSpPr>
          <p:nvPr>
            <p:ph idx="1"/>
          </p:nvPr>
        </p:nvSpPr>
        <p:spPr bwMode="auto">
          <a:xfrm>
            <a:off x="838200" y="2231239"/>
            <a:ext cx="10058397"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The manufacturing sector is experiencing major transformation driven by Industry 4.0 technologies.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-Key enabling technologies include: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1)Internet of Things (IoT)</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2)Cloud Computing</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3)Big Data Analytics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4)Artificial Intelligence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5)Cyber-Physical Systems.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These technologies enable smart manufacturing environments where machines, systems, and data are interconnected.</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dirty="0">
                <a:ln w="3175" cmpd="sng">
                  <a:noFill/>
                </a:ln>
                <a:latin typeface="+mj-lt"/>
                <a:ea typeface="+mj-ea"/>
                <a:cs typeface="+mj-cs"/>
              </a:rPr>
              <a:t>Digital technologies improve:</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1)operational efficiency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2)production visibility</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dirty="0">
                <a:ln w="3175" cmpd="sng">
                  <a:noFill/>
                </a:ln>
                <a:latin typeface="+mj-lt"/>
                <a:ea typeface="+mj-ea"/>
                <a:cs typeface="+mj-cs"/>
              </a:rPr>
              <a:t>3)decision-making capabilities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57717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1C39F32-11E3-4E99-AA8C-059BDEA4DA1A}"/>
              </a:ext>
            </a:extLst>
          </p:cNvPr>
          <p:cNvSpPr>
            <a:spLocks noGrp="1"/>
          </p:cNvSpPr>
          <p:nvPr>
            <p:ph type="title"/>
          </p:nvPr>
        </p:nvSpPr>
        <p:spPr/>
        <p:txBody>
          <a:bodyPr>
            <a:noAutofit/>
          </a:bodyPr>
          <a:lstStyle/>
          <a:p>
            <a:r>
              <a:rPr lang="en-US" sz="3200" dirty="0"/>
              <a:t>Industry 4.0 and Digital Transformation in Manufacturing</a:t>
            </a:r>
          </a:p>
        </p:txBody>
      </p:sp>
      <p:pic>
        <p:nvPicPr>
          <p:cNvPr id="6" name="Content Placeholder 5">
            <a:extLst>
              <a:ext uri="{FF2B5EF4-FFF2-40B4-BE49-F238E27FC236}">
                <a16:creationId xmlns:a16="http://schemas.microsoft.com/office/drawing/2014/main" id="{8195735E-AF17-43A8-9789-158ABE63876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9401" y="1913468"/>
            <a:ext cx="9601195" cy="4009030"/>
          </a:xfrm>
        </p:spPr>
      </p:pic>
    </p:spTree>
    <p:extLst>
      <p:ext uri="{BB962C8B-B14F-4D97-AF65-F5344CB8AC3E}">
        <p14:creationId xmlns:p14="http://schemas.microsoft.com/office/powerpoint/2010/main" val="1435105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8ADA5-8FAF-4420-B44E-3978DE50B788}"/>
              </a:ext>
            </a:extLst>
          </p:cNvPr>
          <p:cNvSpPr>
            <a:spLocks noGrp="1"/>
          </p:cNvSpPr>
          <p:nvPr>
            <p:ph type="title"/>
          </p:nvPr>
        </p:nvSpPr>
        <p:spPr/>
        <p:txBody>
          <a:bodyPr>
            <a:noAutofit/>
          </a:bodyPr>
          <a:lstStyle/>
          <a:p>
            <a:r>
              <a:rPr lang="en-US" sz="3200" dirty="0"/>
              <a:t>Industry Characteristics/Electronics Manufacturing Industry</a:t>
            </a:r>
          </a:p>
        </p:txBody>
      </p:sp>
      <p:sp>
        <p:nvSpPr>
          <p:cNvPr id="3" name="Content Placeholder 2">
            <a:extLst>
              <a:ext uri="{FF2B5EF4-FFF2-40B4-BE49-F238E27FC236}">
                <a16:creationId xmlns:a16="http://schemas.microsoft.com/office/drawing/2014/main" id="{7DFED0B8-9A29-4357-8BB8-0FB4DF1B0D35}"/>
              </a:ext>
            </a:extLst>
          </p:cNvPr>
          <p:cNvSpPr>
            <a:spLocks noGrp="1"/>
          </p:cNvSpPr>
          <p:nvPr>
            <p:ph idx="1"/>
          </p:nvPr>
        </p:nvSpPr>
        <p:spPr>
          <a:xfrm>
            <a:off x="838200" y="2303714"/>
            <a:ext cx="9601196" cy="3318936"/>
          </a:xfrm>
        </p:spPr>
        <p:txBody>
          <a:bodyPr>
            <a:normAutofit fontScale="85000" lnSpcReduction="20000"/>
          </a:bodyPr>
          <a:lstStyle/>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The electronics manufacturing sector has several operational characteristics:</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1)High Automation</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Extensive use of robotics and automated production lines.</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2)High Quality Requirements</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Strict quality standards and testing processes.</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3)Rapid Innovation Cycles</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Continuous product innovation and short product lifecycles.</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4)Global Competition</a:t>
            </a:r>
          </a:p>
          <a:p>
            <a:pPr marL="0" indent="0" defTabSz="914400" eaLnBrk="0" fontAlgn="base" hangingPunct="0">
              <a:lnSpc>
                <a:spcPct val="120000"/>
              </a:lnSpc>
              <a:spcBef>
                <a:spcPct val="0"/>
              </a:spcBef>
              <a:spcAft>
                <a:spcPct val="0"/>
              </a:spcAft>
              <a:buClrTx/>
              <a:buSzTx/>
              <a:buNone/>
            </a:pPr>
            <a:r>
              <a:rPr lang="en-US" sz="2600" dirty="0">
                <a:ln w="3175" cmpd="sng">
                  <a:noFill/>
                </a:ln>
                <a:latin typeface="+mj-lt"/>
                <a:ea typeface="+mj-ea"/>
                <a:cs typeface="+mj-cs"/>
              </a:rPr>
              <a:t>Companies compete globally on cost, efficiency, and delivery reliability.</a:t>
            </a:r>
          </a:p>
          <a:p>
            <a:endParaRPr lang="en-US" dirty="0"/>
          </a:p>
        </p:txBody>
      </p:sp>
    </p:spTree>
    <p:extLst>
      <p:ext uri="{BB962C8B-B14F-4D97-AF65-F5344CB8AC3E}">
        <p14:creationId xmlns:p14="http://schemas.microsoft.com/office/powerpoint/2010/main" val="2503970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2682-65C9-4791-9747-DBC33FC56617}"/>
              </a:ext>
            </a:extLst>
          </p:cNvPr>
          <p:cNvSpPr>
            <a:spLocks noGrp="1"/>
          </p:cNvSpPr>
          <p:nvPr>
            <p:ph type="title"/>
          </p:nvPr>
        </p:nvSpPr>
        <p:spPr/>
        <p:txBody>
          <a:bodyPr>
            <a:noAutofit/>
          </a:bodyPr>
          <a:lstStyle/>
          <a:p>
            <a:r>
              <a:rPr lang="en-US" sz="3200" dirty="0"/>
              <a:t>Organization Context/Siemens </a:t>
            </a:r>
            <a:r>
              <a:rPr lang="en-US" sz="3200" dirty="0" err="1"/>
              <a:t>Amberg</a:t>
            </a:r>
            <a:r>
              <a:rPr lang="en-US" sz="3200" dirty="0"/>
              <a:t> Electronics Plant</a:t>
            </a:r>
          </a:p>
        </p:txBody>
      </p:sp>
      <p:sp>
        <p:nvSpPr>
          <p:cNvPr id="4" name="Rectangle 1">
            <a:extLst>
              <a:ext uri="{FF2B5EF4-FFF2-40B4-BE49-F238E27FC236}">
                <a16:creationId xmlns:a16="http://schemas.microsoft.com/office/drawing/2014/main" id="{CB57E531-1EF4-4F3E-8A69-A58DC6EE77AA}"/>
              </a:ext>
            </a:extLst>
          </p:cNvPr>
          <p:cNvSpPr>
            <a:spLocks noGrp="1" noChangeArrowheads="1"/>
          </p:cNvSpPr>
          <p:nvPr>
            <p:ph idx="1"/>
          </p:nvPr>
        </p:nvSpPr>
        <p:spPr bwMode="auto">
          <a:xfrm>
            <a:off x="838201" y="2089362"/>
            <a:ext cx="10598833"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The study focuses on Siemens AG </a:t>
            </a:r>
            <a:r>
              <a:rPr lang="en-US" altLang="en-US" sz="2200" dirty="0" err="1">
                <a:ln w="3175" cmpd="sng">
                  <a:noFill/>
                </a:ln>
                <a:latin typeface="+mj-lt"/>
                <a:ea typeface="+mj-ea"/>
                <a:cs typeface="+mj-cs"/>
              </a:rPr>
              <a:t>Amberg</a:t>
            </a:r>
            <a:r>
              <a:rPr lang="en-US" altLang="en-US" sz="2200" dirty="0">
                <a:ln w="3175" cmpd="sng">
                  <a:noFill/>
                </a:ln>
                <a:latin typeface="+mj-lt"/>
                <a:ea typeface="+mj-ea"/>
                <a:cs typeface="+mj-cs"/>
              </a:rPr>
              <a:t> Electronics Plant, a highly automated manufacturing facility.</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Siemens operates globally in:</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1)Industrial technology</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2)Infrastructure</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3)Transportation</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4)Healthcare.</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In 2025, Siemens reported revenue of approximately €87.3 billion.</a:t>
            </a:r>
          </a:p>
          <a:p>
            <a:pPr marL="0" marR="0" lvl="0" indent="0" algn="l" defTabSz="914400" rtl="0" eaLnBrk="0" fontAlgn="base" latinLnBrk="0" hangingPunct="0">
              <a:lnSpc>
                <a:spcPct val="100000"/>
              </a:lnSpc>
              <a:spcBef>
                <a:spcPct val="0"/>
              </a:spcBef>
              <a:spcAft>
                <a:spcPct val="0"/>
              </a:spcAft>
              <a:buClrTx/>
              <a:buSzTx/>
              <a:buNone/>
              <a:tabLst/>
            </a:pPr>
            <a:r>
              <a:rPr lang="en-US" altLang="en-US" sz="2200" dirty="0">
                <a:ln w="3175" cmpd="sng">
                  <a:noFill/>
                </a:ln>
                <a:latin typeface="+mj-lt"/>
                <a:ea typeface="+mj-ea"/>
                <a:cs typeface="+mj-cs"/>
              </a:rPr>
              <a:t>The </a:t>
            </a:r>
            <a:r>
              <a:rPr lang="en-US" altLang="en-US" sz="2200" dirty="0" err="1">
                <a:ln w="3175" cmpd="sng">
                  <a:noFill/>
                </a:ln>
                <a:latin typeface="+mj-lt"/>
                <a:ea typeface="+mj-ea"/>
                <a:cs typeface="+mj-cs"/>
              </a:rPr>
              <a:t>Amberg</a:t>
            </a:r>
            <a:r>
              <a:rPr lang="en-US" altLang="en-US" sz="2200" dirty="0">
                <a:ln w="3175" cmpd="sng">
                  <a:noFill/>
                </a:ln>
                <a:latin typeface="+mj-lt"/>
                <a:ea typeface="+mj-ea"/>
                <a:cs typeface="+mj-cs"/>
              </a:rPr>
              <a:t> plant produces industrial automation and electronic components using advanced manufacturing technologies</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2689648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C98C2-4DED-477B-B259-671E775E4041}"/>
              </a:ext>
            </a:extLst>
          </p:cNvPr>
          <p:cNvSpPr>
            <a:spLocks noGrp="1"/>
          </p:cNvSpPr>
          <p:nvPr>
            <p:ph type="title"/>
          </p:nvPr>
        </p:nvSpPr>
        <p:spPr>
          <a:xfrm>
            <a:off x="1295402" y="998806"/>
            <a:ext cx="9601196" cy="4768948"/>
          </a:xfrm>
        </p:spPr>
        <p:txBody>
          <a:bodyPr/>
          <a:lstStyle/>
          <a:p>
            <a:r>
              <a:rPr lang="en-US" dirty="0"/>
              <a:t>Problem Analysis 	</a:t>
            </a:r>
          </a:p>
        </p:txBody>
      </p:sp>
    </p:spTree>
    <p:extLst>
      <p:ext uri="{BB962C8B-B14F-4D97-AF65-F5344CB8AC3E}">
        <p14:creationId xmlns:p14="http://schemas.microsoft.com/office/powerpoint/2010/main" val="23627385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CA39DC2-A33C-414A-A328-3A48D0256B2A}"/>
              </a:ext>
            </a:extLst>
          </p:cNvPr>
          <p:cNvSpPr>
            <a:spLocks noGrp="1"/>
          </p:cNvSpPr>
          <p:nvPr>
            <p:ph type="title"/>
          </p:nvPr>
        </p:nvSpPr>
        <p:spPr/>
        <p:txBody>
          <a:bodyPr/>
          <a:lstStyle/>
          <a:p>
            <a:r>
              <a:rPr lang="en-US" dirty="0"/>
              <a:t>Maintenance Evolution</a:t>
            </a:r>
          </a:p>
        </p:txBody>
      </p:sp>
      <p:sp>
        <p:nvSpPr>
          <p:cNvPr id="4" name="Content Placeholder 3">
            <a:extLst>
              <a:ext uri="{FF2B5EF4-FFF2-40B4-BE49-F238E27FC236}">
                <a16:creationId xmlns:a16="http://schemas.microsoft.com/office/drawing/2014/main" id="{236B69D0-8F80-4DB7-9DD5-F2607E493992}"/>
              </a:ext>
            </a:extLst>
          </p:cNvPr>
          <p:cNvSpPr>
            <a:spLocks noGrp="1"/>
          </p:cNvSpPr>
          <p:nvPr>
            <p:ph idx="1"/>
          </p:nvPr>
        </p:nvSpPr>
        <p:spPr>
          <a:xfrm>
            <a:off x="1295401" y="1913467"/>
            <a:ext cx="9601196" cy="4334933"/>
          </a:xfrm>
        </p:spPr>
        <p:txBody>
          <a:bodyPr>
            <a:normAutofit fontScale="25000" lnSpcReduction="20000"/>
          </a:bodyPr>
          <a:lstStyle/>
          <a:p>
            <a:pPr marL="0" indent="0">
              <a:buNone/>
            </a:pPr>
            <a:r>
              <a:rPr lang="en-US" sz="7200" dirty="0">
                <a:ln w="3175" cmpd="sng">
                  <a:noFill/>
                </a:ln>
                <a:latin typeface="+mj-lt"/>
                <a:ea typeface="+mj-ea"/>
                <a:cs typeface="+mj-cs"/>
              </a:rPr>
              <a:t>Maintenance strategies in manufacturing have evolved through several stages:</a:t>
            </a:r>
          </a:p>
          <a:p>
            <a:pPr marL="0" indent="0">
              <a:buNone/>
            </a:pPr>
            <a:r>
              <a:rPr lang="en-US" sz="7200" dirty="0">
                <a:ln w="3175" cmpd="sng">
                  <a:noFill/>
                </a:ln>
                <a:latin typeface="+mj-lt"/>
                <a:ea typeface="+mj-ea"/>
                <a:cs typeface="+mj-cs"/>
              </a:rPr>
              <a:t>1)Reactive Maintenance</a:t>
            </a:r>
          </a:p>
          <a:p>
            <a:pPr marL="0" indent="0">
              <a:buNone/>
            </a:pPr>
            <a:r>
              <a:rPr lang="en-US" sz="7200" dirty="0">
                <a:ln w="3175" cmpd="sng">
                  <a:noFill/>
                </a:ln>
                <a:latin typeface="+mj-lt"/>
                <a:ea typeface="+mj-ea"/>
                <a:cs typeface="+mj-cs"/>
              </a:rPr>
              <a:t>Equipment repaired only after failure occurs.</a:t>
            </a:r>
          </a:p>
          <a:p>
            <a:pPr marL="0" indent="0">
              <a:buNone/>
            </a:pPr>
            <a:r>
              <a:rPr lang="en-US" sz="7200" dirty="0">
                <a:ln w="3175" cmpd="sng">
                  <a:noFill/>
                </a:ln>
                <a:latin typeface="+mj-lt"/>
                <a:ea typeface="+mj-ea"/>
                <a:cs typeface="+mj-cs"/>
              </a:rPr>
              <a:t>Leads to high downtime and costly repairs.</a:t>
            </a:r>
          </a:p>
          <a:p>
            <a:pPr marL="0" indent="0">
              <a:buNone/>
            </a:pPr>
            <a:r>
              <a:rPr lang="en-US" sz="7200" dirty="0">
                <a:ln w="3175" cmpd="sng">
                  <a:noFill/>
                </a:ln>
                <a:latin typeface="+mj-lt"/>
                <a:ea typeface="+mj-ea"/>
                <a:cs typeface="+mj-cs"/>
              </a:rPr>
              <a:t>2)Preventive Maintenance</a:t>
            </a:r>
          </a:p>
          <a:p>
            <a:pPr marL="0" indent="0">
              <a:buNone/>
            </a:pPr>
            <a:r>
              <a:rPr lang="en-US" sz="7200" dirty="0">
                <a:ln w="3175" cmpd="sng">
                  <a:noFill/>
                </a:ln>
                <a:latin typeface="+mj-lt"/>
                <a:ea typeface="+mj-ea"/>
                <a:cs typeface="+mj-cs"/>
              </a:rPr>
              <a:t>Maintenance performed on scheduled intervals.</a:t>
            </a:r>
          </a:p>
          <a:p>
            <a:pPr marL="0" indent="0">
              <a:buNone/>
            </a:pPr>
            <a:r>
              <a:rPr lang="en-US" sz="7200" dirty="0">
                <a:ln w="3175" cmpd="sng">
                  <a:noFill/>
                </a:ln>
                <a:latin typeface="+mj-lt"/>
                <a:ea typeface="+mj-ea"/>
                <a:cs typeface="+mj-cs"/>
              </a:rPr>
              <a:t>Often results in replacing parts before their actual failure.</a:t>
            </a:r>
          </a:p>
          <a:p>
            <a:pPr marL="0" indent="0">
              <a:buNone/>
            </a:pPr>
            <a:r>
              <a:rPr lang="en-US" sz="7200" dirty="0">
                <a:ln w="3175" cmpd="sng">
                  <a:noFill/>
                </a:ln>
                <a:latin typeface="+mj-lt"/>
                <a:ea typeface="+mj-ea"/>
                <a:cs typeface="+mj-cs"/>
              </a:rPr>
              <a:t>3)Predictive Maintenance</a:t>
            </a:r>
          </a:p>
          <a:p>
            <a:pPr marL="0" indent="0">
              <a:buNone/>
            </a:pPr>
            <a:r>
              <a:rPr lang="en-US" sz="7200" dirty="0">
                <a:ln w="3175" cmpd="sng">
                  <a:noFill/>
                </a:ln>
                <a:latin typeface="+mj-lt"/>
                <a:ea typeface="+mj-ea"/>
                <a:cs typeface="+mj-cs"/>
              </a:rPr>
              <a:t>Uses data analytics and AI to predict failures before they occur.</a:t>
            </a:r>
          </a:p>
          <a:p>
            <a:pPr marL="0" indent="0">
              <a:buNone/>
            </a:pPr>
            <a:r>
              <a:rPr lang="en-US" sz="7200" dirty="0">
                <a:ln w="3175" cmpd="sng">
                  <a:noFill/>
                </a:ln>
                <a:latin typeface="+mj-lt"/>
                <a:ea typeface="+mj-ea"/>
                <a:cs typeface="+mj-cs"/>
              </a:rPr>
              <a:t>Enables proactive maintenance planning.</a:t>
            </a:r>
          </a:p>
          <a:p>
            <a:pPr marL="0" indent="0">
              <a:buNone/>
            </a:pPr>
            <a:r>
              <a:rPr lang="en-US" sz="7200" dirty="0">
                <a:ln w="3175" cmpd="sng">
                  <a:noFill/>
                </a:ln>
                <a:latin typeface="+mj-lt"/>
                <a:ea typeface="+mj-ea"/>
                <a:cs typeface="+mj-cs"/>
              </a:rPr>
              <a:t>4)Prescriptive Maintenance</a:t>
            </a:r>
          </a:p>
          <a:p>
            <a:pPr marL="0" indent="0">
              <a:buNone/>
            </a:pPr>
            <a:r>
              <a:rPr lang="en-US" sz="7200" dirty="0">
                <a:ln w="3175" cmpd="sng">
                  <a:noFill/>
                </a:ln>
                <a:latin typeface="+mj-lt"/>
                <a:ea typeface="+mj-ea"/>
                <a:cs typeface="+mj-cs"/>
              </a:rPr>
              <a:t>AI recommends optimal maintenance actions automatically.</a:t>
            </a:r>
          </a:p>
          <a:p>
            <a:endParaRPr lang="en-US" dirty="0"/>
          </a:p>
        </p:txBody>
      </p:sp>
    </p:spTree>
    <p:extLst>
      <p:ext uri="{BB962C8B-B14F-4D97-AF65-F5344CB8AC3E}">
        <p14:creationId xmlns:p14="http://schemas.microsoft.com/office/powerpoint/2010/main" val="1174948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9941A-FB39-4FE4-8A4D-5DF51AD38785}"/>
              </a:ext>
            </a:extLst>
          </p:cNvPr>
          <p:cNvSpPr>
            <a:spLocks noGrp="1"/>
          </p:cNvSpPr>
          <p:nvPr>
            <p:ph type="title"/>
          </p:nvPr>
        </p:nvSpPr>
        <p:spPr/>
        <p:txBody>
          <a:bodyPr/>
          <a:lstStyle/>
          <a:p>
            <a:r>
              <a:rPr lang="en-US" dirty="0"/>
              <a:t>Maintenance Evolution</a:t>
            </a:r>
          </a:p>
        </p:txBody>
      </p:sp>
      <p:pic>
        <p:nvPicPr>
          <p:cNvPr id="5" name="Content Placeholder 4">
            <a:extLst>
              <a:ext uri="{FF2B5EF4-FFF2-40B4-BE49-F238E27FC236}">
                <a16:creationId xmlns:a16="http://schemas.microsoft.com/office/drawing/2014/main" id="{3C22DF8B-BC86-46DA-922B-56FB25FA68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97280" y="1913467"/>
            <a:ext cx="9601196" cy="4149708"/>
          </a:xfrm>
        </p:spPr>
      </p:pic>
    </p:spTree>
    <p:extLst>
      <p:ext uri="{BB962C8B-B14F-4D97-AF65-F5344CB8AC3E}">
        <p14:creationId xmlns:p14="http://schemas.microsoft.com/office/powerpoint/2010/main" val="21566038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2B22A-A303-485E-8101-418199EBD7F8}"/>
              </a:ext>
            </a:extLst>
          </p:cNvPr>
          <p:cNvSpPr>
            <a:spLocks noGrp="1"/>
          </p:cNvSpPr>
          <p:nvPr>
            <p:ph type="title"/>
          </p:nvPr>
        </p:nvSpPr>
        <p:spPr/>
        <p:txBody>
          <a:bodyPr/>
          <a:lstStyle/>
          <a:p>
            <a:r>
              <a:rPr lang="en-US" dirty="0"/>
              <a:t>Core Business Problem</a:t>
            </a:r>
          </a:p>
        </p:txBody>
      </p:sp>
      <p:sp>
        <p:nvSpPr>
          <p:cNvPr id="3" name="Content Placeholder 2">
            <a:extLst>
              <a:ext uri="{FF2B5EF4-FFF2-40B4-BE49-F238E27FC236}">
                <a16:creationId xmlns:a16="http://schemas.microsoft.com/office/drawing/2014/main" id="{B50E3B9E-2AA5-44B5-9C7F-7CB6692EBB18}"/>
              </a:ext>
            </a:extLst>
          </p:cNvPr>
          <p:cNvSpPr>
            <a:spLocks noGrp="1"/>
          </p:cNvSpPr>
          <p:nvPr>
            <p:ph idx="1"/>
          </p:nvPr>
        </p:nvSpPr>
        <p:spPr>
          <a:xfrm>
            <a:off x="838200" y="2124222"/>
            <a:ext cx="10058397" cy="3751646"/>
          </a:xfrm>
        </p:spPr>
        <p:txBody>
          <a:bodyPr>
            <a:normAutofit/>
          </a:bodyPr>
          <a:lstStyle/>
          <a:p>
            <a:pPr marL="0" indent="0">
              <a:buNone/>
            </a:pPr>
            <a:r>
              <a:rPr lang="en-US" sz="1900" dirty="0">
                <a:ln w="3175" cmpd="sng">
                  <a:noFill/>
                </a:ln>
                <a:latin typeface="+mj-lt"/>
                <a:ea typeface="+mj-ea"/>
                <a:cs typeface="+mj-cs"/>
              </a:rPr>
              <a:t>Unplanned Equipment Downtime</a:t>
            </a:r>
          </a:p>
          <a:p>
            <a:pPr marL="0" indent="0">
              <a:buNone/>
            </a:pPr>
            <a:r>
              <a:rPr lang="en-US" sz="1900" dirty="0">
                <a:ln w="3175" cmpd="sng">
                  <a:noFill/>
                </a:ln>
                <a:latin typeface="+mj-lt"/>
                <a:ea typeface="+mj-ea"/>
                <a:cs typeface="+mj-cs"/>
              </a:rPr>
              <a:t>The Siemens </a:t>
            </a:r>
            <a:r>
              <a:rPr lang="en-US" sz="1900" dirty="0" err="1">
                <a:ln w="3175" cmpd="sng">
                  <a:noFill/>
                </a:ln>
                <a:latin typeface="+mj-lt"/>
                <a:ea typeface="+mj-ea"/>
                <a:cs typeface="+mj-cs"/>
              </a:rPr>
              <a:t>Amberg</a:t>
            </a:r>
            <a:r>
              <a:rPr lang="en-US" sz="1900" dirty="0">
                <a:ln w="3175" cmpd="sng">
                  <a:noFill/>
                </a:ln>
                <a:latin typeface="+mj-lt"/>
                <a:ea typeface="+mj-ea"/>
                <a:cs typeface="+mj-cs"/>
              </a:rPr>
              <a:t> plant experienced significant operational challenges:</a:t>
            </a:r>
          </a:p>
          <a:p>
            <a:pPr marL="0" indent="0">
              <a:buNone/>
            </a:pPr>
            <a:r>
              <a:rPr lang="en-US" sz="1900" dirty="0">
                <a:ln w="3175" cmpd="sng">
                  <a:noFill/>
                </a:ln>
                <a:latin typeface="+mj-lt"/>
                <a:ea typeface="+mj-ea"/>
                <a:cs typeface="+mj-cs"/>
              </a:rPr>
              <a:t>Approximately 85 hours of unplanned downtime per month.</a:t>
            </a:r>
          </a:p>
          <a:p>
            <a:pPr marL="0" indent="0">
              <a:buNone/>
            </a:pPr>
            <a:r>
              <a:rPr lang="en-US" sz="1900" dirty="0">
                <a:ln w="3175" cmpd="sng">
                  <a:noFill/>
                </a:ln>
                <a:latin typeface="+mj-lt"/>
                <a:ea typeface="+mj-ea"/>
                <a:cs typeface="+mj-cs"/>
              </a:rPr>
              <a:t>Each hour of downtime costs around €40,000 in lost production output.</a:t>
            </a:r>
          </a:p>
          <a:p>
            <a:pPr marL="0" indent="0">
              <a:buNone/>
            </a:pPr>
            <a:r>
              <a:rPr lang="en-US" sz="1900" dirty="0">
                <a:ln w="3175" cmpd="sng">
                  <a:noFill/>
                </a:ln>
                <a:latin typeface="+mj-lt"/>
                <a:ea typeface="+mj-ea"/>
                <a:cs typeface="+mj-cs"/>
              </a:rPr>
              <a:t>Equipment failures often occurred without early warning signs.</a:t>
            </a:r>
          </a:p>
          <a:p>
            <a:pPr marL="0" indent="0">
              <a:buNone/>
            </a:pPr>
            <a:r>
              <a:rPr lang="en-US" sz="1900" dirty="0">
                <a:ln w="3175" cmpd="sng">
                  <a:noFill/>
                </a:ln>
                <a:latin typeface="+mj-lt"/>
                <a:ea typeface="+mj-ea"/>
                <a:cs typeface="+mj-cs"/>
              </a:rPr>
              <a:t>Troubleshooting automated equipment required significant time and expertise.</a:t>
            </a:r>
          </a:p>
          <a:p>
            <a:pPr marL="0" indent="0">
              <a:buNone/>
            </a:pPr>
            <a:r>
              <a:rPr lang="en-US" sz="1900" dirty="0">
                <a:ln w="3175" cmpd="sng">
                  <a:noFill/>
                </a:ln>
                <a:latin typeface="+mj-lt"/>
                <a:ea typeface="+mj-ea"/>
                <a:cs typeface="+mj-cs"/>
              </a:rPr>
              <a:t>This downtime significantly affected production efficiency and revenue generation.</a:t>
            </a:r>
          </a:p>
          <a:p>
            <a:endParaRPr lang="en-US" dirty="0"/>
          </a:p>
        </p:txBody>
      </p:sp>
    </p:spTree>
    <p:extLst>
      <p:ext uri="{BB962C8B-B14F-4D97-AF65-F5344CB8AC3E}">
        <p14:creationId xmlns:p14="http://schemas.microsoft.com/office/powerpoint/2010/main" val="36524912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72803-DA74-4817-9DBC-1DAF8A587D1B}"/>
              </a:ext>
            </a:extLst>
          </p:cNvPr>
          <p:cNvSpPr>
            <a:spLocks noGrp="1"/>
          </p:cNvSpPr>
          <p:nvPr>
            <p:ph type="title"/>
          </p:nvPr>
        </p:nvSpPr>
        <p:spPr/>
        <p:txBody>
          <a:bodyPr/>
          <a:lstStyle/>
          <a:p>
            <a:r>
              <a:rPr lang="en-US" dirty="0"/>
              <a:t>Limitations of Traditional Systems</a:t>
            </a:r>
          </a:p>
        </p:txBody>
      </p:sp>
      <p:sp>
        <p:nvSpPr>
          <p:cNvPr id="3" name="Content Placeholder 2">
            <a:extLst>
              <a:ext uri="{FF2B5EF4-FFF2-40B4-BE49-F238E27FC236}">
                <a16:creationId xmlns:a16="http://schemas.microsoft.com/office/drawing/2014/main" id="{40E41B5F-8043-4483-9E52-531D3B2E9C62}"/>
              </a:ext>
            </a:extLst>
          </p:cNvPr>
          <p:cNvSpPr>
            <a:spLocks noGrp="1"/>
          </p:cNvSpPr>
          <p:nvPr>
            <p:ph idx="1"/>
          </p:nvPr>
        </p:nvSpPr>
        <p:spPr>
          <a:xfrm>
            <a:off x="1295401" y="2039815"/>
            <a:ext cx="9601196" cy="4079631"/>
          </a:xfrm>
        </p:spPr>
        <p:txBody>
          <a:bodyPr>
            <a:normAutofit/>
          </a:bodyPr>
          <a:lstStyle/>
          <a:p>
            <a:pPr marL="0" indent="0">
              <a:buNone/>
            </a:pPr>
            <a:r>
              <a:rPr lang="en-US" sz="2100" dirty="0">
                <a:ln w="3175" cmpd="sng">
                  <a:noFill/>
                </a:ln>
                <a:latin typeface="+mj-lt"/>
                <a:ea typeface="+mj-ea"/>
                <a:cs typeface="+mj-cs"/>
              </a:rPr>
              <a:t>Limitations of Traditional Maintenance Systems</a:t>
            </a:r>
          </a:p>
          <a:p>
            <a:pPr marL="0" indent="0">
              <a:buNone/>
            </a:pPr>
            <a:r>
              <a:rPr lang="en-US" sz="2100" dirty="0">
                <a:ln w="3175" cmpd="sng">
                  <a:noFill/>
                </a:ln>
                <a:latin typeface="+mj-lt"/>
                <a:ea typeface="+mj-ea"/>
                <a:cs typeface="+mj-cs"/>
              </a:rPr>
              <a:t>1)SCADA Monitoring Limitations</a:t>
            </a:r>
          </a:p>
          <a:p>
            <a:pPr marL="0" indent="0">
              <a:buNone/>
            </a:pPr>
            <a:r>
              <a:rPr lang="en-US" sz="2100" dirty="0">
                <a:ln w="3175" cmpd="sng">
                  <a:noFill/>
                </a:ln>
                <a:latin typeface="+mj-lt"/>
                <a:ea typeface="+mj-ea"/>
                <a:cs typeface="+mj-cs"/>
              </a:rPr>
              <a:t>Detects abnormal parameters only after threshold values are exceeded.</a:t>
            </a:r>
          </a:p>
          <a:p>
            <a:pPr marL="0" indent="0">
              <a:buNone/>
            </a:pPr>
            <a:r>
              <a:rPr lang="en-US" sz="2100" dirty="0">
                <a:ln w="3175" cmpd="sng">
                  <a:noFill/>
                </a:ln>
                <a:latin typeface="+mj-lt"/>
                <a:ea typeface="+mj-ea"/>
                <a:cs typeface="+mj-cs"/>
              </a:rPr>
              <a:t>2)Manual Monitoring Constraints</a:t>
            </a:r>
          </a:p>
          <a:p>
            <a:pPr marL="0" indent="0">
              <a:buNone/>
            </a:pPr>
            <a:r>
              <a:rPr lang="en-US" sz="2100" dirty="0">
                <a:ln w="3175" cmpd="sng">
                  <a:noFill/>
                </a:ln>
                <a:latin typeface="+mj-lt"/>
                <a:ea typeface="+mj-ea"/>
                <a:cs typeface="+mj-cs"/>
              </a:rPr>
              <a:t>Operators cannot continuously analyze large volumes of sensor data.</a:t>
            </a:r>
          </a:p>
          <a:p>
            <a:pPr marL="0" indent="0">
              <a:buNone/>
            </a:pPr>
            <a:r>
              <a:rPr lang="en-US" sz="2100" dirty="0">
                <a:ln w="3175" cmpd="sng">
                  <a:noFill/>
                </a:ln>
                <a:latin typeface="+mj-lt"/>
                <a:ea typeface="+mj-ea"/>
                <a:cs typeface="+mj-cs"/>
              </a:rPr>
              <a:t>3)Data Silos Across Systems</a:t>
            </a:r>
          </a:p>
          <a:p>
            <a:pPr marL="0" indent="0">
              <a:buNone/>
            </a:pPr>
            <a:r>
              <a:rPr lang="en-US" sz="2100" dirty="0">
                <a:ln w="3175" cmpd="sng">
                  <a:noFill/>
                </a:ln>
                <a:latin typeface="+mj-lt"/>
                <a:ea typeface="+mj-ea"/>
                <a:cs typeface="+mj-cs"/>
              </a:rPr>
              <a:t>Different operational data sources are disconnected</a:t>
            </a:r>
          </a:p>
          <a:p>
            <a:pPr marL="0" indent="0">
              <a:buNone/>
            </a:pPr>
            <a:r>
              <a:rPr lang="en-US" sz="2100" u="sng" dirty="0">
                <a:ln w="3175" cmpd="sng">
                  <a:noFill/>
                </a:ln>
                <a:latin typeface="+mj-lt"/>
                <a:ea typeface="+mj-ea"/>
                <a:cs typeface="+mj-cs"/>
              </a:rPr>
              <a:t>This lack of integration prevents holistic decision-making</a:t>
            </a:r>
            <a:r>
              <a:rPr lang="en-US" sz="2000" dirty="0"/>
              <a:t>.</a:t>
            </a:r>
            <a:endParaRPr lang="en-US" sz="2100" dirty="0">
              <a:ln w="3175" cmpd="sng">
                <a:noFill/>
              </a:ln>
              <a:latin typeface="+mj-lt"/>
              <a:ea typeface="+mj-ea"/>
              <a:cs typeface="+mj-cs"/>
            </a:endParaRPr>
          </a:p>
          <a:p>
            <a:pPr marL="0" indent="0">
              <a:buNone/>
            </a:pPr>
            <a:endParaRPr lang="en-US" dirty="0"/>
          </a:p>
        </p:txBody>
      </p:sp>
    </p:spTree>
    <p:extLst>
      <p:ext uri="{BB962C8B-B14F-4D97-AF65-F5344CB8AC3E}">
        <p14:creationId xmlns:p14="http://schemas.microsoft.com/office/powerpoint/2010/main" val="2750514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B743B-D813-47F3-B1EB-7FDC4CD5B8E2}"/>
              </a:ext>
            </a:extLst>
          </p:cNvPr>
          <p:cNvSpPr>
            <a:spLocks noGrp="1"/>
          </p:cNvSpPr>
          <p:nvPr>
            <p:ph type="title"/>
          </p:nvPr>
        </p:nvSpPr>
        <p:spPr/>
        <p:txBody>
          <a:bodyPr/>
          <a:lstStyle/>
          <a:p>
            <a:r>
              <a:rPr lang="en-US" dirty="0"/>
              <a:t>Limitations of Traditional Systems</a:t>
            </a:r>
          </a:p>
        </p:txBody>
      </p:sp>
      <p:graphicFrame>
        <p:nvGraphicFramePr>
          <p:cNvPr id="4" name="Content Placeholder 3">
            <a:extLst>
              <a:ext uri="{FF2B5EF4-FFF2-40B4-BE49-F238E27FC236}">
                <a16:creationId xmlns:a16="http://schemas.microsoft.com/office/drawing/2014/main" id="{5B9483F0-2D1E-42AD-BEF5-76D617AC20B9}"/>
              </a:ext>
            </a:extLst>
          </p:cNvPr>
          <p:cNvGraphicFramePr>
            <a:graphicFrameLocks noGrp="1"/>
          </p:cNvGraphicFramePr>
          <p:nvPr>
            <p:ph idx="1"/>
            <p:extLst>
              <p:ext uri="{D42A27DB-BD31-4B8C-83A1-F6EECF244321}">
                <p14:modId xmlns:p14="http://schemas.microsoft.com/office/powerpoint/2010/main" val="2433090825"/>
              </p:ext>
            </p:extLst>
          </p:nvPr>
        </p:nvGraphicFramePr>
        <p:xfrm>
          <a:off x="1266092" y="2096086"/>
          <a:ext cx="9312813" cy="3945951"/>
        </p:xfrm>
        <a:graphic>
          <a:graphicData uri="http://schemas.openxmlformats.org/drawingml/2006/table">
            <a:tbl>
              <a:tblPr firstRow="1" firstCol="1" bandRow="1">
                <a:tableStyleId>{5C22544A-7EE6-4342-B048-85BDC9FD1C3A}</a:tableStyleId>
              </a:tblPr>
              <a:tblGrid>
                <a:gridCol w="3103607">
                  <a:extLst>
                    <a:ext uri="{9D8B030D-6E8A-4147-A177-3AD203B41FA5}">
                      <a16:colId xmlns:a16="http://schemas.microsoft.com/office/drawing/2014/main" val="3680594720"/>
                    </a:ext>
                  </a:extLst>
                </a:gridCol>
                <a:gridCol w="3104603">
                  <a:extLst>
                    <a:ext uri="{9D8B030D-6E8A-4147-A177-3AD203B41FA5}">
                      <a16:colId xmlns:a16="http://schemas.microsoft.com/office/drawing/2014/main" val="391971845"/>
                    </a:ext>
                  </a:extLst>
                </a:gridCol>
                <a:gridCol w="3104603">
                  <a:extLst>
                    <a:ext uri="{9D8B030D-6E8A-4147-A177-3AD203B41FA5}">
                      <a16:colId xmlns:a16="http://schemas.microsoft.com/office/drawing/2014/main" val="245027117"/>
                    </a:ext>
                  </a:extLst>
                </a:gridCol>
              </a:tblGrid>
              <a:tr h="589893">
                <a:tc>
                  <a:txBody>
                    <a:bodyPr/>
                    <a:lstStyle/>
                    <a:p>
                      <a:pPr marL="0" marR="0">
                        <a:lnSpc>
                          <a:spcPct val="107000"/>
                        </a:lnSpc>
                        <a:spcBef>
                          <a:spcPts val="0"/>
                        </a:spcBef>
                        <a:spcAft>
                          <a:spcPts val="0"/>
                        </a:spcAft>
                      </a:pPr>
                      <a:r>
                        <a:rPr lang="en-US" sz="2400" dirty="0">
                          <a:effectLst/>
                        </a:rPr>
                        <a:t>System</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a:effectLst/>
                        </a:rPr>
                        <a:t>Data type </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a:effectLst/>
                        </a:rPr>
                        <a:t>Limitation</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21746293"/>
                  </a:ext>
                </a:extLst>
              </a:tr>
              <a:tr h="1200763">
                <a:tc>
                  <a:txBody>
                    <a:bodyPr/>
                    <a:lstStyle/>
                    <a:p>
                      <a:pPr marL="0" marR="0">
                        <a:lnSpc>
                          <a:spcPct val="107000"/>
                        </a:lnSpc>
                        <a:spcBef>
                          <a:spcPts val="0"/>
                        </a:spcBef>
                        <a:spcAft>
                          <a:spcPts val="0"/>
                        </a:spcAft>
                      </a:pPr>
                      <a:r>
                        <a:rPr lang="en-US" sz="2400" dirty="0">
                          <a:effectLst/>
                        </a:rPr>
                        <a:t>CMMS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dirty="0">
                          <a:effectLst/>
                        </a:rPr>
                        <a:t>Maintenance history and work orders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a:effectLst/>
                        </a:rPr>
                        <a:t>No real-time machine data</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46929457"/>
                  </a:ext>
                </a:extLst>
              </a:tr>
              <a:tr h="589893">
                <a:tc>
                  <a:txBody>
                    <a:bodyPr/>
                    <a:lstStyle/>
                    <a:p>
                      <a:pPr marL="0" marR="0">
                        <a:lnSpc>
                          <a:spcPct val="107000"/>
                        </a:lnSpc>
                        <a:spcBef>
                          <a:spcPts val="0"/>
                        </a:spcBef>
                        <a:spcAft>
                          <a:spcPts val="0"/>
                        </a:spcAft>
                      </a:pPr>
                      <a:r>
                        <a:rPr lang="en-US" sz="2400" dirty="0">
                          <a:effectLst/>
                        </a:rPr>
                        <a:t>MES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dirty="0">
                          <a:effectLst/>
                        </a:rPr>
                        <a:t>Production schedules</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a:effectLst/>
                        </a:rPr>
                        <a:t>No maintenance context</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02023453"/>
                  </a:ext>
                </a:extLst>
              </a:tr>
              <a:tr h="659627">
                <a:tc>
                  <a:txBody>
                    <a:bodyPr/>
                    <a:lstStyle/>
                    <a:p>
                      <a:pPr marL="0" marR="0">
                        <a:lnSpc>
                          <a:spcPct val="107000"/>
                        </a:lnSpc>
                        <a:spcBef>
                          <a:spcPts val="0"/>
                        </a:spcBef>
                        <a:spcAft>
                          <a:spcPts val="0"/>
                        </a:spcAft>
                      </a:pPr>
                      <a:r>
                        <a:rPr lang="en-US" sz="2400">
                          <a:effectLst/>
                        </a:rPr>
                        <a:t>History</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dirty="0">
                          <a:effectLst/>
                        </a:rPr>
                        <a:t>Time-Series sensor data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dirty="0">
                          <a:effectLst/>
                        </a:rPr>
                        <a:t>No failure outcome labels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07687048"/>
                  </a:ext>
                </a:extLst>
              </a:tr>
              <a:tr h="659627">
                <a:tc>
                  <a:txBody>
                    <a:bodyPr/>
                    <a:lstStyle/>
                    <a:p>
                      <a:pPr marL="0" marR="0">
                        <a:lnSpc>
                          <a:spcPct val="107000"/>
                        </a:lnSpc>
                        <a:spcBef>
                          <a:spcPts val="0"/>
                        </a:spcBef>
                        <a:spcAft>
                          <a:spcPts val="0"/>
                        </a:spcAft>
                      </a:pPr>
                      <a:r>
                        <a:rPr lang="en-US" sz="2400">
                          <a:effectLst/>
                        </a:rPr>
                        <a:t>ERP </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a:effectLst/>
                        </a:rPr>
                        <a:t>Parts inventory and costs</a:t>
                      </a:r>
                      <a:endParaRPr lang="en-US" sz="24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2400" dirty="0">
                          <a:effectLst/>
                        </a:rPr>
                        <a:t>No equipment condition data </a:t>
                      </a:r>
                      <a:endParaRPr lang="en-US" sz="24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43872108"/>
                  </a:ext>
                </a:extLst>
              </a:tr>
            </a:tbl>
          </a:graphicData>
        </a:graphic>
      </p:graphicFrame>
    </p:spTree>
    <p:extLst>
      <p:ext uri="{BB962C8B-B14F-4D97-AF65-F5344CB8AC3E}">
        <p14:creationId xmlns:p14="http://schemas.microsoft.com/office/powerpoint/2010/main" val="544117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18F5DA-1725-4623-80F1-82F70D41D4F5}"/>
              </a:ext>
            </a:extLst>
          </p:cNvPr>
          <p:cNvSpPr>
            <a:spLocks noGrp="1"/>
          </p:cNvSpPr>
          <p:nvPr>
            <p:ph type="title"/>
          </p:nvPr>
        </p:nvSpPr>
        <p:spPr/>
        <p:txBody>
          <a:bodyPr/>
          <a:lstStyle/>
          <a:p>
            <a:r>
              <a:rPr lang="en-US" dirty="0"/>
              <a:t>Operational and Financial Impact</a:t>
            </a:r>
          </a:p>
        </p:txBody>
      </p:sp>
      <p:sp>
        <p:nvSpPr>
          <p:cNvPr id="3" name="Content Placeholder 2">
            <a:extLst>
              <a:ext uri="{FF2B5EF4-FFF2-40B4-BE49-F238E27FC236}">
                <a16:creationId xmlns:a16="http://schemas.microsoft.com/office/drawing/2014/main" id="{5632CBFA-261B-4519-8C6D-81FA1EFCE040}"/>
              </a:ext>
            </a:extLst>
          </p:cNvPr>
          <p:cNvSpPr>
            <a:spLocks noGrp="1"/>
          </p:cNvSpPr>
          <p:nvPr>
            <p:ph idx="1"/>
          </p:nvPr>
        </p:nvSpPr>
        <p:spPr>
          <a:xfrm>
            <a:off x="838200" y="1913467"/>
            <a:ext cx="10058397" cy="4334933"/>
          </a:xfrm>
        </p:spPr>
        <p:txBody>
          <a:bodyPr>
            <a:normAutofit fontScale="47500" lnSpcReduction="20000"/>
          </a:bodyPr>
          <a:lstStyle/>
          <a:p>
            <a:pPr marL="0" indent="0">
              <a:buNone/>
            </a:pPr>
            <a:r>
              <a:rPr lang="en-US" sz="6400" dirty="0">
                <a:ln w="3175" cmpd="sng">
                  <a:noFill/>
                </a:ln>
                <a:latin typeface="+mj-lt"/>
                <a:ea typeface="+mj-ea"/>
                <a:cs typeface="+mj-cs"/>
              </a:rPr>
              <a:t>Maintenance inefficiencies created major operational gaps:</a:t>
            </a:r>
          </a:p>
          <a:p>
            <a:pPr marL="0" indent="0">
              <a:buNone/>
            </a:pPr>
            <a:r>
              <a:rPr lang="en-US" sz="6400" dirty="0">
                <a:ln w="3175" cmpd="sng">
                  <a:noFill/>
                </a:ln>
                <a:latin typeface="+mj-lt"/>
                <a:ea typeface="+mj-ea"/>
                <a:cs typeface="+mj-cs"/>
              </a:rPr>
              <a:t>Operational Gap</a:t>
            </a:r>
          </a:p>
          <a:p>
            <a:pPr marL="0" indent="0">
              <a:buNone/>
            </a:pPr>
            <a:r>
              <a:rPr lang="en-US" sz="6400" dirty="0">
                <a:ln w="3175" cmpd="sng">
                  <a:noFill/>
                </a:ln>
                <a:latin typeface="+mj-lt"/>
                <a:ea typeface="+mj-ea"/>
                <a:cs typeface="+mj-cs"/>
              </a:rPr>
              <a:t>Overall Equipment Effectiveness (OEE): 78%</a:t>
            </a:r>
          </a:p>
          <a:p>
            <a:pPr marL="0" indent="0">
              <a:buNone/>
            </a:pPr>
            <a:r>
              <a:rPr lang="en-US" sz="6400" dirty="0">
                <a:ln w="3175" cmpd="sng">
                  <a:noFill/>
                </a:ln>
                <a:latin typeface="+mj-lt"/>
                <a:ea typeface="+mj-ea"/>
                <a:cs typeface="+mj-cs"/>
              </a:rPr>
              <a:t>Industry benchmark: 85%</a:t>
            </a:r>
          </a:p>
          <a:p>
            <a:pPr marL="0" indent="0">
              <a:buNone/>
            </a:pPr>
            <a:r>
              <a:rPr lang="en-US" sz="6400" dirty="0">
                <a:ln w="3175" cmpd="sng">
                  <a:noFill/>
                </a:ln>
                <a:latin typeface="+mj-lt"/>
                <a:ea typeface="+mj-ea"/>
                <a:cs typeface="+mj-cs"/>
              </a:rPr>
              <a:t>Strategic Gap</a:t>
            </a:r>
          </a:p>
          <a:p>
            <a:pPr marL="0" indent="0">
              <a:buNone/>
            </a:pPr>
            <a:r>
              <a:rPr lang="en-US" sz="6400" dirty="0">
                <a:ln w="3175" cmpd="sng">
                  <a:noFill/>
                </a:ln>
                <a:latin typeface="+mj-lt"/>
                <a:ea typeface="+mj-ea"/>
                <a:cs typeface="+mj-cs"/>
              </a:rPr>
              <a:t>On-time delivery rate: 92%</a:t>
            </a:r>
          </a:p>
          <a:p>
            <a:pPr marL="0" indent="0">
              <a:buNone/>
            </a:pPr>
            <a:r>
              <a:rPr lang="en-US" sz="6400" dirty="0">
                <a:ln w="3175" cmpd="sng">
                  <a:noFill/>
                </a:ln>
                <a:latin typeface="+mj-lt"/>
                <a:ea typeface="+mj-ea"/>
                <a:cs typeface="+mj-cs"/>
              </a:rPr>
              <a:t>Target delivery reliability: 98%</a:t>
            </a:r>
          </a:p>
          <a:p>
            <a:endParaRPr lang="en-US" dirty="0"/>
          </a:p>
        </p:txBody>
      </p:sp>
    </p:spTree>
    <p:extLst>
      <p:ext uri="{BB962C8B-B14F-4D97-AF65-F5344CB8AC3E}">
        <p14:creationId xmlns:p14="http://schemas.microsoft.com/office/powerpoint/2010/main" val="3921953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B81C1-04AF-4F94-BFF8-D6C8CC1603D6}"/>
              </a:ext>
            </a:extLst>
          </p:cNvPr>
          <p:cNvSpPr>
            <a:spLocks noGrp="1"/>
          </p:cNvSpPr>
          <p:nvPr>
            <p:ph type="title"/>
          </p:nvPr>
        </p:nvSpPr>
        <p:spPr/>
        <p:txBody>
          <a:bodyPr/>
          <a:lstStyle/>
          <a:p>
            <a:r>
              <a:rPr lang="en-US" dirty="0"/>
              <a:t>Operational and Financial Impact</a:t>
            </a:r>
          </a:p>
        </p:txBody>
      </p:sp>
      <p:sp>
        <p:nvSpPr>
          <p:cNvPr id="3" name="Content Placeholder 2">
            <a:extLst>
              <a:ext uri="{FF2B5EF4-FFF2-40B4-BE49-F238E27FC236}">
                <a16:creationId xmlns:a16="http://schemas.microsoft.com/office/drawing/2014/main" id="{9F2D620E-F89E-4BD8-AB12-6F67F01AF074}"/>
              </a:ext>
            </a:extLst>
          </p:cNvPr>
          <p:cNvSpPr>
            <a:spLocks noGrp="1"/>
          </p:cNvSpPr>
          <p:nvPr>
            <p:ph idx="1"/>
          </p:nvPr>
        </p:nvSpPr>
        <p:spPr>
          <a:xfrm>
            <a:off x="970671" y="2096086"/>
            <a:ext cx="9925926" cy="3779782"/>
          </a:xfrm>
        </p:spPr>
        <p:txBody>
          <a:bodyPr>
            <a:normAutofit lnSpcReduction="10000"/>
          </a:bodyPr>
          <a:lstStyle/>
          <a:p>
            <a:pPr marL="0" indent="0">
              <a:lnSpc>
                <a:spcPct val="90000"/>
              </a:lnSpc>
              <a:buNone/>
            </a:pPr>
            <a:r>
              <a:rPr lang="en-US" sz="3000" dirty="0">
                <a:ln w="3175" cmpd="sng">
                  <a:noFill/>
                </a:ln>
                <a:latin typeface="+mj-lt"/>
                <a:ea typeface="+mj-ea"/>
                <a:cs typeface="+mj-cs"/>
              </a:rPr>
              <a:t>Financial Impact</a:t>
            </a:r>
          </a:p>
          <a:p>
            <a:pPr marL="0" indent="0">
              <a:lnSpc>
                <a:spcPct val="90000"/>
              </a:lnSpc>
              <a:buNone/>
            </a:pPr>
            <a:r>
              <a:rPr lang="en-US" sz="3000" dirty="0">
                <a:ln w="3175" cmpd="sng">
                  <a:noFill/>
                </a:ln>
                <a:latin typeface="+mj-lt"/>
                <a:ea typeface="+mj-ea"/>
                <a:cs typeface="+mj-cs"/>
              </a:rPr>
              <a:t>€40.8M annual losses from downtime</a:t>
            </a:r>
          </a:p>
          <a:p>
            <a:pPr marL="0" indent="0">
              <a:lnSpc>
                <a:spcPct val="90000"/>
              </a:lnSpc>
              <a:buNone/>
            </a:pPr>
            <a:r>
              <a:rPr lang="en-US" sz="3000" dirty="0">
                <a:ln w="3175" cmpd="sng">
                  <a:noFill/>
                </a:ln>
                <a:latin typeface="+mj-lt"/>
                <a:ea typeface="+mj-ea"/>
                <a:cs typeface="+mj-cs"/>
              </a:rPr>
              <a:t>€15.8M maintenance labor cost</a:t>
            </a:r>
          </a:p>
          <a:p>
            <a:pPr marL="0" indent="0">
              <a:lnSpc>
                <a:spcPct val="90000"/>
              </a:lnSpc>
              <a:buNone/>
            </a:pPr>
            <a:r>
              <a:rPr lang="en-US" sz="3000" dirty="0">
                <a:ln w="3175" cmpd="sng">
                  <a:noFill/>
                </a:ln>
                <a:latin typeface="+mj-lt"/>
                <a:ea typeface="+mj-ea"/>
                <a:cs typeface="+mj-cs"/>
              </a:rPr>
              <a:t>€4.1M spare parts inventory cost</a:t>
            </a:r>
          </a:p>
          <a:p>
            <a:pPr marL="0" indent="0">
              <a:lnSpc>
                <a:spcPct val="90000"/>
              </a:lnSpc>
              <a:buNone/>
            </a:pPr>
            <a:r>
              <a:rPr lang="en-US" sz="3000" dirty="0">
                <a:ln w="3175" cmpd="sng">
                  <a:noFill/>
                </a:ln>
                <a:latin typeface="+mj-lt"/>
                <a:ea typeface="+mj-ea"/>
                <a:cs typeface="+mj-cs"/>
              </a:rPr>
              <a:t>€2.1M quality scrap and rework cost</a:t>
            </a:r>
          </a:p>
          <a:p>
            <a:pPr marL="0" indent="0">
              <a:lnSpc>
                <a:spcPct val="90000"/>
              </a:lnSpc>
              <a:buNone/>
            </a:pPr>
            <a:r>
              <a:rPr lang="en-US" sz="3000" dirty="0">
                <a:ln w="3175" cmpd="sng">
                  <a:noFill/>
                </a:ln>
                <a:latin typeface="+mj-lt"/>
                <a:ea typeface="+mj-ea"/>
                <a:cs typeface="+mj-cs"/>
              </a:rPr>
              <a:t>Total estimated financial impact:</a:t>
            </a:r>
            <a:br>
              <a:rPr lang="en-US" sz="3000" dirty="0">
                <a:ln w="3175" cmpd="sng">
                  <a:noFill/>
                </a:ln>
                <a:latin typeface="+mj-lt"/>
                <a:ea typeface="+mj-ea"/>
                <a:cs typeface="+mj-cs"/>
              </a:rPr>
            </a:br>
            <a:r>
              <a:rPr lang="en-US" sz="3000" dirty="0">
                <a:ln w="3175" cmpd="sng">
                  <a:noFill/>
                </a:ln>
                <a:latin typeface="+mj-lt"/>
                <a:ea typeface="+mj-ea"/>
                <a:cs typeface="+mj-cs"/>
              </a:rPr>
              <a:t>€21.54 million annually</a:t>
            </a:r>
          </a:p>
          <a:p>
            <a:endParaRPr lang="en-US" dirty="0"/>
          </a:p>
        </p:txBody>
      </p:sp>
    </p:spTree>
    <p:extLst>
      <p:ext uri="{BB962C8B-B14F-4D97-AF65-F5344CB8AC3E}">
        <p14:creationId xmlns:p14="http://schemas.microsoft.com/office/powerpoint/2010/main" val="21754050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CD40F93-A848-42DC-B250-5E343C9358E2}"/>
              </a:ext>
            </a:extLst>
          </p:cNvPr>
          <p:cNvSpPr>
            <a:spLocks noGrp="1"/>
          </p:cNvSpPr>
          <p:nvPr>
            <p:ph type="title"/>
          </p:nvPr>
        </p:nvSpPr>
        <p:spPr>
          <a:xfrm>
            <a:off x="1295402" y="982132"/>
            <a:ext cx="9601196" cy="4785622"/>
          </a:xfrm>
        </p:spPr>
        <p:txBody>
          <a:bodyPr/>
          <a:lstStyle/>
          <a:p>
            <a:r>
              <a:rPr lang="en-US" dirty="0"/>
              <a:t>AI Solution Overview </a:t>
            </a:r>
          </a:p>
        </p:txBody>
      </p:sp>
    </p:spTree>
    <p:extLst>
      <p:ext uri="{BB962C8B-B14F-4D97-AF65-F5344CB8AC3E}">
        <p14:creationId xmlns:p14="http://schemas.microsoft.com/office/powerpoint/2010/main" val="7150122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0A92FFA-2071-4DB8-8193-2E9C37044610}"/>
              </a:ext>
            </a:extLst>
          </p:cNvPr>
          <p:cNvSpPr>
            <a:spLocks noGrp="1"/>
          </p:cNvSpPr>
          <p:nvPr>
            <p:ph type="title"/>
          </p:nvPr>
        </p:nvSpPr>
        <p:spPr/>
        <p:txBody>
          <a:bodyPr/>
          <a:lstStyle/>
          <a:p>
            <a:r>
              <a:rPr lang="en-US" dirty="0"/>
              <a:t>AI Solution for Predictive Maintenance</a:t>
            </a:r>
          </a:p>
        </p:txBody>
      </p:sp>
      <p:sp>
        <p:nvSpPr>
          <p:cNvPr id="4" name="Content Placeholder 3">
            <a:extLst>
              <a:ext uri="{FF2B5EF4-FFF2-40B4-BE49-F238E27FC236}">
                <a16:creationId xmlns:a16="http://schemas.microsoft.com/office/drawing/2014/main" id="{9A4D250F-3920-4301-9680-D27247442986}"/>
              </a:ext>
            </a:extLst>
          </p:cNvPr>
          <p:cNvSpPr>
            <a:spLocks noGrp="1"/>
          </p:cNvSpPr>
          <p:nvPr>
            <p:ph idx="1"/>
          </p:nvPr>
        </p:nvSpPr>
        <p:spPr/>
        <p:txBody>
          <a:bodyPr>
            <a:normAutofit fontScale="92500" lnSpcReduction="10000"/>
          </a:bodyPr>
          <a:lstStyle/>
          <a:p>
            <a:pPr marL="0" indent="0">
              <a:buNone/>
            </a:pPr>
            <a:r>
              <a:rPr lang="en-US" sz="3000" dirty="0">
                <a:ln w="3175" cmpd="sng">
                  <a:noFill/>
                </a:ln>
                <a:latin typeface="+mj-lt"/>
                <a:ea typeface="+mj-ea"/>
                <a:cs typeface="+mj-cs"/>
              </a:rPr>
              <a:t>Siemens implemented a multi-layer AI architecture for predictive maintenance at the </a:t>
            </a:r>
            <a:r>
              <a:rPr lang="en-US" sz="3000" dirty="0" err="1">
                <a:ln w="3175" cmpd="sng">
                  <a:noFill/>
                </a:ln>
                <a:latin typeface="+mj-lt"/>
                <a:ea typeface="+mj-ea"/>
                <a:cs typeface="+mj-cs"/>
              </a:rPr>
              <a:t>Amberg</a:t>
            </a:r>
            <a:r>
              <a:rPr lang="en-US" sz="3000" dirty="0">
                <a:ln w="3175" cmpd="sng">
                  <a:noFill/>
                </a:ln>
                <a:latin typeface="+mj-lt"/>
                <a:ea typeface="+mj-ea"/>
                <a:cs typeface="+mj-cs"/>
              </a:rPr>
              <a:t> manufacturing plant.</a:t>
            </a:r>
          </a:p>
          <a:p>
            <a:pPr marL="0" indent="0">
              <a:buNone/>
            </a:pPr>
            <a:r>
              <a:rPr lang="en-US" sz="3000" dirty="0">
                <a:ln w="3175" cmpd="sng">
                  <a:noFill/>
                </a:ln>
                <a:latin typeface="+mj-lt"/>
                <a:ea typeface="+mj-ea"/>
                <a:cs typeface="+mj-cs"/>
              </a:rPr>
              <a:t>The system integrates:</a:t>
            </a:r>
          </a:p>
          <a:p>
            <a:pPr marL="0" indent="0">
              <a:buNone/>
            </a:pPr>
            <a:r>
              <a:rPr lang="en-US" sz="3000" dirty="0">
                <a:ln w="3175" cmpd="sng">
                  <a:noFill/>
                </a:ln>
                <a:latin typeface="+mj-lt"/>
                <a:ea typeface="+mj-ea"/>
                <a:cs typeface="+mj-cs"/>
              </a:rPr>
              <a:t> Industrial IoT sensors</a:t>
            </a:r>
            <a:br>
              <a:rPr lang="en-US" sz="3000" dirty="0">
                <a:ln w="3175" cmpd="sng">
                  <a:noFill/>
                </a:ln>
                <a:latin typeface="+mj-lt"/>
                <a:ea typeface="+mj-ea"/>
                <a:cs typeface="+mj-cs"/>
              </a:rPr>
            </a:br>
            <a:r>
              <a:rPr lang="en-US" sz="3000" dirty="0">
                <a:ln w="3175" cmpd="sng">
                  <a:noFill/>
                </a:ln>
                <a:latin typeface="+mj-lt"/>
                <a:ea typeface="+mj-ea"/>
                <a:cs typeface="+mj-cs"/>
              </a:rPr>
              <a:t> Cloud computing infrastructure</a:t>
            </a:r>
            <a:br>
              <a:rPr lang="en-US" sz="3000" dirty="0">
                <a:ln w="3175" cmpd="sng">
                  <a:noFill/>
                </a:ln>
                <a:latin typeface="+mj-lt"/>
                <a:ea typeface="+mj-ea"/>
                <a:cs typeface="+mj-cs"/>
              </a:rPr>
            </a:br>
            <a:r>
              <a:rPr lang="en-US" sz="3000" dirty="0">
                <a:ln w="3175" cmpd="sng">
                  <a:noFill/>
                </a:ln>
                <a:latin typeface="+mj-lt"/>
                <a:ea typeface="+mj-ea"/>
                <a:cs typeface="+mj-cs"/>
              </a:rPr>
              <a:t> Machine learning models</a:t>
            </a:r>
            <a:br>
              <a:rPr lang="en-US" sz="3000" dirty="0">
                <a:ln w="3175" cmpd="sng">
                  <a:noFill/>
                </a:ln>
                <a:latin typeface="+mj-lt"/>
                <a:ea typeface="+mj-ea"/>
                <a:cs typeface="+mj-cs"/>
              </a:rPr>
            </a:br>
            <a:r>
              <a:rPr lang="en-US" sz="3000" dirty="0">
                <a:ln w="3175" cmpd="sng">
                  <a:noFill/>
                </a:ln>
                <a:latin typeface="+mj-lt"/>
                <a:ea typeface="+mj-ea"/>
                <a:cs typeface="+mj-cs"/>
              </a:rPr>
              <a:t> ERP system integration</a:t>
            </a:r>
          </a:p>
          <a:p>
            <a:endParaRPr lang="en-US" dirty="0"/>
          </a:p>
        </p:txBody>
      </p:sp>
    </p:spTree>
    <p:extLst>
      <p:ext uri="{BB962C8B-B14F-4D97-AF65-F5344CB8AC3E}">
        <p14:creationId xmlns:p14="http://schemas.microsoft.com/office/powerpoint/2010/main" val="36773458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A8A9F-A135-47B7-9E69-DDE0147F7798}"/>
              </a:ext>
            </a:extLst>
          </p:cNvPr>
          <p:cNvSpPr>
            <a:spLocks noGrp="1"/>
          </p:cNvSpPr>
          <p:nvPr>
            <p:ph type="title"/>
          </p:nvPr>
        </p:nvSpPr>
        <p:spPr/>
        <p:txBody>
          <a:bodyPr/>
          <a:lstStyle/>
          <a:p>
            <a:r>
              <a:rPr lang="en-US" dirty="0"/>
              <a:t>AI Technologies Used</a:t>
            </a:r>
          </a:p>
        </p:txBody>
      </p:sp>
      <p:sp>
        <p:nvSpPr>
          <p:cNvPr id="3" name="Content Placeholder 2">
            <a:extLst>
              <a:ext uri="{FF2B5EF4-FFF2-40B4-BE49-F238E27FC236}">
                <a16:creationId xmlns:a16="http://schemas.microsoft.com/office/drawing/2014/main" id="{4B7D495B-468D-46A5-8209-381C4DE7076C}"/>
              </a:ext>
            </a:extLst>
          </p:cNvPr>
          <p:cNvSpPr>
            <a:spLocks noGrp="1"/>
          </p:cNvSpPr>
          <p:nvPr>
            <p:ph idx="1"/>
          </p:nvPr>
        </p:nvSpPr>
        <p:spPr/>
        <p:txBody>
          <a:bodyPr>
            <a:normAutofit fontScale="92500" lnSpcReduction="20000"/>
          </a:bodyPr>
          <a:lstStyle/>
          <a:p>
            <a:pPr marL="0" indent="0">
              <a:buNone/>
            </a:pPr>
            <a:r>
              <a:rPr lang="en-US" sz="3000" dirty="0">
                <a:ln w="3175" cmpd="sng">
                  <a:noFill/>
                </a:ln>
                <a:latin typeface="+mj-lt"/>
                <a:ea typeface="+mj-ea"/>
                <a:cs typeface="+mj-cs"/>
              </a:rPr>
              <a:t>Core AI Technologies</a:t>
            </a:r>
          </a:p>
          <a:p>
            <a:pPr marL="0" indent="0">
              <a:buNone/>
            </a:pPr>
            <a:r>
              <a:rPr lang="en-US" sz="3000" dirty="0">
                <a:ln w="3175" cmpd="sng">
                  <a:noFill/>
                </a:ln>
                <a:latin typeface="+mj-lt"/>
                <a:ea typeface="+mj-ea"/>
                <a:cs typeface="+mj-cs"/>
              </a:rPr>
              <a:t>Failure Mode Classification</a:t>
            </a:r>
            <a:br>
              <a:rPr lang="en-US" sz="3000" dirty="0">
                <a:ln w="3175" cmpd="sng">
                  <a:noFill/>
                </a:ln>
                <a:latin typeface="+mj-lt"/>
                <a:ea typeface="+mj-ea"/>
                <a:cs typeface="+mj-cs"/>
              </a:rPr>
            </a:br>
            <a:r>
              <a:rPr lang="en-US" sz="3000" dirty="0">
                <a:ln w="3175" cmpd="sng">
                  <a:noFill/>
                </a:ln>
                <a:latin typeface="+mj-lt"/>
                <a:ea typeface="+mj-ea"/>
                <a:cs typeface="+mj-cs"/>
              </a:rPr>
              <a:t>Random Forest and Neural Networks identify machine failure types.</a:t>
            </a:r>
          </a:p>
          <a:p>
            <a:pPr marL="0" indent="0">
              <a:buNone/>
            </a:pPr>
            <a:r>
              <a:rPr lang="en-US" sz="3000" dirty="0">
                <a:ln w="3175" cmpd="sng">
                  <a:noFill/>
                </a:ln>
                <a:latin typeface="+mj-lt"/>
                <a:ea typeface="+mj-ea"/>
                <a:cs typeface="+mj-cs"/>
              </a:rPr>
              <a:t>Prescriptive Maintenance Optimization</a:t>
            </a:r>
            <a:br>
              <a:rPr lang="en-US" sz="3000" dirty="0">
                <a:ln w="3175" cmpd="sng">
                  <a:noFill/>
                </a:ln>
                <a:latin typeface="+mj-lt"/>
                <a:ea typeface="+mj-ea"/>
                <a:cs typeface="+mj-cs"/>
              </a:rPr>
            </a:br>
            <a:r>
              <a:rPr lang="en-US" sz="3000" dirty="0">
                <a:ln w="3175" cmpd="sng">
                  <a:noFill/>
                </a:ln>
                <a:latin typeface="+mj-lt"/>
                <a:ea typeface="+mj-ea"/>
                <a:cs typeface="+mj-cs"/>
              </a:rPr>
              <a:t>Reinforcement learning recommends optimal maintenance timing.</a:t>
            </a:r>
          </a:p>
          <a:p>
            <a:pPr marL="0" indent="0">
              <a:buNone/>
            </a:pPr>
            <a:r>
              <a:rPr lang="en-US" sz="3000" dirty="0">
                <a:ln w="3175" cmpd="sng">
                  <a:noFill/>
                </a:ln>
                <a:latin typeface="+mj-lt"/>
                <a:ea typeface="+mj-ea"/>
                <a:cs typeface="+mj-cs"/>
              </a:rPr>
              <a:t>Remaining Useful Life Prediction</a:t>
            </a:r>
            <a:br>
              <a:rPr lang="en-US" sz="3000" dirty="0">
                <a:ln w="3175" cmpd="sng">
                  <a:noFill/>
                </a:ln>
                <a:latin typeface="+mj-lt"/>
                <a:ea typeface="+mj-ea"/>
                <a:cs typeface="+mj-cs"/>
              </a:rPr>
            </a:br>
            <a:r>
              <a:rPr lang="en-US" sz="3000" dirty="0">
                <a:ln w="3175" cmpd="sng">
                  <a:noFill/>
                </a:ln>
                <a:latin typeface="+mj-lt"/>
                <a:ea typeface="+mj-ea"/>
                <a:cs typeface="+mj-cs"/>
              </a:rPr>
              <a:t>LSTM networks predict time-to-failure of equipment components.</a:t>
            </a:r>
          </a:p>
          <a:p>
            <a:endParaRPr lang="en-US" dirty="0"/>
          </a:p>
        </p:txBody>
      </p:sp>
    </p:spTree>
    <p:extLst>
      <p:ext uri="{BB962C8B-B14F-4D97-AF65-F5344CB8AC3E}">
        <p14:creationId xmlns:p14="http://schemas.microsoft.com/office/powerpoint/2010/main" val="1959474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29C1B-4058-47CC-8331-F5444F676373}"/>
              </a:ext>
            </a:extLst>
          </p:cNvPr>
          <p:cNvSpPr>
            <a:spLocks noGrp="1"/>
          </p:cNvSpPr>
          <p:nvPr>
            <p:ph type="title"/>
          </p:nvPr>
        </p:nvSpPr>
        <p:spPr/>
        <p:txBody>
          <a:bodyPr/>
          <a:lstStyle/>
          <a:p>
            <a:r>
              <a:rPr lang="en-US" dirty="0"/>
              <a:t>Business Functions Impacted</a:t>
            </a:r>
          </a:p>
        </p:txBody>
      </p:sp>
      <p:sp>
        <p:nvSpPr>
          <p:cNvPr id="3" name="Content Placeholder 2">
            <a:extLst>
              <a:ext uri="{FF2B5EF4-FFF2-40B4-BE49-F238E27FC236}">
                <a16:creationId xmlns:a16="http://schemas.microsoft.com/office/drawing/2014/main" id="{42457688-C5D9-4010-9C52-F7563B656875}"/>
              </a:ext>
            </a:extLst>
          </p:cNvPr>
          <p:cNvSpPr>
            <a:spLocks noGrp="1"/>
          </p:cNvSpPr>
          <p:nvPr>
            <p:ph idx="1"/>
          </p:nvPr>
        </p:nvSpPr>
        <p:spPr>
          <a:xfrm>
            <a:off x="942535" y="1913467"/>
            <a:ext cx="9954062" cy="3962401"/>
          </a:xfrm>
        </p:spPr>
        <p:txBody>
          <a:bodyPr>
            <a:normAutofit fontScale="25000" lnSpcReduction="20000"/>
          </a:bodyPr>
          <a:lstStyle/>
          <a:p>
            <a:pPr marL="0" indent="0">
              <a:buNone/>
            </a:pPr>
            <a:r>
              <a:rPr lang="en-US" sz="7200" dirty="0">
                <a:ln w="3175" cmpd="sng">
                  <a:noFill/>
                </a:ln>
                <a:latin typeface="+mj-lt"/>
                <a:ea typeface="+mj-ea"/>
                <a:cs typeface="+mj-cs"/>
              </a:rPr>
              <a:t>Maintenance</a:t>
            </a:r>
          </a:p>
          <a:p>
            <a:pPr marL="0" indent="0">
              <a:buNone/>
            </a:pPr>
            <a:r>
              <a:rPr lang="en-US" sz="7200" dirty="0">
                <a:ln w="3175" cmpd="sng">
                  <a:noFill/>
                </a:ln>
                <a:latin typeface="+mj-lt"/>
                <a:ea typeface="+mj-ea"/>
                <a:cs typeface="+mj-cs"/>
              </a:rPr>
              <a:t> Predictive work orders</a:t>
            </a:r>
          </a:p>
          <a:p>
            <a:pPr marL="0" indent="0">
              <a:buNone/>
            </a:pPr>
            <a:r>
              <a:rPr lang="en-US" sz="7200" dirty="0">
                <a:ln w="3175" cmpd="sng">
                  <a:noFill/>
                </a:ln>
                <a:latin typeface="+mj-lt"/>
                <a:ea typeface="+mj-ea"/>
                <a:cs typeface="+mj-cs"/>
              </a:rPr>
              <a:t> 35% productivity improvement</a:t>
            </a:r>
          </a:p>
          <a:p>
            <a:pPr marL="0" indent="0">
              <a:buNone/>
            </a:pPr>
            <a:r>
              <a:rPr lang="en-US" sz="7200" dirty="0">
                <a:ln w="3175" cmpd="sng">
                  <a:noFill/>
                </a:ln>
                <a:latin typeface="+mj-lt"/>
                <a:ea typeface="+mj-ea"/>
                <a:cs typeface="+mj-cs"/>
              </a:rPr>
              <a:t>Production</a:t>
            </a:r>
          </a:p>
          <a:p>
            <a:pPr marL="0" indent="0">
              <a:buNone/>
            </a:pPr>
            <a:r>
              <a:rPr lang="en-US" sz="7200" dirty="0">
                <a:ln w="3175" cmpd="sng">
                  <a:noFill/>
                </a:ln>
                <a:latin typeface="+mj-lt"/>
                <a:ea typeface="+mj-ea"/>
                <a:cs typeface="+mj-cs"/>
              </a:rPr>
              <a:t> Reliable production schedules</a:t>
            </a:r>
            <a:br>
              <a:rPr lang="en-US" sz="7200" dirty="0">
                <a:ln w="3175" cmpd="sng">
                  <a:noFill/>
                </a:ln>
                <a:latin typeface="+mj-lt"/>
                <a:ea typeface="+mj-ea"/>
                <a:cs typeface="+mj-cs"/>
              </a:rPr>
            </a:br>
            <a:r>
              <a:rPr lang="en-US" sz="7200" dirty="0">
                <a:ln w="3175" cmpd="sng">
                  <a:noFill/>
                </a:ln>
                <a:latin typeface="+mj-lt"/>
                <a:ea typeface="+mj-ea"/>
                <a:cs typeface="+mj-cs"/>
              </a:rPr>
              <a:t>15% improvement in schedule reliability</a:t>
            </a:r>
          </a:p>
          <a:p>
            <a:pPr marL="0" indent="0">
              <a:buNone/>
            </a:pPr>
            <a:r>
              <a:rPr lang="en-US" sz="7200" dirty="0">
                <a:ln w="3175" cmpd="sng">
                  <a:noFill/>
                </a:ln>
                <a:latin typeface="+mj-lt"/>
                <a:ea typeface="+mj-ea"/>
                <a:cs typeface="+mj-cs"/>
              </a:rPr>
              <a:t>Supply Chain</a:t>
            </a:r>
          </a:p>
          <a:p>
            <a:pPr marL="0" indent="0">
              <a:buNone/>
            </a:pPr>
            <a:r>
              <a:rPr lang="en-US" sz="7200" dirty="0">
                <a:ln w="3175" cmpd="sng">
                  <a:noFill/>
                </a:ln>
                <a:latin typeface="+mj-lt"/>
                <a:ea typeface="+mj-ea"/>
                <a:cs typeface="+mj-cs"/>
              </a:rPr>
              <a:t> Optimized spare parts inventory</a:t>
            </a:r>
            <a:br>
              <a:rPr lang="en-US" sz="7200" dirty="0">
                <a:ln w="3175" cmpd="sng">
                  <a:noFill/>
                </a:ln>
                <a:latin typeface="+mj-lt"/>
                <a:ea typeface="+mj-ea"/>
                <a:cs typeface="+mj-cs"/>
              </a:rPr>
            </a:br>
            <a:r>
              <a:rPr lang="en-US" sz="7200" dirty="0">
                <a:ln w="3175" cmpd="sng">
                  <a:noFill/>
                </a:ln>
                <a:latin typeface="+mj-lt"/>
                <a:ea typeface="+mj-ea"/>
                <a:cs typeface="+mj-cs"/>
              </a:rPr>
              <a:t>20% inventory reduction</a:t>
            </a:r>
          </a:p>
          <a:p>
            <a:pPr marL="0" indent="0">
              <a:buNone/>
            </a:pPr>
            <a:r>
              <a:rPr lang="en-US" sz="7200" dirty="0">
                <a:ln w="3175" cmpd="sng">
                  <a:noFill/>
                </a:ln>
                <a:latin typeface="+mj-lt"/>
                <a:ea typeface="+mj-ea"/>
                <a:cs typeface="+mj-cs"/>
              </a:rPr>
              <a:t>Finance</a:t>
            </a:r>
          </a:p>
          <a:p>
            <a:pPr marL="0" indent="0">
              <a:buNone/>
            </a:pPr>
            <a:r>
              <a:rPr lang="en-US" sz="7200" dirty="0">
                <a:ln w="3175" cmpd="sng">
                  <a:noFill/>
                </a:ln>
                <a:latin typeface="+mj-lt"/>
                <a:ea typeface="+mj-ea"/>
                <a:cs typeface="+mj-cs"/>
              </a:rPr>
              <a:t>Predictive budgeting</a:t>
            </a:r>
            <a:br>
              <a:rPr lang="en-US" sz="7200" dirty="0">
                <a:ln w="3175" cmpd="sng">
                  <a:noFill/>
                </a:ln>
                <a:latin typeface="+mj-lt"/>
                <a:ea typeface="+mj-ea"/>
                <a:cs typeface="+mj-cs"/>
              </a:rPr>
            </a:br>
            <a:r>
              <a:rPr lang="en-US" sz="7200" dirty="0">
                <a:ln w="3175" cmpd="sng">
                  <a:noFill/>
                </a:ln>
                <a:latin typeface="+mj-lt"/>
                <a:ea typeface="+mj-ea"/>
                <a:cs typeface="+mj-cs"/>
              </a:rPr>
              <a:t>20% reduction in maintenance costs</a:t>
            </a:r>
          </a:p>
          <a:p>
            <a:endParaRPr lang="en-US" dirty="0"/>
          </a:p>
        </p:txBody>
      </p:sp>
    </p:spTree>
    <p:extLst>
      <p:ext uri="{BB962C8B-B14F-4D97-AF65-F5344CB8AC3E}">
        <p14:creationId xmlns:p14="http://schemas.microsoft.com/office/powerpoint/2010/main" val="3161682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36083-1EE4-497B-943B-0D717B84A50D}"/>
              </a:ext>
            </a:extLst>
          </p:cNvPr>
          <p:cNvSpPr>
            <a:spLocks noGrp="1"/>
          </p:cNvSpPr>
          <p:nvPr>
            <p:ph type="title"/>
          </p:nvPr>
        </p:nvSpPr>
        <p:spPr/>
        <p:txBody>
          <a:bodyPr/>
          <a:lstStyle/>
          <a:p>
            <a:r>
              <a:rPr lang="en-US" dirty="0"/>
              <a:t>AI Predictive Maintenance Process</a:t>
            </a:r>
          </a:p>
        </p:txBody>
      </p:sp>
      <p:sp>
        <p:nvSpPr>
          <p:cNvPr id="3" name="Content Placeholder 2">
            <a:extLst>
              <a:ext uri="{FF2B5EF4-FFF2-40B4-BE49-F238E27FC236}">
                <a16:creationId xmlns:a16="http://schemas.microsoft.com/office/drawing/2014/main" id="{D5D6AE72-0F47-4B3D-A242-E8CA10CCAB84}"/>
              </a:ext>
            </a:extLst>
          </p:cNvPr>
          <p:cNvSpPr>
            <a:spLocks noGrp="1"/>
          </p:cNvSpPr>
          <p:nvPr>
            <p:ph idx="1"/>
          </p:nvPr>
        </p:nvSpPr>
        <p:spPr>
          <a:xfrm>
            <a:off x="942535" y="1913467"/>
            <a:ext cx="9954062" cy="3962401"/>
          </a:xfrm>
        </p:spPr>
        <p:txBody>
          <a:bodyPr/>
          <a:lstStyle/>
          <a:p>
            <a:pPr marL="0" indent="0">
              <a:lnSpc>
                <a:spcPct val="80000"/>
              </a:lnSpc>
              <a:buNone/>
            </a:pPr>
            <a:r>
              <a:rPr lang="en-US" sz="3600" dirty="0">
                <a:ln w="3175" cmpd="sng">
                  <a:noFill/>
                </a:ln>
                <a:latin typeface="+mj-lt"/>
                <a:ea typeface="+mj-ea"/>
                <a:cs typeface="+mj-cs"/>
              </a:rPr>
              <a:t>AI-Based Predictive Maintenance Process</a:t>
            </a:r>
          </a:p>
          <a:p>
            <a:pPr marL="0" indent="0">
              <a:lnSpc>
                <a:spcPct val="80000"/>
              </a:lnSpc>
              <a:buNone/>
            </a:pPr>
            <a:r>
              <a:rPr lang="en-US" sz="3600" dirty="0">
                <a:ln w="3175" cmpd="sng">
                  <a:noFill/>
                </a:ln>
                <a:latin typeface="+mj-lt"/>
                <a:ea typeface="+mj-ea"/>
                <a:cs typeface="+mj-cs"/>
              </a:rPr>
              <a:t>Continuous monitoring using IoT sensors</a:t>
            </a:r>
            <a:br>
              <a:rPr lang="en-US" sz="3600" dirty="0">
                <a:ln w="3175" cmpd="sng">
                  <a:noFill/>
                </a:ln>
                <a:latin typeface="+mj-lt"/>
                <a:ea typeface="+mj-ea"/>
                <a:cs typeface="+mj-cs"/>
              </a:rPr>
            </a:br>
            <a:r>
              <a:rPr lang="en-US" sz="3600" dirty="0">
                <a:ln w="3175" cmpd="sng">
                  <a:noFill/>
                </a:ln>
                <a:latin typeface="+mj-lt"/>
                <a:ea typeface="+mj-ea"/>
                <a:cs typeface="+mj-cs"/>
              </a:rPr>
              <a:t>Real-time anomaly detection</a:t>
            </a:r>
            <a:br>
              <a:rPr lang="en-US" sz="3600" dirty="0">
                <a:ln w="3175" cmpd="sng">
                  <a:noFill/>
                </a:ln>
                <a:latin typeface="+mj-lt"/>
                <a:ea typeface="+mj-ea"/>
                <a:cs typeface="+mj-cs"/>
              </a:rPr>
            </a:br>
            <a:r>
              <a:rPr lang="en-US" sz="3600" dirty="0">
                <a:ln w="3175" cmpd="sng">
                  <a:noFill/>
                </a:ln>
                <a:latin typeface="+mj-lt"/>
                <a:ea typeface="+mj-ea"/>
                <a:cs typeface="+mj-cs"/>
              </a:rPr>
              <a:t>Failure prediction using machine learning</a:t>
            </a:r>
            <a:br>
              <a:rPr lang="en-US" sz="3600" dirty="0">
                <a:ln w="3175" cmpd="sng">
                  <a:noFill/>
                </a:ln>
                <a:latin typeface="+mj-lt"/>
                <a:ea typeface="+mj-ea"/>
                <a:cs typeface="+mj-cs"/>
              </a:rPr>
            </a:br>
            <a:r>
              <a:rPr lang="en-US" sz="3600" dirty="0">
                <a:ln w="3175" cmpd="sng">
                  <a:noFill/>
                </a:ln>
                <a:latin typeface="+mj-lt"/>
                <a:ea typeface="+mj-ea"/>
                <a:cs typeface="+mj-cs"/>
              </a:rPr>
              <a:t>Risk prioritization based on production impact</a:t>
            </a:r>
            <a:br>
              <a:rPr lang="en-US" sz="3600" dirty="0">
                <a:ln w="3175" cmpd="sng">
                  <a:noFill/>
                </a:ln>
                <a:latin typeface="+mj-lt"/>
                <a:ea typeface="+mj-ea"/>
                <a:cs typeface="+mj-cs"/>
              </a:rPr>
            </a:br>
            <a:r>
              <a:rPr lang="en-US" sz="3600" dirty="0">
                <a:ln w="3175" cmpd="sng">
                  <a:noFill/>
                </a:ln>
                <a:latin typeface="+mj-lt"/>
                <a:ea typeface="+mj-ea"/>
                <a:cs typeface="+mj-cs"/>
              </a:rPr>
              <a:t>Prescriptive maintenance recommendations</a:t>
            </a:r>
            <a:br>
              <a:rPr lang="en-US" sz="3600" dirty="0">
                <a:ln w="3175" cmpd="sng">
                  <a:noFill/>
                </a:ln>
                <a:latin typeface="+mj-lt"/>
                <a:ea typeface="+mj-ea"/>
                <a:cs typeface="+mj-cs"/>
              </a:rPr>
            </a:br>
            <a:r>
              <a:rPr lang="en-US" sz="3600" dirty="0">
                <a:ln w="3175" cmpd="sng">
                  <a:noFill/>
                </a:ln>
                <a:latin typeface="+mj-lt"/>
                <a:ea typeface="+mj-ea"/>
                <a:cs typeface="+mj-cs"/>
              </a:rPr>
              <a:t>ERP integration for automated work orders</a:t>
            </a:r>
            <a:br>
              <a:rPr lang="en-US" sz="3600" dirty="0">
                <a:ln w="3175" cmpd="sng">
                  <a:noFill/>
                </a:ln>
                <a:latin typeface="+mj-lt"/>
                <a:ea typeface="+mj-ea"/>
                <a:cs typeface="+mj-cs"/>
              </a:rPr>
            </a:br>
            <a:r>
              <a:rPr lang="en-US" sz="3600" dirty="0">
                <a:ln w="3175" cmpd="sng">
                  <a:noFill/>
                </a:ln>
                <a:latin typeface="+mj-lt"/>
                <a:ea typeface="+mj-ea"/>
                <a:cs typeface="+mj-cs"/>
              </a:rPr>
              <a:t>Feedback loop for model retraining</a:t>
            </a:r>
          </a:p>
          <a:p>
            <a:endParaRPr lang="en-US" dirty="0"/>
          </a:p>
        </p:txBody>
      </p:sp>
    </p:spTree>
    <p:extLst>
      <p:ext uri="{BB962C8B-B14F-4D97-AF65-F5344CB8AC3E}">
        <p14:creationId xmlns:p14="http://schemas.microsoft.com/office/powerpoint/2010/main" val="18346338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DA3E9-2358-4D59-85FF-AF7CAC462060}"/>
              </a:ext>
            </a:extLst>
          </p:cNvPr>
          <p:cNvSpPr>
            <a:spLocks noGrp="1"/>
          </p:cNvSpPr>
          <p:nvPr>
            <p:ph type="title"/>
          </p:nvPr>
        </p:nvSpPr>
        <p:spPr/>
        <p:txBody>
          <a:bodyPr/>
          <a:lstStyle/>
          <a:p>
            <a:r>
              <a:rPr lang="en-US" dirty="0"/>
              <a:t>Machine Learning Methods</a:t>
            </a:r>
          </a:p>
        </p:txBody>
      </p:sp>
      <p:sp>
        <p:nvSpPr>
          <p:cNvPr id="3" name="Content Placeholder 2">
            <a:extLst>
              <a:ext uri="{FF2B5EF4-FFF2-40B4-BE49-F238E27FC236}">
                <a16:creationId xmlns:a16="http://schemas.microsoft.com/office/drawing/2014/main" id="{E1EFBE2F-1ED3-4887-A2E4-62C94ADBAD5B}"/>
              </a:ext>
            </a:extLst>
          </p:cNvPr>
          <p:cNvSpPr>
            <a:spLocks noGrp="1"/>
          </p:cNvSpPr>
          <p:nvPr>
            <p:ph idx="1"/>
          </p:nvPr>
        </p:nvSpPr>
        <p:spPr/>
        <p:txBody>
          <a:bodyPr>
            <a:normAutofit lnSpcReduction="10000"/>
          </a:bodyPr>
          <a:lstStyle/>
          <a:p>
            <a:pPr marL="0" indent="0">
              <a:lnSpc>
                <a:spcPct val="80000"/>
              </a:lnSpc>
              <a:buNone/>
            </a:pPr>
            <a:r>
              <a:rPr lang="en-US" sz="2800" dirty="0">
                <a:ln w="3175" cmpd="sng">
                  <a:noFill/>
                </a:ln>
                <a:latin typeface="+mj-lt"/>
                <a:ea typeface="+mj-ea"/>
                <a:cs typeface="+mj-cs"/>
              </a:rPr>
              <a:t>Machine Learning Methods</a:t>
            </a:r>
          </a:p>
          <a:p>
            <a:pPr marL="0" indent="0">
              <a:lnSpc>
                <a:spcPct val="80000"/>
              </a:lnSpc>
              <a:buNone/>
            </a:pPr>
            <a:r>
              <a:rPr lang="en-US" sz="2800" dirty="0">
                <a:ln w="3175" cmpd="sng">
                  <a:noFill/>
                </a:ln>
                <a:latin typeface="+mj-lt"/>
                <a:ea typeface="+mj-ea"/>
                <a:cs typeface="+mj-cs"/>
              </a:rPr>
              <a:t> Supervised Learning</a:t>
            </a:r>
            <a:br>
              <a:rPr lang="en-US" sz="2800" dirty="0">
                <a:ln w="3175" cmpd="sng">
                  <a:noFill/>
                </a:ln>
                <a:latin typeface="+mj-lt"/>
                <a:ea typeface="+mj-ea"/>
                <a:cs typeface="+mj-cs"/>
              </a:rPr>
            </a:br>
            <a:r>
              <a:rPr lang="en-US" sz="2800" dirty="0">
                <a:ln w="3175" cmpd="sng">
                  <a:noFill/>
                </a:ln>
                <a:latin typeface="+mj-lt"/>
                <a:ea typeface="+mj-ea"/>
                <a:cs typeface="+mj-cs"/>
              </a:rPr>
              <a:t>Uses labeled datasets to predict equipment failures.</a:t>
            </a:r>
          </a:p>
          <a:p>
            <a:pPr marL="0" indent="0">
              <a:lnSpc>
                <a:spcPct val="80000"/>
              </a:lnSpc>
              <a:buNone/>
            </a:pPr>
            <a:r>
              <a:rPr lang="en-US" sz="2800" dirty="0">
                <a:ln w="3175" cmpd="sng">
                  <a:noFill/>
                </a:ln>
                <a:latin typeface="+mj-lt"/>
                <a:ea typeface="+mj-ea"/>
                <a:cs typeface="+mj-cs"/>
              </a:rPr>
              <a:t> Unsupervised Learning</a:t>
            </a:r>
            <a:br>
              <a:rPr lang="en-US" sz="2800" dirty="0">
                <a:ln w="3175" cmpd="sng">
                  <a:noFill/>
                </a:ln>
                <a:latin typeface="+mj-lt"/>
                <a:ea typeface="+mj-ea"/>
                <a:cs typeface="+mj-cs"/>
              </a:rPr>
            </a:br>
            <a:r>
              <a:rPr lang="en-US" sz="2800" dirty="0">
                <a:ln w="3175" cmpd="sng">
                  <a:noFill/>
                </a:ln>
                <a:latin typeface="+mj-lt"/>
                <a:ea typeface="+mj-ea"/>
                <a:cs typeface="+mj-cs"/>
              </a:rPr>
              <a:t>Identifies hidden patterns in sensor data.</a:t>
            </a:r>
          </a:p>
          <a:p>
            <a:pPr marL="0" indent="0">
              <a:lnSpc>
                <a:spcPct val="80000"/>
              </a:lnSpc>
              <a:buNone/>
            </a:pPr>
            <a:r>
              <a:rPr lang="en-US" sz="2800" dirty="0">
                <a:ln w="3175" cmpd="sng">
                  <a:noFill/>
                </a:ln>
                <a:latin typeface="+mj-lt"/>
                <a:ea typeface="+mj-ea"/>
                <a:cs typeface="+mj-cs"/>
              </a:rPr>
              <a:t> Semi-Supervised Learning</a:t>
            </a:r>
            <a:br>
              <a:rPr lang="en-US" sz="2800" dirty="0">
                <a:ln w="3175" cmpd="sng">
                  <a:noFill/>
                </a:ln>
                <a:latin typeface="+mj-lt"/>
                <a:ea typeface="+mj-ea"/>
                <a:cs typeface="+mj-cs"/>
              </a:rPr>
            </a:br>
            <a:r>
              <a:rPr lang="en-US" sz="2800" dirty="0">
                <a:ln w="3175" cmpd="sng">
                  <a:noFill/>
                </a:ln>
                <a:latin typeface="+mj-lt"/>
                <a:ea typeface="+mj-ea"/>
                <a:cs typeface="+mj-cs"/>
              </a:rPr>
              <a:t>Combines labeled and unlabeled data to improve prediction accuracy.</a:t>
            </a:r>
          </a:p>
          <a:p>
            <a:endParaRPr lang="en-US" dirty="0"/>
          </a:p>
        </p:txBody>
      </p:sp>
    </p:spTree>
    <p:extLst>
      <p:ext uri="{BB962C8B-B14F-4D97-AF65-F5344CB8AC3E}">
        <p14:creationId xmlns:p14="http://schemas.microsoft.com/office/powerpoint/2010/main" val="40729974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07D793-8C92-4ABB-AC09-72794667444D}"/>
              </a:ext>
            </a:extLst>
          </p:cNvPr>
          <p:cNvSpPr>
            <a:spLocks noGrp="1"/>
          </p:cNvSpPr>
          <p:nvPr>
            <p:ph type="title"/>
          </p:nvPr>
        </p:nvSpPr>
        <p:spPr/>
        <p:txBody>
          <a:bodyPr/>
          <a:lstStyle/>
          <a:p>
            <a:r>
              <a:rPr lang="en-US" dirty="0"/>
              <a:t>RPA in Predictive Maintenance</a:t>
            </a:r>
          </a:p>
        </p:txBody>
      </p:sp>
      <p:sp>
        <p:nvSpPr>
          <p:cNvPr id="3" name="Content Placeholder 2">
            <a:extLst>
              <a:ext uri="{FF2B5EF4-FFF2-40B4-BE49-F238E27FC236}">
                <a16:creationId xmlns:a16="http://schemas.microsoft.com/office/drawing/2014/main" id="{A216C646-A6D5-4EC7-A252-7B3946EA20B1}"/>
              </a:ext>
            </a:extLst>
          </p:cNvPr>
          <p:cNvSpPr>
            <a:spLocks noGrp="1"/>
          </p:cNvSpPr>
          <p:nvPr>
            <p:ph idx="1"/>
          </p:nvPr>
        </p:nvSpPr>
        <p:spPr>
          <a:xfrm>
            <a:off x="1295401" y="2180492"/>
            <a:ext cx="9601196" cy="3695376"/>
          </a:xfrm>
        </p:spPr>
        <p:txBody>
          <a:bodyPr>
            <a:normAutofit fontScale="92500" lnSpcReduction="10000"/>
          </a:bodyPr>
          <a:lstStyle/>
          <a:p>
            <a:pPr marL="0" indent="0">
              <a:buNone/>
            </a:pPr>
            <a:r>
              <a:rPr lang="en-US" sz="2800" dirty="0">
                <a:ln w="3175" cmpd="sng">
                  <a:noFill/>
                </a:ln>
                <a:latin typeface="+mj-lt"/>
                <a:ea typeface="+mj-ea"/>
                <a:cs typeface="+mj-cs"/>
              </a:rPr>
              <a:t>Robotic Process Automation (RPA)</a:t>
            </a:r>
          </a:p>
          <a:p>
            <a:pPr marL="0" indent="0">
              <a:buNone/>
            </a:pPr>
            <a:r>
              <a:rPr lang="en-US" sz="2800" dirty="0">
                <a:ln w="3175" cmpd="sng">
                  <a:noFill/>
                </a:ln>
                <a:latin typeface="+mj-lt"/>
                <a:ea typeface="+mj-ea"/>
                <a:cs typeface="+mj-cs"/>
              </a:rPr>
              <a:t>RPA automates repetitive tasks across predictive maintenance workflows.</a:t>
            </a:r>
          </a:p>
          <a:p>
            <a:pPr marL="0" indent="0">
              <a:buNone/>
            </a:pPr>
            <a:r>
              <a:rPr lang="en-US" sz="2800" dirty="0">
                <a:ln w="3175" cmpd="sng">
                  <a:noFill/>
                </a:ln>
                <a:latin typeface="+mj-lt"/>
                <a:ea typeface="+mj-ea"/>
                <a:cs typeface="+mj-cs"/>
              </a:rPr>
              <a:t>Examples include:</a:t>
            </a:r>
          </a:p>
          <a:p>
            <a:pPr marL="0" indent="0">
              <a:buNone/>
            </a:pPr>
            <a:r>
              <a:rPr lang="en-US" sz="2800" dirty="0">
                <a:ln w="3175" cmpd="sng">
                  <a:noFill/>
                </a:ln>
                <a:latin typeface="+mj-lt"/>
                <a:ea typeface="+mj-ea"/>
                <a:cs typeface="+mj-cs"/>
              </a:rPr>
              <a:t> Data aggregation from SAP and MES</a:t>
            </a:r>
            <a:br>
              <a:rPr lang="en-US" sz="2800" dirty="0">
                <a:ln w="3175" cmpd="sng">
                  <a:noFill/>
                </a:ln>
                <a:latin typeface="+mj-lt"/>
                <a:ea typeface="+mj-ea"/>
                <a:cs typeface="+mj-cs"/>
              </a:rPr>
            </a:br>
            <a:r>
              <a:rPr lang="en-US" sz="2800" dirty="0">
                <a:ln w="3175" cmpd="sng">
                  <a:noFill/>
                </a:ln>
                <a:latin typeface="+mj-lt"/>
                <a:ea typeface="+mj-ea"/>
                <a:cs typeface="+mj-cs"/>
              </a:rPr>
              <a:t> Checking spare parts availability</a:t>
            </a:r>
            <a:br>
              <a:rPr lang="en-US" sz="2800" dirty="0">
                <a:ln w="3175" cmpd="sng">
                  <a:noFill/>
                </a:ln>
                <a:latin typeface="+mj-lt"/>
                <a:ea typeface="+mj-ea"/>
                <a:cs typeface="+mj-cs"/>
              </a:rPr>
            </a:br>
            <a:r>
              <a:rPr lang="en-US" sz="2800" dirty="0">
                <a:ln w="3175" cmpd="sng">
                  <a:noFill/>
                </a:ln>
                <a:latin typeface="+mj-lt"/>
                <a:ea typeface="+mj-ea"/>
                <a:cs typeface="+mj-cs"/>
              </a:rPr>
              <a:t> Automatic work order creation</a:t>
            </a:r>
            <a:br>
              <a:rPr lang="en-US" sz="2800" dirty="0">
                <a:ln w="3175" cmpd="sng">
                  <a:noFill/>
                </a:ln>
                <a:latin typeface="+mj-lt"/>
                <a:ea typeface="+mj-ea"/>
                <a:cs typeface="+mj-cs"/>
              </a:rPr>
            </a:br>
            <a:r>
              <a:rPr lang="en-US" sz="2800" dirty="0">
                <a:ln w="3175" cmpd="sng">
                  <a:noFill/>
                </a:ln>
                <a:latin typeface="+mj-lt"/>
                <a:ea typeface="+mj-ea"/>
                <a:cs typeface="+mj-cs"/>
              </a:rPr>
              <a:t> Performance reporting and dashboards</a:t>
            </a:r>
            <a:br>
              <a:rPr lang="en-US" sz="2800" dirty="0">
                <a:ln w="3175" cmpd="sng">
                  <a:noFill/>
                </a:ln>
                <a:latin typeface="+mj-lt"/>
                <a:ea typeface="+mj-ea"/>
                <a:cs typeface="+mj-cs"/>
              </a:rPr>
            </a:br>
            <a:r>
              <a:rPr lang="en-US" sz="2800" dirty="0">
                <a:ln w="3175" cmpd="sng">
                  <a:noFill/>
                </a:ln>
                <a:latin typeface="+mj-lt"/>
                <a:ea typeface="+mj-ea"/>
                <a:cs typeface="+mj-cs"/>
              </a:rPr>
              <a:t> Model retraining automation</a:t>
            </a:r>
          </a:p>
          <a:p>
            <a:endParaRPr lang="en-US" dirty="0"/>
          </a:p>
        </p:txBody>
      </p:sp>
    </p:spTree>
    <p:extLst>
      <p:ext uri="{BB962C8B-B14F-4D97-AF65-F5344CB8AC3E}">
        <p14:creationId xmlns:p14="http://schemas.microsoft.com/office/powerpoint/2010/main" val="40692592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9ED3D-7DC4-4A29-B4ED-77B765A274E2}"/>
              </a:ext>
            </a:extLst>
          </p:cNvPr>
          <p:cNvSpPr>
            <a:spLocks noGrp="1"/>
          </p:cNvSpPr>
          <p:nvPr>
            <p:ph type="title"/>
          </p:nvPr>
        </p:nvSpPr>
        <p:spPr>
          <a:xfrm>
            <a:off x="838200" y="609600"/>
            <a:ext cx="9601196" cy="1303867"/>
          </a:xfrm>
        </p:spPr>
        <p:txBody>
          <a:bodyPr/>
          <a:lstStyle/>
          <a:p>
            <a:r>
              <a:rPr lang="en-US" dirty="0"/>
              <a:t>SDLC Methodology</a:t>
            </a:r>
          </a:p>
        </p:txBody>
      </p:sp>
      <p:sp>
        <p:nvSpPr>
          <p:cNvPr id="3" name="Content Placeholder 2">
            <a:extLst>
              <a:ext uri="{FF2B5EF4-FFF2-40B4-BE49-F238E27FC236}">
                <a16:creationId xmlns:a16="http://schemas.microsoft.com/office/drawing/2014/main" id="{F6131CC4-E593-4E3B-9433-31E82062021B}"/>
              </a:ext>
            </a:extLst>
          </p:cNvPr>
          <p:cNvSpPr>
            <a:spLocks noGrp="1"/>
          </p:cNvSpPr>
          <p:nvPr>
            <p:ph idx="1"/>
          </p:nvPr>
        </p:nvSpPr>
        <p:spPr>
          <a:xfrm>
            <a:off x="1153551" y="1913467"/>
            <a:ext cx="9743046" cy="3962401"/>
          </a:xfrm>
        </p:spPr>
        <p:txBody>
          <a:bodyPr>
            <a:normAutofit fontScale="25000" lnSpcReduction="20000"/>
          </a:bodyPr>
          <a:lstStyle/>
          <a:p>
            <a:pPr marL="0" indent="0">
              <a:buNone/>
            </a:pPr>
            <a:r>
              <a:rPr lang="en-US" sz="7400" dirty="0">
                <a:ln w="3175" cmpd="sng">
                  <a:noFill/>
                </a:ln>
                <a:latin typeface="+mj-lt"/>
                <a:ea typeface="+mj-ea"/>
                <a:cs typeface="+mj-cs"/>
              </a:rPr>
              <a:t>Software Development Lifecycle</a:t>
            </a:r>
          </a:p>
          <a:p>
            <a:pPr marL="0" indent="0">
              <a:buNone/>
            </a:pPr>
            <a:r>
              <a:rPr lang="en-US" sz="7400" dirty="0">
                <a:ln w="3175" cmpd="sng">
                  <a:noFill/>
                </a:ln>
                <a:latin typeface="+mj-lt"/>
                <a:ea typeface="+mj-ea"/>
                <a:cs typeface="+mj-cs"/>
              </a:rPr>
              <a:t>The predictive maintenance system was implemented using an Agile methodology.</a:t>
            </a:r>
          </a:p>
          <a:p>
            <a:pPr marL="0" indent="0">
              <a:buNone/>
            </a:pPr>
            <a:r>
              <a:rPr lang="en-US" sz="7400" dirty="0">
                <a:ln w="3175" cmpd="sng">
                  <a:noFill/>
                </a:ln>
                <a:latin typeface="+mj-lt"/>
                <a:ea typeface="+mj-ea"/>
                <a:cs typeface="+mj-cs"/>
              </a:rPr>
              <a:t>Framework used:</a:t>
            </a:r>
          </a:p>
          <a:p>
            <a:pPr marL="0" indent="0">
              <a:buNone/>
            </a:pPr>
            <a:r>
              <a:rPr lang="en-US" sz="7400" dirty="0">
                <a:ln w="3175" cmpd="sng">
                  <a:noFill/>
                </a:ln>
                <a:latin typeface="+mj-lt"/>
                <a:ea typeface="+mj-ea"/>
                <a:cs typeface="+mj-cs"/>
              </a:rPr>
              <a:t>Scrum</a:t>
            </a:r>
          </a:p>
          <a:p>
            <a:pPr marL="0" indent="0">
              <a:buNone/>
            </a:pPr>
            <a:r>
              <a:rPr lang="en-US" sz="7400" dirty="0">
                <a:ln w="3175" cmpd="sng">
                  <a:noFill/>
                </a:ln>
                <a:latin typeface="+mj-lt"/>
                <a:ea typeface="+mj-ea"/>
                <a:cs typeface="+mj-cs"/>
              </a:rPr>
              <a:t>Key stages:</a:t>
            </a:r>
          </a:p>
          <a:p>
            <a:pPr marL="0" indent="0">
              <a:buNone/>
            </a:pPr>
            <a:r>
              <a:rPr lang="en-US" sz="7400" dirty="0">
                <a:ln w="3175" cmpd="sng">
                  <a:noFill/>
                </a:ln>
                <a:latin typeface="+mj-lt"/>
                <a:ea typeface="+mj-ea"/>
                <a:cs typeface="+mj-cs"/>
              </a:rPr>
              <a:t> Data collection</a:t>
            </a:r>
            <a:br>
              <a:rPr lang="en-US" sz="7400" dirty="0">
                <a:ln w="3175" cmpd="sng">
                  <a:noFill/>
                </a:ln>
                <a:latin typeface="+mj-lt"/>
                <a:ea typeface="+mj-ea"/>
                <a:cs typeface="+mj-cs"/>
              </a:rPr>
            </a:br>
            <a:r>
              <a:rPr lang="en-US" sz="7400" dirty="0">
                <a:ln w="3175" cmpd="sng">
                  <a:noFill/>
                </a:ln>
                <a:latin typeface="+mj-lt"/>
                <a:ea typeface="+mj-ea"/>
                <a:cs typeface="+mj-cs"/>
              </a:rPr>
              <a:t> Model development</a:t>
            </a:r>
            <a:br>
              <a:rPr lang="en-US" sz="7400" dirty="0">
                <a:ln w="3175" cmpd="sng">
                  <a:noFill/>
                </a:ln>
                <a:latin typeface="+mj-lt"/>
                <a:ea typeface="+mj-ea"/>
                <a:cs typeface="+mj-cs"/>
              </a:rPr>
            </a:br>
            <a:r>
              <a:rPr lang="en-US" sz="7400" dirty="0">
                <a:ln w="3175" cmpd="sng">
                  <a:noFill/>
                </a:ln>
                <a:latin typeface="+mj-lt"/>
                <a:ea typeface="+mj-ea"/>
                <a:cs typeface="+mj-cs"/>
              </a:rPr>
              <a:t> Testing and validation</a:t>
            </a:r>
            <a:br>
              <a:rPr lang="en-US" sz="7400" dirty="0">
                <a:ln w="3175" cmpd="sng">
                  <a:noFill/>
                </a:ln>
                <a:latin typeface="+mj-lt"/>
                <a:ea typeface="+mj-ea"/>
                <a:cs typeface="+mj-cs"/>
              </a:rPr>
            </a:br>
            <a:r>
              <a:rPr lang="en-US" sz="7400" dirty="0">
                <a:ln w="3175" cmpd="sng">
                  <a:noFill/>
                </a:ln>
                <a:latin typeface="+mj-lt"/>
                <a:ea typeface="+mj-ea"/>
                <a:cs typeface="+mj-cs"/>
              </a:rPr>
              <a:t> Deployment</a:t>
            </a:r>
            <a:br>
              <a:rPr lang="en-US" sz="7400" dirty="0">
                <a:ln w="3175" cmpd="sng">
                  <a:noFill/>
                </a:ln>
                <a:latin typeface="+mj-lt"/>
                <a:ea typeface="+mj-ea"/>
                <a:cs typeface="+mj-cs"/>
              </a:rPr>
            </a:br>
            <a:r>
              <a:rPr lang="en-US" sz="7400" dirty="0">
                <a:ln w="3175" cmpd="sng">
                  <a:noFill/>
                </a:ln>
                <a:latin typeface="+mj-lt"/>
                <a:ea typeface="+mj-ea"/>
                <a:cs typeface="+mj-cs"/>
              </a:rPr>
              <a:t> Continuous improvement and retraining</a:t>
            </a:r>
          </a:p>
          <a:p>
            <a:endParaRPr lang="en-US" dirty="0"/>
          </a:p>
        </p:txBody>
      </p:sp>
    </p:spTree>
    <p:extLst>
      <p:ext uri="{BB962C8B-B14F-4D97-AF65-F5344CB8AC3E}">
        <p14:creationId xmlns:p14="http://schemas.microsoft.com/office/powerpoint/2010/main" val="286772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CB319-FE19-49AF-8E78-8509C725B894}"/>
              </a:ext>
            </a:extLst>
          </p:cNvPr>
          <p:cNvSpPr>
            <a:spLocks noGrp="1"/>
          </p:cNvSpPr>
          <p:nvPr>
            <p:ph type="title"/>
          </p:nvPr>
        </p:nvSpPr>
        <p:spPr/>
        <p:txBody>
          <a:bodyPr/>
          <a:lstStyle/>
          <a:p>
            <a:r>
              <a:rPr lang="en-US" dirty="0"/>
              <a:t>SDLC Methodology</a:t>
            </a:r>
          </a:p>
        </p:txBody>
      </p:sp>
      <p:pic>
        <p:nvPicPr>
          <p:cNvPr id="5" name="Content Placeholder 4">
            <a:extLst>
              <a:ext uri="{FF2B5EF4-FFF2-40B4-BE49-F238E27FC236}">
                <a16:creationId xmlns:a16="http://schemas.microsoft.com/office/drawing/2014/main" id="{20B01C57-F56A-4137-8961-E51CE88419B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25415" y="1913467"/>
            <a:ext cx="9861453" cy="3961871"/>
          </a:xfrm>
        </p:spPr>
      </p:pic>
    </p:spTree>
    <p:extLst>
      <p:ext uri="{BB962C8B-B14F-4D97-AF65-F5344CB8AC3E}">
        <p14:creationId xmlns:p14="http://schemas.microsoft.com/office/powerpoint/2010/main" val="174265573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5C13EF-61D3-4E0A-A50D-C050FDF8CB53}"/>
              </a:ext>
            </a:extLst>
          </p:cNvPr>
          <p:cNvSpPr>
            <a:spLocks noGrp="1"/>
          </p:cNvSpPr>
          <p:nvPr>
            <p:ph type="title"/>
          </p:nvPr>
        </p:nvSpPr>
        <p:spPr>
          <a:xfrm>
            <a:off x="1295402" y="982132"/>
            <a:ext cx="9601196" cy="5024773"/>
          </a:xfrm>
        </p:spPr>
        <p:txBody>
          <a:bodyPr/>
          <a:lstStyle/>
          <a:p>
            <a:r>
              <a:rPr lang="en-US" dirty="0"/>
              <a:t>Data Analytics Components</a:t>
            </a:r>
          </a:p>
        </p:txBody>
      </p:sp>
    </p:spTree>
    <p:extLst>
      <p:ext uri="{BB962C8B-B14F-4D97-AF65-F5344CB8AC3E}">
        <p14:creationId xmlns:p14="http://schemas.microsoft.com/office/powerpoint/2010/main" val="24026697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D7B299C-1CC9-4158-93BC-9E7BFBA116B6}"/>
              </a:ext>
            </a:extLst>
          </p:cNvPr>
          <p:cNvSpPr>
            <a:spLocks noGrp="1"/>
          </p:cNvSpPr>
          <p:nvPr>
            <p:ph type="title"/>
          </p:nvPr>
        </p:nvSpPr>
        <p:spPr/>
        <p:txBody>
          <a:bodyPr/>
          <a:lstStyle/>
          <a:p>
            <a:r>
              <a:rPr lang="en-US" dirty="0"/>
              <a:t>Data Analytics Components</a:t>
            </a:r>
          </a:p>
        </p:txBody>
      </p:sp>
      <p:sp>
        <p:nvSpPr>
          <p:cNvPr id="4" name="Content Placeholder 3">
            <a:extLst>
              <a:ext uri="{FF2B5EF4-FFF2-40B4-BE49-F238E27FC236}">
                <a16:creationId xmlns:a16="http://schemas.microsoft.com/office/drawing/2014/main" id="{09B79B5B-AC09-44BC-AECC-68731E8EED9F}"/>
              </a:ext>
            </a:extLst>
          </p:cNvPr>
          <p:cNvSpPr>
            <a:spLocks noGrp="1"/>
          </p:cNvSpPr>
          <p:nvPr>
            <p:ph idx="1"/>
          </p:nvPr>
        </p:nvSpPr>
        <p:spPr>
          <a:xfrm>
            <a:off x="1295401" y="2096086"/>
            <a:ext cx="9601196" cy="2321169"/>
          </a:xfrm>
        </p:spPr>
        <p:txBody>
          <a:bodyPr/>
          <a:lstStyle/>
          <a:p>
            <a:pPr marL="0" indent="0">
              <a:buNone/>
            </a:pPr>
            <a:r>
              <a:rPr lang="en-US" dirty="0"/>
              <a:t>Predictive maintenance relies on multiple types of operational and sensor data. Manufacturing systems generate data from machines, enterprise systems, and sensors.</a:t>
            </a:r>
            <a:br>
              <a:rPr lang="en-US" dirty="0"/>
            </a:br>
            <a:r>
              <a:rPr lang="en-US" dirty="0"/>
              <a:t>These data sources are integrated to enable predictive analytics and machine learning models.</a:t>
            </a:r>
          </a:p>
        </p:txBody>
      </p:sp>
    </p:spTree>
    <p:extLst>
      <p:ext uri="{BB962C8B-B14F-4D97-AF65-F5344CB8AC3E}">
        <p14:creationId xmlns:p14="http://schemas.microsoft.com/office/powerpoint/2010/main" val="264534529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CBAE5-2A50-4C12-8C4A-A3D201156CD4}"/>
              </a:ext>
            </a:extLst>
          </p:cNvPr>
          <p:cNvSpPr>
            <a:spLocks noGrp="1"/>
          </p:cNvSpPr>
          <p:nvPr>
            <p:ph type="title"/>
          </p:nvPr>
        </p:nvSpPr>
        <p:spPr/>
        <p:txBody>
          <a:bodyPr/>
          <a:lstStyle/>
          <a:p>
            <a:r>
              <a:rPr lang="en-US" dirty="0"/>
              <a:t>Types of Data</a:t>
            </a:r>
          </a:p>
        </p:txBody>
      </p:sp>
      <p:graphicFrame>
        <p:nvGraphicFramePr>
          <p:cNvPr id="4" name="Content Placeholder 3">
            <a:extLst>
              <a:ext uri="{FF2B5EF4-FFF2-40B4-BE49-F238E27FC236}">
                <a16:creationId xmlns:a16="http://schemas.microsoft.com/office/drawing/2014/main" id="{9303F4DD-1321-4285-92D4-51CBC6638F5C}"/>
              </a:ext>
            </a:extLst>
          </p:cNvPr>
          <p:cNvGraphicFramePr>
            <a:graphicFrameLocks noGrp="1"/>
          </p:cNvGraphicFramePr>
          <p:nvPr>
            <p:ph idx="1"/>
            <p:extLst>
              <p:ext uri="{D42A27DB-BD31-4B8C-83A1-F6EECF244321}">
                <p14:modId xmlns:p14="http://schemas.microsoft.com/office/powerpoint/2010/main" val="163235691"/>
              </p:ext>
            </p:extLst>
          </p:nvPr>
        </p:nvGraphicFramePr>
        <p:xfrm>
          <a:off x="838200" y="1913466"/>
          <a:ext cx="10515600" cy="4234115"/>
        </p:xfrm>
        <a:graphic>
          <a:graphicData uri="http://schemas.openxmlformats.org/drawingml/2006/table">
            <a:tbl>
              <a:tblPr firstRow="1" firstCol="1" bandRow="1">
                <a:tableStyleId>{5C22544A-7EE6-4342-B048-85BDC9FD1C3A}</a:tableStyleId>
              </a:tblPr>
              <a:tblGrid>
                <a:gridCol w="2628338">
                  <a:extLst>
                    <a:ext uri="{9D8B030D-6E8A-4147-A177-3AD203B41FA5}">
                      <a16:colId xmlns:a16="http://schemas.microsoft.com/office/drawing/2014/main" val="1441562758"/>
                    </a:ext>
                  </a:extLst>
                </a:gridCol>
                <a:gridCol w="2628338">
                  <a:extLst>
                    <a:ext uri="{9D8B030D-6E8A-4147-A177-3AD203B41FA5}">
                      <a16:colId xmlns:a16="http://schemas.microsoft.com/office/drawing/2014/main" val="1138169924"/>
                    </a:ext>
                  </a:extLst>
                </a:gridCol>
                <a:gridCol w="2629462">
                  <a:extLst>
                    <a:ext uri="{9D8B030D-6E8A-4147-A177-3AD203B41FA5}">
                      <a16:colId xmlns:a16="http://schemas.microsoft.com/office/drawing/2014/main" val="2278353480"/>
                    </a:ext>
                  </a:extLst>
                </a:gridCol>
                <a:gridCol w="2629462">
                  <a:extLst>
                    <a:ext uri="{9D8B030D-6E8A-4147-A177-3AD203B41FA5}">
                      <a16:colId xmlns:a16="http://schemas.microsoft.com/office/drawing/2014/main" val="2551714570"/>
                    </a:ext>
                  </a:extLst>
                </a:gridCol>
              </a:tblGrid>
              <a:tr h="318727">
                <a:tc>
                  <a:txBody>
                    <a:bodyPr/>
                    <a:lstStyle/>
                    <a:p>
                      <a:pPr marL="0" marR="0">
                        <a:lnSpc>
                          <a:spcPct val="107000"/>
                        </a:lnSpc>
                        <a:spcBef>
                          <a:spcPts val="0"/>
                        </a:spcBef>
                        <a:spcAft>
                          <a:spcPts val="0"/>
                        </a:spcAft>
                      </a:pPr>
                      <a:r>
                        <a:rPr lang="en-US" sz="1800">
                          <a:effectLst/>
                        </a:rPr>
                        <a:t>Data type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Definition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Structure</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Systems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91710019"/>
                  </a:ext>
                </a:extLst>
              </a:tr>
              <a:tr h="978847">
                <a:tc>
                  <a:txBody>
                    <a:bodyPr/>
                    <a:lstStyle/>
                    <a:p>
                      <a:pPr marL="0" marR="0">
                        <a:lnSpc>
                          <a:spcPct val="107000"/>
                        </a:lnSpc>
                        <a:spcBef>
                          <a:spcPts val="0"/>
                        </a:spcBef>
                        <a:spcAft>
                          <a:spcPts val="0"/>
                        </a:spcAft>
                      </a:pPr>
                      <a:r>
                        <a:rPr lang="en-US" sz="1800">
                          <a:effectLst/>
                        </a:rPr>
                        <a:t>Structured data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Data organized in a predefined format such as rows and columns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Highly organized such as tables and datasets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ERP, CMMS and MES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6673367"/>
                  </a:ext>
                </a:extLst>
              </a:tr>
              <a:tr h="978847">
                <a:tc>
                  <a:txBody>
                    <a:bodyPr/>
                    <a:lstStyle/>
                    <a:p>
                      <a:pPr marL="0" marR="0">
                        <a:lnSpc>
                          <a:spcPct val="107000"/>
                        </a:lnSpc>
                        <a:spcBef>
                          <a:spcPts val="0"/>
                        </a:spcBef>
                        <a:spcAft>
                          <a:spcPts val="0"/>
                        </a:spcAft>
                      </a:pPr>
                      <a:r>
                        <a:rPr lang="en-US" sz="1800">
                          <a:effectLst/>
                        </a:rPr>
                        <a:t>Unstructured data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Data that does not follow fixed format or table structure</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Not organized (Text, images, audio and video)</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Technician reports, emails and images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02752107"/>
                  </a:ext>
                </a:extLst>
              </a:tr>
              <a:tr h="978847">
                <a:tc>
                  <a:txBody>
                    <a:bodyPr/>
                    <a:lstStyle/>
                    <a:p>
                      <a:pPr marL="0" marR="0">
                        <a:lnSpc>
                          <a:spcPct val="107000"/>
                        </a:lnSpc>
                        <a:spcBef>
                          <a:spcPts val="0"/>
                        </a:spcBef>
                        <a:spcAft>
                          <a:spcPts val="0"/>
                        </a:spcAft>
                      </a:pPr>
                      <a:r>
                        <a:rPr lang="en-US" sz="1800">
                          <a:effectLst/>
                        </a:rPr>
                        <a:t>Real Time data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Data generated and processed instantly as events occurs</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Continuous streaming data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IOT sensors, plc, sensors and Scada system</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09905166"/>
                  </a:ext>
                </a:extLst>
              </a:tr>
              <a:tr h="978847">
                <a:tc>
                  <a:txBody>
                    <a:bodyPr/>
                    <a:lstStyle/>
                    <a:p>
                      <a:pPr marL="0" marR="0">
                        <a:lnSpc>
                          <a:spcPct val="107000"/>
                        </a:lnSpc>
                        <a:spcBef>
                          <a:spcPts val="0"/>
                        </a:spcBef>
                        <a:spcAft>
                          <a:spcPts val="0"/>
                        </a:spcAft>
                      </a:pPr>
                      <a:r>
                        <a:rPr lang="en-US" sz="1800">
                          <a:effectLst/>
                        </a:rPr>
                        <a:t>Historical data</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Past stored collected and stored over time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a:effectLst/>
                        </a:rPr>
                        <a:t>Stored datasets from previous operations </a:t>
                      </a:r>
                      <a:endParaRPr lang="en-US" sz="18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800" dirty="0">
                          <a:effectLst/>
                        </a:rPr>
                        <a:t>Data warehouses, maintenance history databases </a:t>
                      </a:r>
                      <a:endParaRPr lang="en-US" sz="18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61536125"/>
                  </a:ext>
                </a:extLst>
              </a:tr>
            </a:tbl>
          </a:graphicData>
        </a:graphic>
      </p:graphicFrame>
    </p:spTree>
    <p:extLst>
      <p:ext uri="{BB962C8B-B14F-4D97-AF65-F5344CB8AC3E}">
        <p14:creationId xmlns:p14="http://schemas.microsoft.com/office/powerpoint/2010/main" val="26380132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AF6194-515D-458C-9BFA-0CD44D66AB0B}"/>
              </a:ext>
            </a:extLst>
          </p:cNvPr>
          <p:cNvSpPr>
            <a:spLocks noGrp="1"/>
          </p:cNvSpPr>
          <p:nvPr>
            <p:ph type="title"/>
          </p:nvPr>
        </p:nvSpPr>
        <p:spPr/>
        <p:txBody>
          <a:bodyPr/>
          <a:lstStyle/>
          <a:p>
            <a:r>
              <a:rPr lang="en-US" dirty="0"/>
              <a:t>Data Sources</a:t>
            </a:r>
          </a:p>
        </p:txBody>
      </p:sp>
      <p:graphicFrame>
        <p:nvGraphicFramePr>
          <p:cNvPr id="4" name="Content Placeholder 3">
            <a:extLst>
              <a:ext uri="{FF2B5EF4-FFF2-40B4-BE49-F238E27FC236}">
                <a16:creationId xmlns:a16="http://schemas.microsoft.com/office/drawing/2014/main" id="{CD460A08-4C5D-4F4C-B4ED-3521F19A73D9}"/>
              </a:ext>
            </a:extLst>
          </p:cNvPr>
          <p:cNvGraphicFramePr>
            <a:graphicFrameLocks noGrp="1"/>
          </p:cNvGraphicFramePr>
          <p:nvPr>
            <p:ph idx="1"/>
            <p:extLst>
              <p:ext uri="{D42A27DB-BD31-4B8C-83A1-F6EECF244321}">
                <p14:modId xmlns:p14="http://schemas.microsoft.com/office/powerpoint/2010/main" val="1658383298"/>
              </p:ext>
            </p:extLst>
          </p:nvPr>
        </p:nvGraphicFramePr>
        <p:xfrm>
          <a:off x="838199" y="1913468"/>
          <a:ext cx="10542564" cy="4225548"/>
        </p:xfrm>
        <a:graphic>
          <a:graphicData uri="http://schemas.openxmlformats.org/drawingml/2006/table">
            <a:tbl>
              <a:tblPr firstRow="1" firstCol="1" bandRow="1">
                <a:tableStyleId>{5C22544A-7EE6-4342-B048-85BDC9FD1C3A}</a:tableStyleId>
              </a:tblPr>
              <a:tblGrid>
                <a:gridCol w="2635077">
                  <a:extLst>
                    <a:ext uri="{9D8B030D-6E8A-4147-A177-3AD203B41FA5}">
                      <a16:colId xmlns:a16="http://schemas.microsoft.com/office/drawing/2014/main" val="1179512868"/>
                    </a:ext>
                  </a:extLst>
                </a:gridCol>
                <a:gridCol w="2635077">
                  <a:extLst>
                    <a:ext uri="{9D8B030D-6E8A-4147-A177-3AD203B41FA5}">
                      <a16:colId xmlns:a16="http://schemas.microsoft.com/office/drawing/2014/main" val="608761724"/>
                    </a:ext>
                  </a:extLst>
                </a:gridCol>
                <a:gridCol w="2636205">
                  <a:extLst>
                    <a:ext uri="{9D8B030D-6E8A-4147-A177-3AD203B41FA5}">
                      <a16:colId xmlns:a16="http://schemas.microsoft.com/office/drawing/2014/main" val="2245840918"/>
                    </a:ext>
                  </a:extLst>
                </a:gridCol>
                <a:gridCol w="2636205">
                  <a:extLst>
                    <a:ext uri="{9D8B030D-6E8A-4147-A177-3AD203B41FA5}">
                      <a16:colId xmlns:a16="http://schemas.microsoft.com/office/drawing/2014/main" val="1716496903"/>
                    </a:ext>
                  </a:extLst>
                </a:gridCol>
              </a:tblGrid>
              <a:tr h="241353">
                <a:tc>
                  <a:txBody>
                    <a:bodyPr/>
                    <a:lstStyle/>
                    <a:p>
                      <a:pPr marL="0" marR="0">
                        <a:lnSpc>
                          <a:spcPct val="107000"/>
                        </a:lnSpc>
                        <a:spcBef>
                          <a:spcPts val="0"/>
                        </a:spcBef>
                        <a:spcAft>
                          <a:spcPts val="0"/>
                        </a:spcAft>
                      </a:pPr>
                      <a:r>
                        <a:rPr lang="en-US" sz="1600">
                          <a:effectLst/>
                        </a:rPr>
                        <a:t>Data Sources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Description</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Example Data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System</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37834337"/>
                  </a:ext>
                </a:extLst>
              </a:tr>
              <a:tr h="1241090">
                <a:tc>
                  <a:txBody>
                    <a:bodyPr/>
                    <a:lstStyle/>
                    <a:p>
                      <a:pPr marL="0" marR="0">
                        <a:lnSpc>
                          <a:spcPct val="107000"/>
                        </a:lnSpc>
                        <a:spcBef>
                          <a:spcPts val="0"/>
                        </a:spcBef>
                        <a:spcAft>
                          <a:spcPts val="0"/>
                        </a:spcAft>
                      </a:pPr>
                      <a:r>
                        <a:rPr lang="en-US" sz="1600">
                          <a:effectLst/>
                        </a:rPr>
                        <a:t>ERP systems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Enterprise systems that manage business operations such as inventory, production and maintenance</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Production orders, spare parts inventory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SAP ERP, Oracle ERP and Odoo ERP</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619430031"/>
                  </a:ext>
                </a:extLst>
              </a:tr>
              <a:tr h="991157">
                <a:tc>
                  <a:txBody>
                    <a:bodyPr/>
                    <a:lstStyle/>
                    <a:p>
                      <a:pPr marL="0" marR="0">
                        <a:lnSpc>
                          <a:spcPct val="107000"/>
                        </a:lnSpc>
                        <a:spcBef>
                          <a:spcPts val="0"/>
                        </a:spcBef>
                        <a:spcAft>
                          <a:spcPts val="0"/>
                        </a:spcAft>
                      </a:pPr>
                      <a:r>
                        <a:rPr lang="en-US" sz="1600">
                          <a:effectLst/>
                        </a:rPr>
                        <a:t>MES (Manufacturing execution system)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Systems used to monitor and control production processes on the factory floor</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Execution time, production schedules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Manufacturing execution platform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234861578"/>
                  </a:ext>
                </a:extLst>
              </a:tr>
              <a:tr h="991157">
                <a:tc>
                  <a:txBody>
                    <a:bodyPr/>
                    <a:lstStyle/>
                    <a:p>
                      <a:pPr marL="0" marR="0">
                        <a:lnSpc>
                          <a:spcPct val="107000"/>
                        </a:lnSpc>
                        <a:spcBef>
                          <a:spcPts val="0"/>
                        </a:spcBef>
                        <a:spcAft>
                          <a:spcPts val="0"/>
                        </a:spcAft>
                      </a:pPr>
                      <a:r>
                        <a:rPr lang="en-US" sz="1600">
                          <a:effectLst/>
                        </a:rPr>
                        <a:t>IOT sensors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Physical sensors installed on machines to collect equipment condition data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Temperature, vibration and pressure</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Industrial IOT devices and sensors</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5780603"/>
                  </a:ext>
                </a:extLst>
              </a:tr>
              <a:tr h="741222">
                <a:tc>
                  <a:txBody>
                    <a:bodyPr/>
                    <a:lstStyle/>
                    <a:p>
                      <a:pPr marL="0" marR="0">
                        <a:lnSpc>
                          <a:spcPct val="107000"/>
                        </a:lnSpc>
                        <a:spcBef>
                          <a:spcPts val="0"/>
                        </a:spcBef>
                        <a:spcAft>
                          <a:spcPts val="0"/>
                        </a:spcAft>
                      </a:pPr>
                      <a:r>
                        <a:rPr lang="en-US" sz="1600">
                          <a:effectLst/>
                        </a:rPr>
                        <a:t>Operational transaction data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Records of operational events and task execution outcomes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a:effectLst/>
                        </a:rPr>
                        <a:t>Task allocation, Task completion </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600" dirty="0">
                          <a:effectLst/>
                        </a:rPr>
                        <a:t>Production databases and operational log </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00229239"/>
                  </a:ext>
                </a:extLst>
              </a:tr>
            </a:tbl>
          </a:graphicData>
        </a:graphic>
      </p:graphicFrame>
    </p:spTree>
    <p:extLst>
      <p:ext uri="{BB962C8B-B14F-4D97-AF65-F5344CB8AC3E}">
        <p14:creationId xmlns:p14="http://schemas.microsoft.com/office/powerpoint/2010/main" val="36243243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73997-25D1-43CE-A985-F362830BF874}"/>
              </a:ext>
            </a:extLst>
          </p:cNvPr>
          <p:cNvSpPr>
            <a:spLocks noGrp="1"/>
          </p:cNvSpPr>
          <p:nvPr>
            <p:ph type="title"/>
          </p:nvPr>
        </p:nvSpPr>
        <p:spPr/>
        <p:txBody>
          <a:bodyPr/>
          <a:lstStyle/>
          <a:p>
            <a:r>
              <a:rPr lang="en-US" dirty="0"/>
              <a:t>Dataset Description owned </a:t>
            </a:r>
          </a:p>
        </p:txBody>
      </p:sp>
      <p:sp>
        <p:nvSpPr>
          <p:cNvPr id="3" name="Content Placeholder 2">
            <a:extLst>
              <a:ext uri="{FF2B5EF4-FFF2-40B4-BE49-F238E27FC236}">
                <a16:creationId xmlns:a16="http://schemas.microsoft.com/office/drawing/2014/main" id="{0D9FB252-B6EC-4BF1-80CD-6630FF97DCCE}"/>
              </a:ext>
            </a:extLst>
          </p:cNvPr>
          <p:cNvSpPr>
            <a:spLocks noGrp="1"/>
          </p:cNvSpPr>
          <p:nvPr>
            <p:ph idx="1"/>
          </p:nvPr>
        </p:nvSpPr>
        <p:spPr>
          <a:xfrm>
            <a:off x="838200" y="1913467"/>
            <a:ext cx="10058397" cy="3962401"/>
          </a:xfrm>
        </p:spPr>
        <p:txBody>
          <a:bodyPr>
            <a:normAutofit/>
          </a:bodyPr>
          <a:lstStyle/>
          <a:p>
            <a:pPr marL="0" indent="0">
              <a:buNone/>
            </a:pPr>
            <a:r>
              <a:rPr lang="en-US" dirty="0"/>
              <a:t>Dataset Used: Industrial Scheduling Dataset</a:t>
            </a:r>
          </a:p>
          <a:p>
            <a:pPr marL="0" indent="0">
              <a:buNone/>
            </a:pPr>
            <a:r>
              <a:rPr lang="en-US" dirty="0"/>
              <a:t> Structured dataset organized in rows and columns.</a:t>
            </a:r>
            <a:br>
              <a:rPr lang="en-US" dirty="0"/>
            </a:br>
            <a:r>
              <a:rPr lang="en-US" dirty="0"/>
              <a:t> Contains historical operational records.</a:t>
            </a:r>
            <a:br>
              <a:rPr lang="en-US" dirty="0"/>
            </a:br>
            <a:r>
              <a:rPr lang="en-US" dirty="0"/>
              <a:t> Includes real-time sensor measurements such as temperature and latency.</a:t>
            </a:r>
          </a:p>
          <a:p>
            <a:pPr marL="0" indent="0">
              <a:buNone/>
            </a:pPr>
            <a:r>
              <a:rPr lang="en-US" dirty="0"/>
              <a:t>Data Sources Integrated</a:t>
            </a:r>
          </a:p>
          <a:p>
            <a:pPr marL="0" indent="0">
              <a:buNone/>
            </a:pPr>
            <a:r>
              <a:rPr lang="en-US" dirty="0"/>
              <a:t> IoT sensors measuring machine conditions</a:t>
            </a:r>
            <a:br>
              <a:rPr lang="en-US" dirty="0"/>
            </a:br>
            <a:r>
              <a:rPr lang="en-US" dirty="0"/>
              <a:t> MES system recording execution time and machine IDs</a:t>
            </a:r>
            <a:br>
              <a:rPr lang="en-US" dirty="0"/>
            </a:br>
            <a:r>
              <a:rPr lang="en-US" dirty="0"/>
              <a:t> ERP system recording task types and IDs</a:t>
            </a:r>
            <a:br>
              <a:rPr lang="en-US" dirty="0"/>
            </a:br>
            <a:r>
              <a:rPr lang="en-US" dirty="0"/>
              <a:t> Operational databases recording targets and reallocations</a:t>
            </a:r>
          </a:p>
          <a:p>
            <a:endParaRPr lang="en-US" dirty="0"/>
          </a:p>
        </p:txBody>
      </p:sp>
    </p:spTree>
    <p:extLst>
      <p:ext uri="{BB962C8B-B14F-4D97-AF65-F5344CB8AC3E}">
        <p14:creationId xmlns:p14="http://schemas.microsoft.com/office/powerpoint/2010/main" val="20768284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EF2B2AE-9F4D-4058-94B8-F77A7715EC0A}"/>
              </a:ext>
            </a:extLst>
          </p:cNvPr>
          <p:cNvSpPr>
            <a:spLocks noGrp="1"/>
          </p:cNvSpPr>
          <p:nvPr>
            <p:ph type="title"/>
          </p:nvPr>
        </p:nvSpPr>
        <p:spPr>
          <a:xfrm>
            <a:off x="1295402" y="982132"/>
            <a:ext cx="9601196" cy="4954434"/>
          </a:xfrm>
        </p:spPr>
        <p:txBody>
          <a:bodyPr/>
          <a:lstStyle/>
          <a:p>
            <a:r>
              <a:rPr lang="en-US" dirty="0"/>
              <a:t>Analytics Technique </a:t>
            </a:r>
          </a:p>
        </p:txBody>
      </p:sp>
    </p:spTree>
    <p:extLst>
      <p:ext uri="{BB962C8B-B14F-4D97-AF65-F5344CB8AC3E}">
        <p14:creationId xmlns:p14="http://schemas.microsoft.com/office/powerpoint/2010/main" val="40999057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57C9C6E-84ED-4F82-8BC8-CF15B8A8E213}"/>
              </a:ext>
            </a:extLst>
          </p:cNvPr>
          <p:cNvSpPr>
            <a:spLocks noGrp="1"/>
          </p:cNvSpPr>
          <p:nvPr>
            <p:ph type="title"/>
          </p:nvPr>
        </p:nvSpPr>
        <p:spPr/>
        <p:txBody>
          <a:bodyPr/>
          <a:lstStyle/>
          <a:p>
            <a:r>
              <a:rPr lang="en-US" dirty="0"/>
              <a:t>Types of analytics </a:t>
            </a:r>
          </a:p>
        </p:txBody>
      </p:sp>
      <p:graphicFrame>
        <p:nvGraphicFramePr>
          <p:cNvPr id="5" name="Content Placeholder 4">
            <a:extLst>
              <a:ext uri="{FF2B5EF4-FFF2-40B4-BE49-F238E27FC236}">
                <a16:creationId xmlns:a16="http://schemas.microsoft.com/office/drawing/2014/main" id="{729049BA-3F69-4531-8520-B96620D82981}"/>
              </a:ext>
            </a:extLst>
          </p:cNvPr>
          <p:cNvGraphicFramePr>
            <a:graphicFrameLocks noGrp="1"/>
          </p:cNvGraphicFramePr>
          <p:nvPr>
            <p:ph idx="1"/>
            <p:extLst>
              <p:ext uri="{D42A27DB-BD31-4B8C-83A1-F6EECF244321}">
                <p14:modId xmlns:p14="http://schemas.microsoft.com/office/powerpoint/2010/main" val="4037225655"/>
              </p:ext>
            </p:extLst>
          </p:nvPr>
        </p:nvGraphicFramePr>
        <p:xfrm>
          <a:off x="984737" y="2053883"/>
          <a:ext cx="10494500" cy="4194515"/>
        </p:xfrm>
        <a:graphic>
          <a:graphicData uri="http://schemas.openxmlformats.org/drawingml/2006/table">
            <a:tbl>
              <a:tblPr firstRow="1" firstCol="1" bandRow="1">
                <a:tableStyleId>{5C22544A-7EE6-4342-B048-85BDC9FD1C3A}</a:tableStyleId>
              </a:tblPr>
              <a:tblGrid>
                <a:gridCol w="2623064">
                  <a:extLst>
                    <a:ext uri="{9D8B030D-6E8A-4147-A177-3AD203B41FA5}">
                      <a16:colId xmlns:a16="http://schemas.microsoft.com/office/drawing/2014/main" val="1858772358"/>
                    </a:ext>
                  </a:extLst>
                </a:gridCol>
                <a:gridCol w="2623064">
                  <a:extLst>
                    <a:ext uri="{9D8B030D-6E8A-4147-A177-3AD203B41FA5}">
                      <a16:colId xmlns:a16="http://schemas.microsoft.com/office/drawing/2014/main" val="2128002738"/>
                    </a:ext>
                  </a:extLst>
                </a:gridCol>
                <a:gridCol w="2624186">
                  <a:extLst>
                    <a:ext uri="{9D8B030D-6E8A-4147-A177-3AD203B41FA5}">
                      <a16:colId xmlns:a16="http://schemas.microsoft.com/office/drawing/2014/main" val="363041950"/>
                    </a:ext>
                  </a:extLst>
                </a:gridCol>
                <a:gridCol w="2624186">
                  <a:extLst>
                    <a:ext uri="{9D8B030D-6E8A-4147-A177-3AD203B41FA5}">
                      <a16:colId xmlns:a16="http://schemas.microsoft.com/office/drawing/2014/main" val="678770457"/>
                    </a:ext>
                  </a:extLst>
                </a:gridCol>
              </a:tblGrid>
              <a:tr h="293642">
                <a:tc>
                  <a:txBody>
                    <a:bodyPr/>
                    <a:lstStyle/>
                    <a:p>
                      <a:pPr marL="0" marR="0">
                        <a:lnSpc>
                          <a:spcPct val="107000"/>
                        </a:lnSpc>
                        <a:spcBef>
                          <a:spcPts val="0"/>
                        </a:spcBef>
                        <a:spcAft>
                          <a:spcPts val="0"/>
                        </a:spcAft>
                      </a:pPr>
                      <a:r>
                        <a:rPr lang="en-US" sz="1100" dirty="0">
                          <a:effectLst/>
                        </a:rPr>
                        <a:t>Type of analytics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Main question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Purpose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Example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58033013"/>
                  </a:ext>
                </a:extLst>
              </a:tr>
              <a:tr h="597725">
                <a:tc>
                  <a:txBody>
                    <a:bodyPr/>
                    <a:lstStyle/>
                    <a:p>
                      <a:pPr marL="0" marR="0">
                        <a:lnSpc>
                          <a:spcPct val="107000"/>
                        </a:lnSpc>
                        <a:spcBef>
                          <a:spcPts val="0"/>
                        </a:spcBef>
                        <a:spcAft>
                          <a:spcPts val="0"/>
                        </a:spcAft>
                      </a:pPr>
                      <a:r>
                        <a:rPr lang="en-US" sz="1100">
                          <a:effectLst/>
                        </a:rPr>
                        <a:t>Descriptive analytics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What Happened?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It’s summarizes historical data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Monthly production data</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04161892"/>
                  </a:ext>
                </a:extLst>
              </a:tr>
              <a:tr h="597725">
                <a:tc>
                  <a:txBody>
                    <a:bodyPr/>
                    <a:lstStyle/>
                    <a:p>
                      <a:pPr marL="0" marR="0">
                        <a:lnSpc>
                          <a:spcPct val="107000"/>
                        </a:lnSpc>
                        <a:spcBef>
                          <a:spcPts val="0"/>
                        </a:spcBef>
                        <a:spcAft>
                          <a:spcPts val="0"/>
                        </a:spcAft>
                      </a:pPr>
                      <a:r>
                        <a:rPr lang="en-US" sz="1100">
                          <a:effectLst/>
                        </a:rPr>
                        <a:t>Diagnostic analytics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Why did it happen?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Identifies root causes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Analysis of delay reasons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098303951"/>
                  </a:ext>
                </a:extLst>
              </a:tr>
              <a:tr h="597725">
                <a:tc>
                  <a:txBody>
                    <a:bodyPr/>
                    <a:lstStyle/>
                    <a:p>
                      <a:pPr marL="0" marR="0">
                        <a:lnSpc>
                          <a:spcPct val="107000"/>
                        </a:lnSpc>
                        <a:spcBef>
                          <a:spcPts val="0"/>
                        </a:spcBef>
                        <a:spcAft>
                          <a:spcPts val="0"/>
                        </a:spcAft>
                      </a:pPr>
                      <a:r>
                        <a:rPr lang="en-US" sz="1100">
                          <a:effectLst/>
                        </a:rPr>
                        <a:t>Predictive analytics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What will happen?</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Forecasts future outcomes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Predict machine failure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991049820"/>
                  </a:ext>
                </a:extLst>
              </a:tr>
              <a:tr h="597725">
                <a:tc>
                  <a:txBody>
                    <a:bodyPr/>
                    <a:lstStyle/>
                    <a:p>
                      <a:pPr marL="0" marR="0">
                        <a:lnSpc>
                          <a:spcPct val="107000"/>
                        </a:lnSpc>
                        <a:spcBef>
                          <a:spcPts val="0"/>
                        </a:spcBef>
                        <a:spcAft>
                          <a:spcPts val="0"/>
                        </a:spcAft>
                      </a:pPr>
                      <a:r>
                        <a:rPr lang="en-US" sz="1100">
                          <a:effectLst/>
                        </a:rPr>
                        <a:t>Prescriptive analytics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What should we do?</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Recommends optimal actions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Best maintenance schedule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294289210"/>
                  </a:ext>
                </a:extLst>
              </a:tr>
              <a:tr h="1509973">
                <a:tc>
                  <a:txBody>
                    <a:bodyPr/>
                    <a:lstStyle/>
                    <a:p>
                      <a:pPr marL="0" marR="0">
                        <a:lnSpc>
                          <a:spcPct val="107000"/>
                        </a:lnSpc>
                        <a:spcBef>
                          <a:spcPts val="0"/>
                        </a:spcBef>
                        <a:spcAft>
                          <a:spcPts val="0"/>
                        </a:spcAft>
                      </a:pPr>
                      <a:r>
                        <a:rPr lang="en-US" sz="1100">
                          <a:effectLst/>
                        </a:rPr>
                        <a:t>Key performance indicators (KPIs) and metrics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N/A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a:effectLst/>
                        </a:rPr>
                        <a:t>KPIs is the key measure linked to strategic goal while metrics general performance measurement</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07000"/>
                        </a:lnSpc>
                        <a:spcBef>
                          <a:spcPts val="0"/>
                        </a:spcBef>
                        <a:spcAft>
                          <a:spcPts val="0"/>
                        </a:spcAft>
                      </a:pPr>
                      <a:r>
                        <a:rPr lang="en-US" sz="1100" dirty="0">
                          <a:effectLst/>
                        </a:rPr>
                        <a:t>On time project delivery date while metrics is number of delayed tasks </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74428872"/>
                  </a:ext>
                </a:extLst>
              </a:tr>
            </a:tbl>
          </a:graphicData>
        </a:graphic>
      </p:graphicFrame>
    </p:spTree>
    <p:extLst>
      <p:ext uri="{BB962C8B-B14F-4D97-AF65-F5344CB8AC3E}">
        <p14:creationId xmlns:p14="http://schemas.microsoft.com/office/powerpoint/2010/main" val="26379326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2D2D326-5B85-41BB-ACF3-D11446F2F67A}"/>
              </a:ext>
            </a:extLst>
          </p:cNvPr>
          <p:cNvSpPr>
            <a:spLocks noGrp="1"/>
          </p:cNvSpPr>
          <p:nvPr>
            <p:ph type="title"/>
          </p:nvPr>
        </p:nvSpPr>
        <p:spPr/>
        <p:txBody>
          <a:bodyPr/>
          <a:lstStyle/>
          <a:p>
            <a:pPr algn="l"/>
            <a:r>
              <a:rPr lang="en-US" dirty="0"/>
              <a:t>Descriptive analytics</a:t>
            </a:r>
          </a:p>
        </p:txBody>
      </p:sp>
      <p:sp>
        <p:nvSpPr>
          <p:cNvPr id="6" name="Content Placeholder 5">
            <a:extLst>
              <a:ext uri="{FF2B5EF4-FFF2-40B4-BE49-F238E27FC236}">
                <a16:creationId xmlns:a16="http://schemas.microsoft.com/office/drawing/2014/main" id="{5C945351-AA6A-4C7D-BC8E-9F169E502EC5}"/>
              </a:ext>
            </a:extLst>
          </p:cNvPr>
          <p:cNvSpPr>
            <a:spLocks noGrp="1"/>
          </p:cNvSpPr>
          <p:nvPr>
            <p:ph sz="half" idx="2"/>
          </p:nvPr>
        </p:nvSpPr>
        <p:spPr>
          <a:xfrm>
            <a:off x="1295400" y="2658534"/>
            <a:ext cx="4718304" cy="3217334"/>
          </a:xfrm>
        </p:spPr>
        <p:txBody>
          <a:bodyPr/>
          <a:lstStyle/>
          <a:p>
            <a:pPr marL="0" indent="0">
              <a:buNone/>
            </a:pPr>
            <a:r>
              <a:rPr lang="en-US" dirty="0"/>
              <a:t>It’s summarized the dataset to understand overall operational performance, system workload and resource utilization for our dataset let’s see the following dashboard </a:t>
            </a:r>
          </a:p>
          <a:p>
            <a:endParaRPr lang="en-US" dirty="0"/>
          </a:p>
        </p:txBody>
      </p:sp>
      <p:sp>
        <p:nvSpPr>
          <p:cNvPr id="7" name="Text Placeholder 6">
            <a:extLst>
              <a:ext uri="{FF2B5EF4-FFF2-40B4-BE49-F238E27FC236}">
                <a16:creationId xmlns:a16="http://schemas.microsoft.com/office/drawing/2014/main" id="{5F7A093D-4746-4B6B-BC81-C399B75DF7AA}"/>
              </a:ext>
            </a:extLst>
          </p:cNvPr>
          <p:cNvSpPr>
            <a:spLocks noGrp="1"/>
          </p:cNvSpPr>
          <p:nvPr>
            <p:ph type="body" sz="quarter" idx="3"/>
          </p:nvPr>
        </p:nvSpPr>
        <p:spPr/>
        <p:txBody>
          <a:bodyPr/>
          <a:lstStyle/>
          <a:p>
            <a:endParaRPr lang="en-US"/>
          </a:p>
        </p:txBody>
      </p:sp>
      <p:pic>
        <p:nvPicPr>
          <p:cNvPr id="10" name="Content Placeholder 9">
            <a:extLst>
              <a:ext uri="{FF2B5EF4-FFF2-40B4-BE49-F238E27FC236}">
                <a16:creationId xmlns:a16="http://schemas.microsoft.com/office/drawing/2014/main" id="{50B5202A-3484-4FC1-861A-5BA4E40866B0}"/>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78297" y="2546253"/>
            <a:ext cx="4935179" cy="3329086"/>
          </a:xfrm>
        </p:spPr>
      </p:pic>
    </p:spTree>
    <p:extLst>
      <p:ext uri="{BB962C8B-B14F-4D97-AF65-F5344CB8AC3E}">
        <p14:creationId xmlns:p14="http://schemas.microsoft.com/office/powerpoint/2010/main" val="34378785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73B9044-3804-48C9-85A8-DA93766A93A0}"/>
              </a:ext>
            </a:extLst>
          </p:cNvPr>
          <p:cNvSpPr>
            <a:spLocks noGrp="1"/>
          </p:cNvSpPr>
          <p:nvPr>
            <p:ph type="title"/>
          </p:nvPr>
        </p:nvSpPr>
        <p:spPr/>
        <p:txBody>
          <a:bodyPr/>
          <a:lstStyle/>
          <a:p>
            <a:r>
              <a:rPr lang="en-US" dirty="0"/>
              <a:t>Descriptive analytics</a:t>
            </a:r>
          </a:p>
        </p:txBody>
      </p:sp>
      <p:sp>
        <p:nvSpPr>
          <p:cNvPr id="8" name="Content Placeholder 7">
            <a:extLst>
              <a:ext uri="{FF2B5EF4-FFF2-40B4-BE49-F238E27FC236}">
                <a16:creationId xmlns:a16="http://schemas.microsoft.com/office/drawing/2014/main" id="{F1B2C91F-DFA3-4CF8-ACD2-14F551244922}"/>
              </a:ext>
            </a:extLst>
          </p:cNvPr>
          <p:cNvSpPr>
            <a:spLocks noGrp="1"/>
          </p:cNvSpPr>
          <p:nvPr>
            <p:ph idx="1"/>
          </p:nvPr>
        </p:nvSpPr>
        <p:spPr>
          <a:xfrm>
            <a:off x="838200" y="1913467"/>
            <a:ext cx="10058397" cy="3962401"/>
          </a:xfrm>
        </p:spPr>
        <p:txBody>
          <a:bodyPr>
            <a:normAutofit fontScale="92500" lnSpcReduction="20000"/>
          </a:bodyPr>
          <a:lstStyle/>
          <a:p>
            <a:pPr marL="0" indent="0">
              <a:buNone/>
            </a:pPr>
            <a:r>
              <a:rPr lang="en-US" dirty="0"/>
              <a:t> 1st Total task: This metrics represent the total number of industrial tasks processed in the system, it’s provides an overview of operational workload and system utilization.</a:t>
            </a:r>
          </a:p>
          <a:p>
            <a:pPr marL="0" indent="0">
              <a:buNone/>
            </a:pPr>
            <a:r>
              <a:rPr lang="en-US" dirty="0"/>
              <a:t>2nd Average execution time by machine ID: Average execution time indicates the typical duration required to complete tasks regarding the machine ID, it is a key performance indicator for evaluating operational efficiency.</a:t>
            </a:r>
          </a:p>
          <a:p>
            <a:pPr marL="0" indent="0">
              <a:buNone/>
            </a:pPr>
            <a:r>
              <a:rPr lang="en-US" dirty="0"/>
              <a:t>3rd Average execution time: Average execution time indicates the typical duration required to complete tasks, it is a key performance indicator for evaluating operational efficiency. </a:t>
            </a:r>
          </a:p>
          <a:p>
            <a:pPr marL="0" indent="0">
              <a:buNone/>
            </a:pPr>
            <a:r>
              <a:rPr lang="en-US" dirty="0"/>
              <a:t>4th Average Latency: Latency measure communication delay within the network, higher latency may negatively impact task execution performance. </a:t>
            </a:r>
          </a:p>
          <a:p>
            <a:pPr marL="0" indent="0">
              <a:buNone/>
            </a:pPr>
            <a:r>
              <a:rPr lang="en-US" dirty="0"/>
              <a:t>5th Total task by task type: This analysis shows how tasks are distributed across different operational categories.</a:t>
            </a:r>
          </a:p>
        </p:txBody>
      </p:sp>
    </p:spTree>
    <p:extLst>
      <p:ext uri="{BB962C8B-B14F-4D97-AF65-F5344CB8AC3E}">
        <p14:creationId xmlns:p14="http://schemas.microsoft.com/office/powerpoint/2010/main" val="206375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8A196A-9A9C-4904-8FE1-21A5AEB19E03}"/>
              </a:ext>
            </a:extLst>
          </p:cNvPr>
          <p:cNvSpPr>
            <a:spLocks noGrp="1"/>
          </p:cNvSpPr>
          <p:nvPr>
            <p:ph type="title"/>
          </p:nvPr>
        </p:nvSpPr>
        <p:spPr/>
        <p:txBody>
          <a:bodyPr/>
          <a:lstStyle/>
          <a:p>
            <a:pPr algn="l"/>
            <a:r>
              <a:rPr lang="en-US" dirty="0"/>
              <a:t>Diagnostic analytics</a:t>
            </a:r>
          </a:p>
        </p:txBody>
      </p:sp>
      <p:sp>
        <p:nvSpPr>
          <p:cNvPr id="6" name="Content Placeholder 5">
            <a:extLst>
              <a:ext uri="{FF2B5EF4-FFF2-40B4-BE49-F238E27FC236}">
                <a16:creationId xmlns:a16="http://schemas.microsoft.com/office/drawing/2014/main" id="{45DCCAA0-555B-4445-BF02-2C1733079F73}"/>
              </a:ext>
            </a:extLst>
          </p:cNvPr>
          <p:cNvSpPr>
            <a:spLocks noGrp="1"/>
          </p:cNvSpPr>
          <p:nvPr>
            <p:ph sz="half" idx="2"/>
          </p:nvPr>
        </p:nvSpPr>
        <p:spPr/>
        <p:txBody>
          <a:bodyPr/>
          <a:lstStyle/>
          <a:p>
            <a:pPr marL="0" indent="0">
              <a:buNone/>
            </a:pPr>
            <a:r>
              <a:rPr lang="en-US" dirty="0"/>
              <a:t>Diagnostic analytics investigates why certain performance patterns occur, such as delays, overload conditions and efficiency differences. </a:t>
            </a:r>
          </a:p>
        </p:txBody>
      </p:sp>
      <p:pic>
        <p:nvPicPr>
          <p:cNvPr id="10" name="Content Placeholder 9">
            <a:extLst>
              <a:ext uri="{FF2B5EF4-FFF2-40B4-BE49-F238E27FC236}">
                <a16:creationId xmlns:a16="http://schemas.microsoft.com/office/drawing/2014/main" id="{2BEC1A4A-6197-4676-AF0D-1D823664DA42}"/>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78299" y="2630659"/>
            <a:ext cx="4531552" cy="3244680"/>
          </a:xfrm>
        </p:spPr>
      </p:pic>
    </p:spTree>
    <p:extLst>
      <p:ext uri="{BB962C8B-B14F-4D97-AF65-F5344CB8AC3E}">
        <p14:creationId xmlns:p14="http://schemas.microsoft.com/office/powerpoint/2010/main" val="1942610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DA981F-090D-4102-A7C6-ABD223AFC5E9}"/>
              </a:ext>
            </a:extLst>
          </p:cNvPr>
          <p:cNvSpPr>
            <a:spLocks noGrp="1"/>
          </p:cNvSpPr>
          <p:nvPr>
            <p:ph type="title"/>
          </p:nvPr>
        </p:nvSpPr>
        <p:spPr/>
        <p:txBody>
          <a:bodyPr/>
          <a:lstStyle/>
          <a:p>
            <a:r>
              <a:rPr lang="en-US" dirty="0"/>
              <a:t>Diagnostic analytics</a:t>
            </a:r>
          </a:p>
        </p:txBody>
      </p:sp>
      <p:sp>
        <p:nvSpPr>
          <p:cNvPr id="8" name="Content Placeholder 7">
            <a:extLst>
              <a:ext uri="{FF2B5EF4-FFF2-40B4-BE49-F238E27FC236}">
                <a16:creationId xmlns:a16="http://schemas.microsoft.com/office/drawing/2014/main" id="{A54CE1A3-920E-4BEB-9DC7-64A362865F94}"/>
              </a:ext>
            </a:extLst>
          </p:cNvPr>
          <p:cNvSpPr>
            <a:spLocks noGrp="1"/>
          </p:cNvSpPr>
          <p:nvPr>
            <p:ph idx="1"/>
          </p:nvPr>
        </p:nvSpPr>
        <p:spPr>
          <a:xfrm>
            <a:off x="838200" y="1913467"/>
            <a:ext cx="9869655" cy="2574127"/>
          </a:xfrm>
        </p:spPr>
        <p:txBody>
          <a:bodyPr/>
          <a:lstStyle/>
          <a:p>
            <a:pPr marL="0" indent="0">
              <a:lnSpc>
                <a:spcPct val="80000"/>
              </a:lnSpc>
              <a:buNone/>
            </a:pPr>
            <a:r>
              <a:rPr lang="en-US" sz="2200" dirty="0"/>
              <a:t>1st Average execution time overloaded: This analysis shows the average execution time when machines are overloaded </a:t>
            </a:r>
          </a:p>
          <a:p>
            <a:pPr marL="0" indent="0">
              <a:lnSpc>
                <a:spcPct val="80000"/>
              </a:lnSpc>
              <a:buNone/>
            </a:pPr>
            <a:r>
              <a:rPr lang="en-US" sz="2200" dirty="0"/>
              <a:t>2nd Average latency by machine ID: This analysis shows the latency level for each machine.</a:t>
            </a:r>
          </a:p>
          <a:p>
            <a:pPr marL="0" indent="0">
              <a:lnSpc>
                <a:spcPct val="80000"/>
              </a:lnSpc>
              <a:buNone/>
            </a:pPr>
            <a:r>
              <a:rPr lang="en-US" sz="2200" dirty="0"/>
              <a:t>3rd Machine status count and total tasks: This analysis shows machine status if they are idle or active or in maintenance period and total task done in this period.</a:t>
            </a:r>
          </a:p>
          <a:p>
            <a:endParaRPr lang="en-US" dirty="0"/>
          </a:p>
        </p:txBody>
      </p:sp>
    </p:spTree>
    <p:extLst>
      <p:ext uri="{BB962C8B-B14F-4D97-AF65-F5344CB8AC3E}">
        <p14:creationId xmlns:p14="http://schemas.microsoft.com/office/powerpoint/2010/main" val="1414418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00FE12-BFA9-42E6-8C04-042A2E8FE3D8}"/>
              </a:ext>
            </a:extLst>
          </p:cNvPr>
          <p:cNvSpPr>
            <a:spLocks noGrp="1"/>
          </p:cNvSpPr>
          <p:nvPr>
            <p:ph type="title"/>
          </p:nvPr>
        </p:nvSpPr>
        <p:spPr/>
        <p:txBody>
          <a:bodyPr/>
          <a:lstStyle/>
          <a:p>
            <a:pPr algn="l"/>
            <a:r>
              <a:rPr lang="en-US" dirty="0"/>
              <a:t>Predictive analysis</a:t>
            </a:r>
          </a:p>
        </p:txBody>
      </p:sp>
      <p:sp>
        <p:nvSpPr>
          <p:cNvPr id="6" name="Content Placeholder 5">
            <a:extLst>
              <a:ext uri="{FF2B5EF4-FFF2-40B4-BE49-F238E27FC236}">
                <a16:creationId xmlns:a16="http://schemas.microsoft.com/office/drawing/2014/main" id="{D5F50BE0-0CC9-4D5F-9EFF-75E287C086EC}"/>
              </a:ext>
            </a:extLst>
          </p:cNvPr>
          <p:cNvSpPr>
            <a:spLocks noGrp="1"/>
          </p:cNvSpPr>
          <p:nvPr>
            <p:ph sz="half" idx="2"/>
          </p:nvPr>
        </p:nvSpPr>
        <p:spPr>
          <a:xfrm>
            <a:off x="1153551" y="2658534"/>
            <a:ext cx="4860153" cy="3217334"/>
          </a:xfrm>
        </p:spPr>
        <p:txBody>
          <a:bodyPr/>
          <a:lstStyle/>
          <a:p>
            <a:pPr marL="0" indent="0">
              <a:buNone/>
            </a:pPr>
            <a:r>
              <a:rPr lang="en-US" dirty="0"/>
              <a:t>predictive analysis uses historical data, machine learning and statistical models to predict future outcomes. </a:t>
            </a:r>
          </a:p>
        </p:txBody>
      </p:sp>
      <p:pic>
        <p:nvPicPr>
          <p:cNvPr id="10" name="Content Placeholder 9">
            <a:extLst>
              <a:ext uri="{FF2B5EF4-FFF2-40B4-BE49-F238E27FC236}">
                <a16:creationId xmlns:a16="http://schemas.microsoft.com/office/drawing/2014/main" id="{635B6427-402F-40DB-9D56-5A92FCFEBD20}"/>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95665" y="2658005"/>
            <a:ext cx="4686995" cy="3217334"/>
          </a:xfrm>
        </p:spPr>
      </p:pic>
    </p:spTree>
    <p:extLst>
      <p:ext uri="{BB962C8B-B14F-4D97-AF65-F5344CB8AC3E}">
        <p14:creationId xmlns:p14="http://schemas.microsoft.com/office/powerpoint/2010/main" val="2386211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046378B-5A49-49FE-BDFB-BA0DB10EA81C}"/>
              </a:ext>
            </a:extLst>
          </p:cNvPr>
          <p:cNvSpPr>
            <a:spLocks noGrp="1"/>
          </p:cNvSpPr>
          <p:nvPr>
            <p:ph type="title"/>
          </p:nvPr>
        </p:nvSpPr>
        <p:spPr/>
        <p:txBody>
          <a:bodyPr/>
          <a:lstStyle/>
          <a:p>
            <a:r>
              <a:rPr lang="en-US" dirty="0"/>
              <a:t>Predictive analysis</a:t>
            </a:r>
          </a:p>
        </p:txBody>
      </p:sp>
      <p:sp>
        <p:nvSpPr>
          <p:cNvPr id="8" name="Content Placeholder 7">
            <a:extLst>
              <a:ext uri="{FF2B5EF4-FFF2-40B4-BE49-F238E27FC236}">
                <a16:creationId xmlns:a16="http://schemas.microsoft.com/office/drawing/2014/main" id="{E19E7A5A-D2BA-4F5E-9693-74ED2EE3AF4B}"/>
              </a:ext>
            </a:extLst>
          </p:cNvPr>
          <p:cNvSpPr>
            <a:spLocks noGrp="1"/>
          </p:cNvSpPr>
          <p:nvPr>
            <p:ph idx="1"/>
          </p:nvPr>
        </p:nvSpPr>
        <p:spPr>
          <a:xfrm>
            <a:off x="1295401" y="2556932"/>
            <a:ext cx="9601196" cy="2387602"/>
          </a:xfrm>
        </p:spPr>
        <p:txBody>
          <a:bodyPr/>
          <a:lstStyle/>
          <a:p>
            <a:pPr marL="0" indent="0">
              <a:buNone/>
            </a:pPr>
            <a:r>
              <a:rPr lang="en-US" dirty="0"/>
              <a:t> </a:t>
            </a:r>
            <a:r>
              <a:rPr lang="en-US" sz="2200" dirty="0"/>
              <a:t>1st Risk rate gauge: This analysis shows that the system risk level</a:t>
            </a:r>
          </a:p>
          <a:p>
            <a:pPr marL="0" indent="0">
              <a:buNone/>
            </a:pPr>
            <a:r>
              <a:rPr lang="en-US" sz="2200" dirty="0"/>
              <a:t>2nd Latency vs execution time: This analysis is to identify the relationship between delays and machine performance if latency increase execution time should be increase and this lead to decrease in machine performance </a:t>
            </a:r>
          </a:p>
          <a:p>
            <a:pPr marL="0" indent="0">
              <a:buNone/>
            </a:pPr>
            <a:r>
              <a:rPr lang="en-US" sz="2200" dirty="0"/>
              <a:t>3rd High latency risk line: This analysis indicates task with high latency risk thresholds.</a:t>
            </a:r>
          </a:p>
          <a:p>
            <a:endParaRPr lang="en-US" dirty="0"/>
          </a:p>
        </p:txBody>
      </p:sp>
    </p:spTree>
    <p:extLst>
      <p:ext uri="{BB962C8B-B14F-4D97-AF65-F5344CB8AC3E}">
        <p14:creationId xmlns:p14="http://schemas.microsoft.com/office/powerpoint/2010/main" val="3118799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246C70-996A-4551-9F6C-72FC9EADF082}"/>
              </a:ext>
            </a:extLst>
          </p:cNvPr>
          <p:cNvSpPr>
            <a:spLocks noGrp="1"/>
          </p:cNvSpPr>
          <p:nvPr>
            <p:ph type="title"/>
          </p:nvPr>
        </p:nvSpPr>
        <p:spPr/>
        <p:txBody>
          <a:bodyPr/>
          <a:lstStyle/>
          <a:p>
            <a:pPr algn="l"/>
            <a:r>
              <a:rPr lang="en-US" dirty="0"/>
              <a:t>Prescriptive analysis</a:t>
            </a:r>
          </a:p>
        </p:txBody>
      </p:sp>
      <p:sp>
        <p:nvSpPr>
          <p:cNvPr id="6" name="Content Placeholder 5">
            <a:extLst>
              <a:ext uri="{FF2B5EF4-FFF2-40B4-BE49-F238E27FC236}">
                <a16:creationId xmlns:a16="http://schemas.microsoft.com/office/drawing/2014/main" id="{9D2A7E9C-2D89-4B51-9CF2-263BFBFA45C0}"/>
              </a:ext>
            </a:extLst>
          </p:cNvPr>
          <p:cNvSpPr>
            <a:spLocks noGrp="1"/>
          </p:cNvSpPr>
          <p:nvPr>
            <p:ph sz="half" idx="2"/>
          </p:nvPr>
        </p:nvSpPr>
        <p:spPr/>
        <p:txBody>
          <a:bodyPr/>
          <a:lstStyle/>
          <a:p>
            <a:pPr marL="0" indent="0">
              <a:buNone/>
            </a:pPr>
            <a:r>
              <a:rPr lang="en-US" dirty="0"/>
              <a:t>Prescriptive analysis is the most advanced stage in any analytics it recommends actions to achieve the best outcomes.</a:t>
            </a:r>
          </a:p>
        </p:txBody>
      </p:sp>
      <p:pic>
        <p:nvPicPr>
          <p:cNvPr id="10" name="Content Placeholder 9">
            <a:extLst>
              <a:ext uri="{FF2B5EF4-FFF2-40B4-BE49-F238E27FC236}">
                <a16:creationId xmlns:a16="http://schemas.microsoft.com/office/drawing/2014/main" id="{C177E4FC-01FB-48F3-B900-F6C39C5BEC65}"/>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178299" y="2729133"/>
            <a:ext cx="4604452" cy="3146206"/>
          </a:xfrm>
        </p:spPr>
      </p:pic>
    </p:spTree>
    <p:extLst>
      <p:ext uri="{BB962C8B-B14F-4D97-AF65-F5344CB8AC3E}">
        <p14:creationId xmlns:p14="http://schemas.microsoft.com/office/powerpoint/2010/main" val="42640605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C1F837D-24BA-4727-8047-9EF177ED2C5C}"/>
              </a:ext>
            </a:extLst>
          </p:cNvPr>
          <p:cNvSpPr>
            <a:spLocks noGrp="1"/>
          </p:cNvSpPr>
          <p:nvPr>
            <p:ph type="title"/>
          </p:nvPr>
        </p:nvSpPr>
        <p:spPr/>
        <p:txBody>
          <a:bodyPr/>
          <a:lstStyle/>
          <a:p>
            <a:r>
              <a:rPr lang="en-US" dirty="0"/>
              <a:t>Prescriptive analysis</a:t>
            </a:r>
          </a:p>
        </p:txBody>
      </p:sp>
      <p:sp>
        <p:nvSpPr>
          <p:cNvPr id="8" name="Content Placeholder 7">
            <a:extLst>
              <a:ext uri="{FF2B5EF4-FFF2-40B4-BE49-F238E27FC236}">
                <a16:creationId xmlns:a16="http://schemas.microsoft.com/office/drawing/2014/main" id="{DED50D79-7968-4936-B7F3-0AF5DB2BFEBA}"/>
              </a:ext>
            </a:extLst>
          </p:cNvPr>
          <p:cNvSpPr>
            <a:spLocks noGrp="1"/>
          </p:cNvSpPr>
          <p:nvPr>
            <p:ph idx="1"/>
          </p:nvPr>
        </p:nvSpPr>
        <p:spPr/>
        <p:txBody>
          <a:bodyPr>
            <a:normAutofit fontScale="92500"/>
          </a:bodyPr>
          <a:lstStyle/>
          <a:p>
            <a:pPr marL="0" indent="0">
              <a:buNone/>
            </a:pPr>
            <a:r>
              <a:rPr lang="en-US" dirty="0"/>
              <a:t>1st Reallocated tasks: This analysis is to shows the number of tasks assigned to different machines.</a:t>
            </a:r>
          </a:p>
          <a:p>
            <a:pPr marL="0" indent="0">
              <a:buNone/>
            </a:pPr>
            <a:r>
              <a:rPr lang="en-US" dirty="0"/>
              <a:t>2nd Reliability score table: This table shows machine ID with reliability score with total latency and execution time to identify most reliable machines for scheduling tasks.</a:t>
            </a:r>
          </a:p>
          <a:p>
            <a:pPr marL="0" indent="0">
              <a:buNone/>
            </a:pPr>
            <a:r>
              <a:rPr lang="en-US" dirty="0"/>
              <a:t>3rd Machine efficiency chart: This analysis to measure machine performance effectiveness.</a:t>
            </a:r>
          </a:p>
          <a:p>
            <a:pPr marL="0" indent="0">
              <a:buNone/>
            </a:pPr>
            <a:r>
              <a:rPr lang="en-US" dirty="0"/>
              <a:t>4th Latency vs execution time: This analysis contains latency with sensor temperature and execution time to identify how machine conditions affect performance.</a:t>
            </a:r>
          </a:p>
          <a:p>
            <a:endParaRPr lang="en-US" dirty="0"/>
          </a:p>
        </p:txBody>
      </p:sp>
    </p:spTree>
    <p:extLst>
      <p:ext uri="{BB962C8B-B14F-4D97-AF65-F5344CB8AC3E}">
        <p14:creationId xmlns:p14="http://schemas.microsoft.com/office/powerpoint/2010/main" val="15949723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02238E5-5994-4CA7-A3EA-A48D7F971D9C}"/>
              </a:ext>
            </a:extLst>
          </p:cNvPr>
          <p:cNvSpPr>
            <a:spLocks noGrp="1"/>
          </p:cNvSpPr>
          <p:nvPr>
            <p:ph type="title"/>
          </p:nvPr>
        </p:nvSpPr>
        <p:spPr/>
        <p:txBody>
          <a:bodyPr/>
          <a:lstStyle/>
          <a:p>
            <a:pPr algn="l"/>
            <a:r>
              <a:rPr lang="en-US" dirty="0"/>
              <a:t>Key performance index (KPI’s)</a:t>
            </a:r>
          </a:p>
        </p:txBody>
      </p:sp>
      <p:sp>
        <p:nvSpPr>
          <p:cNvPr id="6" name="Content Placeholder 5">
            <a:extLst>
              <a:ext uri="{FF2B5EF4-FFF2-40B4-BE49-F238E27FC236}">
                <a16:creationId xmlns:a16="http://schemas.microsoft.com/office/drawing/2014/main" id="{282C3CB3-AE89-4D23-825A-EEC892693A18}"/>
              </a:ext>
            </a:extLst>
          </p:cNvPr>
          <p:cNvSpPr>
            <a:spLocks noGrp="1"/>
          </p:cNvSpPr>
          <p:nvPr>
            <p:ph sz="half" idx="2"/>
          </p:nvPr>
        </p:nvSpPr>
        <p:spPr/>
        <p:txBody>
          <a:bodyPr/>
          <a:lstStyle/>
          <a:p>
            <a:pPr marL="0" indent="0">
              <a:buNone/>
            </a:pPr>
            <a:r>
              <a:rPr lang="en-US" dirty="0"/>
              <a:t>Key performance index is a metrics used to measure organizational performance against strategic goals.</a:t>
            </a:r>
          </a:p>
          <a:p>
            <a:endParaRPr lang="en-US" dirty="0"/>
          </a:p>
        </p:txBody>
      </p:sp>
      <p:pic>
        <p:nvPicPr>
          <p:cNvPr id="10" name="Content Placeholder 9">
            <a:extLst>
              <a:ext uri="{FF2B5EF4-FFF2-40B4-BE49-F238E27FC236}">
                <a16:creationId xmlns:a16="http://schemas.microsoft.com/office/drawing/2014/main" id="{0DE8F10D-4AA3-4DCC-8528-5AC59595BDD8}"/>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443004" y="2461846"/>
            <a:ext cx="4453594" cy="3413492"/>
          </a:xfrm>
        </p:spPr>
      </p:pic>
    </p:spTree>
    <p:extLst>
      <p:ext uri="{BB962C8B-B14F-4D97-AF65-F5344CB8AC3E}">
        <p14:creationId xmlns:p14="http://schemas.microsoft.com/office/powerpoint/2010/main" val="42478122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A603F-E02E-48DD-9968-62CE17EA6664}"/>
              </a:ext>
            </a:extLst>
          </p:cNvPr>
          <p:cNvSpPr>
            <a:spLocks noGrp="1"/>
          </p:cNvSpPr>
          <p:nvPr>
            <p:ph type="title"/>
          </p:nvPr>
        </p:nvSpPr>
        <p:spPr/>
        <p:txBody>
          <a:bodyPr/>
          <a:lstStyle/>
          <a:p>
            <a:r>
              <a:rPr lang="en-US" dirty="0"/>
              <a:t>Key performance index (KPI’s)</a:t>
            </a:r>
          </a:p>
        </p:txBody>
      </p:sp>
      <p:sp>
        <p:nvSpPr>
          <p:cNvPr id="3" name="Content Placeholder 2">
            <a:extLst>
              <a:ext uri="{FF2B5EF4-FFF2-40B4-BE49-F238E27FC236}">
                <a16:creationId xmlns:a16="http://schemas.microsoft.com/office/drawing/2014/main" id="{73754858-AB6F-4FCF-AB2E-D7F2A94244A7}"/>
              </a:ext>
            </a:extLst>
          </p:cNvPr>
          <p:cNvSpPr>
            <a:spLocks noGrp="1"/>
          </p:cNvSpPr>
          <p:nvPr>
            <p:ph idx="1"/>
          </p:nvPr>
        </p:nvSpPr>
        <p:spPr/>
        <p:txBody>
          <a:bodyPr>
            <a:normAutofit fontScale="92500"/>
          </a:bodyPr>
          <a:lstStyle/>
          <a:p>
            <a:pPr marL="0" indent="0">
              <a:buNone/>
            </a:pPr>
            <a:r>
              <a:rPr lang="en-US" dirty="0"/>
              <a:t>1st Machine efficiency: This to measure how effectively machines process tasks.</a:t>
            </a:r>
          </a:p>
          <a:p>
            <a:pPr marL="0" indent="0">
              <a:buNone/>
            </a:pPr>
            <a:r>
              <a:rPr lang="en-US" dirty="0"/>
              <a:t>2nd Risk rate: This to indicates operational risk.</a:t>
            </a:r>
          </a:p>
          <a:p>
            <a:pPr marL="0" indent="0">
              <a:buNone/>
            </a:pPr>
            <a:r>
              <a:rPr lang="en-US" dirty="0"/>
              <a:t>3rd Average URLLC: URLLC stands for ultra-reliable low latency communication in this is used by IoT systems and this to measure communication reliability.</a:t>
            </a:r>
          </a:p>
          <a:p>
            <a:pPr marL="0" indent="0">
              <a:buNone/>
            </a:pPr>
            <a:r>
              <a:rPr lang="en-US" dirty="0"/>
              <a:t> 4th Total task: This is to show the executed task in system.</a:t>
            </a:r>
          </a:p>
          <a:p>
            <a:pPr marL="0" indent="0">
              <a:buNone/>
            </a:pPr>
            <a:r>
              <a:rPr lang="en-US" dirty="0"/>
              <a:t>5th Reallocation Rate: This is to show percentage of task assigned to optimize scheduling.</a:t>
            </a:r>
          </a:p>
          <a:p>
            <a:endParaRPr lang="en-US" dirty="0"/>
          </a:p>
        </p:txBody>
      </p:sp>
    </p:spTree>
    <p:extLst>
      <p:ext uri="{BB962C8B-B14F-4D97-AF65-F5344CB8AC3E}">
        <p14:creationId xmlns:p14="http://schemas.microsoft.com/office/powerpoint/2010/main" val="5229402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6CE066C-059A-43D7-96FF-457700C01C1E}"/>
              </a:ext>
            </a:extLst>
          </p:cNvPr>
          <p:cNvSpPr>
            <a:spLocks noGrp="1"/>
          </p:cNvSpPr>
          <p:nvPr>
            <p:ph type="title"/>
          </p:nvPr>
        </p:nvSpPr>
        <p:spPr/>
        <p:txBody>
          <a:bodyPr/>
          <a:lstStyle/>
          <a:p>
            <a:pPr algn="l"/>
            <a:r>
              <a:rPr lang="en-US" dirty="0"/>
              <a:t>Simple Dashboard</a:t>
            </a:r>
          </a:p>
        </p:txBody>
      </p:sp>
      <p:sp>
        <p:nvSpPr>
          <p:cNvPr id="6" name="Content Placeholder 5">
            <a:extLst>
              <a:ext uri="{FF2B5EF4-FFF2-40B4-BE49-F238E27FC236}">
                <a16:creationId xmlns:a16="http://schemas.microsoft.com/office/drawing/2014/main" id="{E06FB474-CDEF-468C-B1B0-B3CA339597B4}"/>
              </a:ext>
            </a:extLst>
          </p:cNvPr>
          <p:cNvSpPr>
            <a:spLocks noGrp="1"/>
          </p:cNvSpPr>
          <p:nvPr>
            <p:ph sz="half" idx="2"/>
          </p:nvPr>
        </p:nvSpPr>
        <p:spPr/>
        <p:txBody>
          <a:bodyPr/>
          <a:lstStyle/>
          <a:p>
            <a:pPr marL="0" indent="0">
              <a:buNone/>
            </a:pPr>
            <a:r>
              <a:rPr lang="en-US" dirty="0"/>
              <a:t>Dashboard is a visual interface that display key business metrics in real time it allows manager and board member to take decision and to monitor performance in high efficiency way.</a:t>
            </a:r>
          </a:p>
          <a:p>
            <a:endParaRPr lang="en-US" dirty="0"/>
          </a:p>
        </p:txBody>
      </p:sp>
      <p:pic>
        <p:nvPicPr>
          <p:cNvPr id="10" name="Content Placeholder 9">
            <a:extLst>
              <a:ext uri="{FF2B5EF4-FFF2-40B4-BE49-F238E27FC236}">
                <a16:creationId xmlns:a16="http://schemas.microsoft.com/office/drawing/2014/main" id="{4F8E7762-1A6F-4762-8A74-A0850E5F8231}"/>
              </a:ext>
            </a:extLst>
          </p:cNvPr>
          <p:cNvPicPr>
            <a:picLocks noGrp="1" noChangeAspect="1"/>
          </p:cNvPicPr>
          <p:nvPr>
            <p:ph sz="quarter" idx="4"/>
          </p:nvPr>
        </p:nvPicPr>
        <p:blipFill>
          <a:blip r:embed="rId2">
            <a:extLst>
              <a:ext uri="{28A0092B-C50C-407E-A947-70E740481C1C}">
                <a14:useLocalDpi xmlns:a14="http://schemas.microsoft.com/office/drawing/2010/main" val="0"/>
              </a:ext>
            </a:extLst>
          </a:blip>
          <a:stretch>
            <a:fillRect/>
          </a:stretch>
        </p:blipFill>
        <p:spPr>
          <a:xfrm>
            <a:off x="6096000" y="2475915"/>
            <a:ext cx="5228492" cy="3399424"/>
          </a:xfrm>
        </p:spPr>
      </p:pic>
    </p:spTree>
    <p:extLst>
      <p:ext uri="{BB962C8B-B14F-4D97-AF65-F5344CB8AC3E}">
        <p14:creationId xmlns:p14="http://schemas.microsoft.com/office/powerpoint/2010/main" val="4855000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C907F5-FAC8-41F5-8712-31A6917648B6}"/>
              </a:ext>
            </a:extLst>
          </p:cNvPr>
          <p:cNvSpPr>
            <a:spLocks noGrp="1"/>
          </p:cNvSpPr>
          <p:nvPr>
            <p:ph type="title"/>
          </p:nvPr>
        </p:nvSpPr>
        <p:spPr/>
        <p:txBody>
          <a:bodyPr/>
          <a:lstStyle/>
          <a:p>
            <a:r>
              <a:rPr lang="en-US" dirty="0"/>
              <a:t>Simple Dashboard</a:t>
            </a:r>
          </a:p>
        </p:txBody>
      </p:sp>
      <p:sp>
        <p:nvSpPr>
          <p:cNvPr id="3" name="Content Placeholder 2">
            <a:extLst>
              <a:ext uri="{FF2B5EF4-FFF2-40B4-BE49-F238E27FC236}">
                <a16:creationId xmlns:a16="http://schemas.microsoft.com/office/drawing/2014/main" id="{B85E99FF-57EF-4A32-8083-63635C200E25}"/>
              </a:ext>
            </a:extLst>
          </p:cNvPr>
          <p:cNvSpPr>
            <a:spLocks noGrp="1"/>
          </p:cNvSpPr>
          <p:nvPr>
            <p:ph idx="1"/>
          </p:nvPr>
        </p:nvSpPr>
        <p:spPr>
          <a:xfrm>
            <a:off x="1111348" y="2194560"/>
            <a:ext cx="9785249" cy="3681308"/>
          </a:xfrm>
        </p:spPr>
        <p:txBody>
          <a:bodyPr>
            <a:normAutofit/>
          </a:bodyPr>
          <a:lstStyle/>
          <a:p>
            <a:pPr marL="0" indent="0">
              <a:buNone/>
            </a:pPr>
            <a:r>
              <a:rPr lang="en-US" sz="2200" dirty="0"/>
              <a:t>1st Task per machine: This to show the workload distributed among machines.</a:t>
            </a:r>
          </a:p>
          <a:p>
            <a:pPr marL="0" indent="0">
              <a:buNone/>
            </a:pPr>
            <a:r>
              <a:rPr lang="en-US" sz="2200" dirty="0"/>
              <a:t>2nd Latency vs execution time: This to show machine performance and operational efficiency.</a:t>
            </a:r>
          </a:p>
          <a:p>
            <a:pPr marL="0" indent="0">
              <a:buNone/>
            </a:pPr>
            <a:r>
              <a:rPr lang="en-US" sz="2200" dirty="0"/>
              <a:t>3rd Task latency by task ID: This to show variation across tasks and this is used to identify which tasks cause delays in performance.</a:t>
            </a:r>
          </a:p>
          <a:p>
            <a:pPr marL="0" indent="0">
              <a:buNone/>
            </a:pPr>
            <a:r>
              <a:rPr lang="en-US" sz="2200" dirty="0"/>
              <a:t>4th Data table: This table is for machine ID with Sensor temperature with latency with execution time with reallocation status and machine status this table to show detailed operational data for analysis.  </a:t>
            </a:r>
          </a:p>
          <a:p>
            <a:endParaRPr lang="en-US" dirty="0"/>
          </a:p>
        </p:txBody>
      </p:sp>
    </p:spTree>
    <p:extLst>
      <p:ext uri="{BB962C8B-B14F-4D97-AF65-F5344CB8AC3E}">
        <p14:creationId xmlns:p14="http://schemas.microsoft.com/office/powerpoint/2010/main" val="39675954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5402" y="982132"/>
            <a:ext cx="9601196" cy="4933759"/>
          </a:xfrm>
        </p:spPr>
        <p:txBody>
          <a:bodyPr/>
          <a:lstStyle/>
          <a:p>
            <a:r>
              <a:rPr lang="en-US" b="1" dirty="0"/>
              <a:t>Digital transformation analysis</a:t>
            </a:r>
            <a:endParaRPr lang="en-US" dirty="0"/>
          </a:p>
        </p:txBody>
      </p:sp>
    </p:spTree>
    <p:extLst>
      <p:ext uri="{BB962C8B-B14F-4D97-AF65-F5344CB8AC3E}">
        <p14:creationId xmlns:p14="http://schemas.microsoft.com/office/powerpoint/2010/main" val="14563575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838200" y="609600"/>
            <a:ext cx="9601196" cy="1551709"/>
          </a:xfrm>
        </p:spPr>
        <p:txBody>
          <a:bodyPr>
            <a:normAutofit/>
          </a:bodyPr>
          <a:lstStyle/>
          <a:p>
            <a:r>
              <a:rPr lang="en-US" sz="4000" dirty="0"/>
              <a:t>Changes in business processes and workflows</a:t>
            </a:r>
          </a:p>
        </p:txBody>
      </p:sp>
      <p:sp>
        <p:nvSpPr>
          <p:cNvPr id="4" name="Content Placeholder 3"/>
          <p:cNvSpPr>
            <a:spLocks noGrp="1"/>
          </p:cNvSpPr>
          <p:nvPr>
            <p:ph idx="1"/>
          </p:nvPr>
        </p:nvSpPr>
        <p:spPr/>
        <p:txBody>
          <a:bodyPr>
            <a:normAutofit/>
          </a:bodyPr>
          <a:lstStyle/>
          <a:p>
            <a:pPr marL="0" indent="0">
              <a:buNone/>
            </a:pPr>
            <a:r>
              <a:rPr lang="en-US" sz="2200" dirty="0"/>
              <a:t>Before digital transformation the maintenance process was primarily reactive (Run-to-failure) or preventive (Time-based) workflow were linear the machine broke down then work order was created manually then the required technician will be assigned and the missing parts ordered after that the maintenance began all of that will cause unplanned downtime and inefficient resource allocation.</a:t>
            </a:r>
          </a:p>
          <a:p>
            <a:endParaRPr lang="en-US" sz="2200" dirty="0"/>
          </a:p>
        </p:txBody>
      </p:sp>
    </p:spTree>
    <p:extLst>
      <p:ext uri="{BB962C8B-B14F-4D97-AF65-F5344CB8AC3E}">
        <p14:creationId xmlns:p14="http://schemas.microsoft.com/office/powerpoint/2010/main" val="12372709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t>Changes in business processes and workflows</a:t>
            </a:r>
          </a:p>
        </p:txBody>
      </p:sp>
      <p:sp>
        <p:nvSpPr>
          <p:cNvPr id="4" name="Content Placeholder 3"/>
          <p:cNvSpPr>
            <a:spLocks noGrp="1"/>
          </p:cNvSpPr>
          <p:nvPr>
            <p:ph idx="1"/>
          </p:nvPr>
        </p:nvSpPr>
        <p:spPr>
          <a:xfrm>
            <a:off x="1295401" y="2064327"/>
            <a:ext cx="9601196" cy="3811541"/>
          </a:xfrm>
        </p:spPr>
        <p:txBody>
          <a:bodyPr>
            <a:normAutofit/>
          </a:bodyPr>
          <a:lstStyle/>
          <a:p>
            <a:pPr marL="0" indent="0">
              <a:buFont typeface="Arial"/>
              <a:buNone/>
            </a:pPr>
            <a:r>
              <a:rPr lang="en-US" sz="2200" dirty="0"/>
              <a:t>After digital transformation the process becomes proactive and prescriptive AI algorithms analyze real time sensor data to predict failures then the workflow is transformed into a data driven loop </a:t>
            </a:r>
            <a:r>
              <a:rPr lang="en-US" sz="2200" dirty="0" err="1"/>
              <a:t>IoT</a:t>
            </a:r>
            <a:r>
              <a:rPr lang="en-US" sz="2200" dirty="0"/>
              <a:t> sensors and ERP data feed the AI model to do continuous monitoring, the AI model predicts a potential failure with estimated time of occurrence this is what we say prediction and alert, the system automatically creates a work order in the ERP and prioritizes it based on production schedule this is called Automated work order generation, the maintenance is scheduled during planned downtime and required parts are automatically called from inventory (Proactive intervention), after all of that the feedback will be sent to improve AI model to improve its future prediction</a:t>
            </a:r>
          </a:p>
        </p:txBody>
      </p:sp>
    </p:spTree>
    <p:extLst>
      <p:ext uri="{BB962C8B-B14F-4D97-AF65-F5344CB8AC3E}">
        <p14:creationId xmlns:p14="http://schemas.microsoft.com/office/powerpoint/2010/main" val="2008964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Automation of manual or repetitive tasks</a:t>
            </a:r>
          </a:p>
        </p:txBody>
      </p:sp>
      <p:sp>
        <p:nvSpPr>
          <p:cNvPr id="3" name="Content Placeholder 2"/>
          <p:cNvSpPr>
            <a:spLocks noGrp="1"/>
          </p:cNvSpPr>
          <p:nvPr>
            <p:ph idx="1"/>
          </p:nvPr>
        </p:nvSpPr>
        <p:spPr>
          <a:xfrm>
            <a:off x="1295401" y="1913467"/>
            <a:ext cx="9601196" cy="3962401"/>
          </a:xfrm>
        </p:spPr>
        <p:txBody>
          <a:bodyPr>
            <a:normAutofit/>
          </a:bodyPr>
          <a:lstStyle/>
          <a:p>
            <a:pPr marL="0" indent="0">
              <a:buNone/>
            </a:pPr>
            <a:r>
              <a:rPr lang="en-US" sz="2200" dirty="0"/>
              <a:t>The AI solution automates several manual tasks such as: </a:t>
            </a:r>
          </a:p>
          <a:p>
            <a:pPr marL="0" lvl="0" indent="0">
              <a:buNone/>
            </a:pPr>
            <a:r>
              <a:rPr lang="en-US" sz="2200" dirty="0"/>
              <a:t>Data collection replaces manual and periodic equipment checklists with automated sensor for data collection.</a:t>
            </a:r>
          </a:p>
          <a:p>
            <a:pPr marL="0" lvl="0" indent="0">
              <a:buNone/>
            </a:pPr>
            <a:r>
              <a:rPr lang="en-US" sz="2200" dirty="0"/>
              <a:t>Data analysis Automates the analysis of vibration, temperature, and acoustic data which eliminated the need expert to manually interpret the data. </a:t>
            </a:r>
          </a:p>
          <a:p>
            <a:pPr marL="0" lvl="0" indent="0">
              <a:buNone/>
            </a:pPr>
            <a:r>
              <a:rPr lang="en-US" sz="2200" dirty="0"/>
              <a:t>Reporting Automates the generation of maintenances schedules and performance dashboards.</a:t>
            </a:r>
          </a:p>
          <a:p>
            <a:pPr marL="0" lvl="0" indent="0">
              <a:buNone/>
            </a:pPr>
            <a:r>
              <a:rPr lang="en-US" sz="2200" dirty="0"/>
              <a:t>Inventory management Automates the ordering of spare parts by linking predicted failures to ERP inventory.</a:t>
            </a:r>
          </a:p>
          <a:p>
            <a:endParaRPr lang="en-US" sz="2200" dirty="0"/>
          </a:p>
        </p:txBody>
      </p:sp>
    </p:spTree>
    <p:extLst>
      <p:ext uri="{BB962C8B-B14F-4D97-AF65-F5344CB8AC3E}">
        <p14:creationId xmlns:p14="http://schemas.microsoft.com/office/powerpoint/2010/main" val="2486008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Impact on organizational culture and decision making</a:t>
            </a:r>
          </a:p>
        </p:txBody>
      </p:sp>
      <p:sp>
        <p:nvSpPr>
          <p:cNvPr id="3" name="Content Placeholder 2"/>
          <p:cNvSpPr>
            <a:spLocks noGrp="1"/>
          </p:cNvSpPr>
          <p:nvPr>
            <p:ph idx="1"/>
          </p:nvPr>
        </p:nvSpPr>
        <p:spPr/>
        <p:txBody>
          <a:bodyPr>
            <a:normAutofit/>
          </a:bodyPr>
          <a:lstStyle/>
          <a:p>
            <a:pPr marL="0" indent="0">
              <a:buNone/>
            </a:pPr>
            <a:r>
              <a:rPr lang="en-US" sz="2200" dirty="0"/>
              <a:t>Culture shift Moves the maintenance team from a firefighting culture to a strategic, analytical one the technicians become data interpreters who validate AI prediction shifting their role from reactive repair to proactive care. Decision making: Decisions are no longer based on fixed schedules but on data driven predictions, plant managers can make strategic decisions based on asset health trends rather than reacting to sudden failures. </a:t>
            </a:r>
          </a:p>
          <a:p>
            <a:endParaRPr lang="en-US" sz="2200" dirty="0"/>
          </a:p>
        </p:txBody>
      </p:sp>
    </p:spTree>
    <p:extLst>
      <p:ext uri="{BB962C8B-B14F-4D97-AF65-F5344CB8AC3E}">
        <p14:creationId xmlns:p14="http://schemas.microsoft.com/office/powerpoint/2010/main" val="294372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Customer experience improvements</a:t>
            </a:r>
          </a:p>
        </p:txBody>
      </p:sp>
      <p:sp>
        <p:nvSpPr>
          <p:cNvPr id="3" name="Content Placeholder 2"/>
          <p:cNvSpPr>
            <a:spLocks noGrp="1"/>
          </p:cNvSpPr>
          <p:nvPr>
            <p:ph idx="1"/>
          </p:nvPr>
        </p:nvSpPr>
        <p:spPr>
          <a:xfrm>
            <a:off x="1094509" y="2189018"/>
            <a:ext cx="9829797" cy="3728414"/>
          </a:xfrm>
        </p:spPr>
        <p:txBody>
          <a:bodyPr>
            <a:normAutofit/>
          </a:bodyPr>
          <a:lstStyle/>
          <a:p>
            <a:pPr marL="0" indent="0">
              <a:buNone/>
            </a:pPr>
            <a:r>
              <a:rPr lang="en-US" sz="2200" dirty="0"/>
              <a:t>We have two customer segmentation B2B customer and end consumer </a:t>
            </a:r>
          </a:p>
          <a:p>
            <a:pPr marL="0" indent="0">
              <a:buNone/>
            </a:pPr>
            <a:r>
              <a:rPr lang="en-US" sz="2200" dirty="0"/>
              <a:t>B2B customer Predictable production schedule lead to more reliable lead ties and just on time delivery which increasing customer trust and satisfaction.</a:t>
            </a:r>
          </a:p>
          <a:p>
            <a:pPr marL="0" indent="0">
              <a:buNone/>
            </a:pPr>
            <a:r>
              <a:rPr lang="en-US" sz="2200" dirty="0"/>
              <a:t>End customer Reduced downtime ensures product availability and supply chain stability</a:t>
            </a:r>
          </a:p>
        </p:txBody>
      </p:sp>
    </p:spTree>
    <p:extLst>
      <p:ext uri="{BB962C8B-B14F-4D97-AF65-F5344CB8AC3E}">
        <p14:creationId xmlns:p14="http://schemas.microsoft.com/office/powerpoint/2010/main" val="420821343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Comparison of before and after digital transformation</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45751397"/>
              </p:ext>
            </p:extLst>
          </p:nvPr>
        </p:nvGraphicFramePr>
        <p:xfrm>
          <a:off x="1094509" y="1913468"/>
          <a:ext cx="10044546" cy="4140970"/>
        </p:xfrm>
        <a:graphic>
          <a:graphicData uri="http://schemas.openxmlformats.org/drawingml/2006/table">
            <a:tbl>
              <a:tblPr firstRow="1" firstCol="1" bandRow="1">
                <a:tableStyleId>{5C22544A-7EE6-4342-B048-85BDC9FD1C3A}</a:tableStyleId>
              </a:tblPr>
              <a:tblGrid>
                <a:gridCol w="3354141">
                  <a:extLst>
                    <a:ext uri="{9D8B030D-6E8A-4147-A177-3AD203B41FA5}">
                      <a16:colId xmlns:a16="http://schemas.microsoft.com/office/drawing/2014/main" val="900848617"/>
                    </a:ext>
                  </a:extLst>
                </a:gridCol>
                <a:gridCol w="3344085">
                  <a:extLst>
                    <a:ext uri="{9D8B030D-6E8A-4147-A177-3AD203B41FA5}">
                      <a16:colId xmlns:a16="http://schemas.microsoft.com/office/drawing/2014/main" val="1270757168"/>
                    </a:ext>
                  </a:extLst>
                </a:gridCol>
                <a:gridCol w="3346320">
                  <a:extLst>
                    <a:ext uri="{9D8B030D-6E8A-4147-A177-3AD203B41FA5}">
                      <a16:colId xmlns:a16="http://schemas.microsoft.com/office/drawing/2014/main" val="2139043875"/>
                    </a:ext>
                  </a:extLst>
                </a:gridCol>
              </a:tblGrid>
              <a:tr h="504225">
                <a:tc>
                  <a:txBody>
                    <a:bodyPr/>
                    <a:lstStyle/>
                    <a:p>
                      <a:pPr marL="0" marR="0">
                        <a:lnSpc>
                          <a:spcPct val="150000"/>
                        </a:lnSpc>
                        <a:spcBef>
                          <a:spcPts val="0"/>
                        </a:spcBef>
                        <a:spcAft>
                          <a:spcPts val="0"/>
                        </a:spcAft>
                      </a:pPr>
                      <a:r>
                        <a:rPr lang="en-US" sz="1200">
                          <a:effectLst/>
                        </a:rPr>
                        <a:t>Feature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Before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After</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214653209"/>
                  </a:ext>
                </a:extLst>
              </a:tr>
              <a:tr h="504225">
                <a:tc>
                  <a:txBody>
                    <a:bodyPr/>
                    <a:lstStyle/>
                    <a:p>
                      <a:pPr marL="0" marR="0">
                        <a:lnSpc>
                          <a:spcPct val="150000"/>
                        </a:lnSpc>
                        <a:spcBef>
                          <a:spcPts val="0"/>
                        </a:spcBef>
                        <a:spcAft>
                          <a:spcPts val="0"/>
                        </a:spcAft>
                      </a:pPr>
                      <a:r>
                        <a:rPr lang="en-US" sz="1200">
                          <a:effectLst/>
                        </a:rPr>
                        <a:t>Maintenance approach</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Reactive / Preventive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Predictive / prescriptive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18972682"/>
                  </a:ext>
                </a:extLst>
              </a:tr>
              <a:tr h="1062035">
                <a:tc>
                  <a:txBody>
                    <a:bodyPr/>
                    <a:lstStyle/>
                    <a:p>
                      <a:pPr marL="0" marR="0">
                        <a:lnSpc>
                          <a:spcPct val="150000"/>
                        </a:lnSpc>
                        <a:spcBef>
                          <a:spcPts val="0"/>
                        </a:spcBef>
                        <a:spcAft>
                          <a:spcPts val="0"/>
                        </a:spcAft>
                      </a:pPr>
                      <a:r>
                        <a:rPr lang="en-US" sz="1200">
                          <a:effectLst/>
                        </a:rPr>
                        <a:t>Data usage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Historical and manually collected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Integrated and real time from IoT and ERP</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97696464"/>
                  </a:ext>
                </a:extLst>
              </a:tr>
              <a:tr h="504225">
                <a:tc>
                  <a:txBody>
                    <a:bodyPr/>
                    <a:lstStyle/>
                    <a:p>
                      <a:pPr marL="0" marR="0">
                        <a:lnSpc>
                          <a:spcPct val="150000"/>
                        </a:lnSpc>
                        <a:spcBef>
                          <a:spcPts val="0"/>
                        </a:spcBef>
                        <a:spcAft>
                          <a:spcPts val="0"/>
                        </a:spcAft>
                      </a:pPr>
                      <a:r>
                        <a:rPr lang="en-US" sz="1200">
                          <a:effectLst/>
                        </a:rPr>
                        <a:t>Decision making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Experience based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Data driven </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527499584"/>
                  </a:ext>
                </a:extLst>
              </a:tr>
              <a:tr h="1062035">
                <a:tc>
                  <a:txBody>
                    <a:bodyPr/>
                    <a:lstStyle/>
                    <a:p>
                      <a:pPr marL="0" marR="0">
                        <a:lnSpc>
                          <a:spcPct val="150000"/>
                        </a:lnSpc>
                        <a:spcBef>
                          <a:spcPts val="0"/>
                        </a:spcBef>
                        <a:spcAft>
                          <a:spcPts val="0"/>
                        </a:spcAft>
                      </a:pPr>
                      <a:r>
                        <a:rPr lang="en-US" sz="1200">
                          <a:effectLst/>
                        </a:rPr>
                        <a:t>Downtime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Unplanned and costly</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Minimized and primarily planned</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720257833"/>
                  </a:ext>
                </a:extLst>
              </a:tr>
              <a:tr h="504225">
                <a:tc>
                  <a:txBody>
                    <a:bodyPr/>
                    <a:lstStyle/>
                    <a:p>
                      <a:pPr marL="0" marR="0">
                        <a:lnSpc>
                          <a:spcPct val="150000"/>
                        </a:lnSpc>
                        <a:spcBef>
                          <a:spcPts val="0"/>
                        </a:spcBef>
                        <a:spcAft>
                          <a:spcPts val="0"/>
                        </a:spcAft>
                      </a:pPr>
                      <a:r>
                        <a:rPr lang="en-US" sz="1200">
                          <a:effectLst/>
                        </a:rPr>
                        <a:t>Workforce role</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a:effectLst/>
                        </a:rPr>
                        <a:t>Firefighters</a:t>
                      </a:r>
                      <a:endParaRPr lang="en-US" sz="1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nSpc>
                          <a:spcPct val="150000"/>
                        </a:lnSpc>
                        <a:spcBef>
                          <a:spcPts val="0"/>
                        </a:spcBef>
                        <a:spcAft>
                          <a:spcPts val="0"/>
                        </a:spcAft>
                      </a:pPr>
                      <a:r>
                        <a:rPr lang="en-US" sz="1200" dirty="0">
                          <a:effectLst/>
                        </a:rPr>
                        <a:t>Strategic planners</a:t>
                      </a:r>
                      <a:endParaRPr lang="en-US" sz="1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89398245"/>
                  </a:ext>
                </a:extLst>
              </a:tr>
            </a:tbl>
          </a:graphicData>
        </a:graphic>
      </p:graphicFrame>
    </p:spTree>
    <p:extLst>
      <p:ext uri="{BB962C8B-B14F-4D97-AF65-F5344CB8AC3E}">
        <p14:creationId xmlns:p14="http://schemas.microsoft.com/office/powerpoint/2010/main" val="1272296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5402" y="982132"/>
            <a:ext cx="9601196" cy="4989177"/>
          </a:xfrm>
        </p:spPr>
        <p:txBody>
          <a:bodyPr/>
          <a:lstStyle/>
          <a:p>
            <a:r>
              <a:rPr lang="en-US" b="1" dirty="0"/>
              <a:t>ERP integration</a:t>
            </a:r>
            <a:endParaRPr lang="en-US" dirty="0"/>
          </a:p>
        </p:txBody>
      </p:sp>
    </p:spTree>
    <p:extLst>
      <p:ext uri="{BB962C8B-B14F-4D97-AF65-F5344CB8AC3E}">
        <p14:creationId xmlns:p14="http://schemas.microsoft.com/office/powerpoint/2010/main" val="34907340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3200" dirty="0"/>
              <a:t>ERP SAP modules involved </a:t>
            </a:r>
          </a:p>
        </p:txBody>
      </p:sp>
      <p:sp>
        <p:nvSpPr>
          <p:cNvPr id="4" name="Content Placeholder 3"/>
          <p:cNvSpPr>
            <a:spLocks noGrp="1"/>
          </p:cNvSpPr>
          <p:nvPr>
            <p:ph idx="1"/>
          </p:nvPr>
        </p:nvSpPr>
        <p:spPr>
          <a:xfrm>
            <a:off x="949037" y="1913467"/>
            <a:ext cx="9601196" cy="3318936"/>
          </a:xfrm>
        </p:spPr>
        <p:txBody>
          <a:bodyPr>
            <a:normAutofit/>
          </a:bodyPr>
          <a:lstStyle/>
          <a:p>
            <a:pPr marL="0" indent="0">
              <a:buNone/>
            </a:pPr>
            <a:r>
              <a:rPr lang="en-US" sz="2200" dirty="0"/>
              <a:t>SAP plant maintenance The core module of managing maintenance activities, work orders and equipment histories. SAP materials management for spare parts inventory management, procurement and supplier. SAP production planning This to align maintenance schedules with production plans SAP finance This to track maintenance costs, analyze ROI and manage budgets.</a:t>
            </a:r>
          </a:p>
          <a:p>
            <a:endParaRPr lang="en-US" sz="2200" dirty="0"/>
          </a:p>
        </p:txBody>
      </p:sp>
    </p:spTree>
    <p:extLst>
      <p:ext uri="{BB962C8B-B14F-4D97-AF65-F5344CB8AC3E}">
        <p14:creationId xmlns:p14="http://schemas.microsoft.com/office/powerpoint/2010/main" val="34425412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How AI integrates with ERP systems</a:t>
            </a:r>
          </a:p>
        </p:txBody>
      </p:sp>
      <p:sp>
        <p:nvSpPr>
          <p:cNvPr id="3" name="Content Placeholder 2"/>
          <p:cNvSpPr>
            <a:spLocks noGrp="1"/>
          </p:cNvSpPr>
          <p:nvPr>
            <p:ph idx="1"/>
          </p:nvPr>
        </p:nvSpPr>
        <p:spPr/>
        <p:txBody>
          <a:bodyPr>
            <a:normAutofit/>
          </a:bodyPr>
          <a:lstStyle/>
          <a:p>
            <a:pPr marL="0" indent="0">
              <a:buFont typeface="Arial"/>
              <a:buNone/>
            </a:pPr>
            <a:r>
              <a:rPr lang="en-US" sz="2200" dirty="0"/>
              <a:t>The AI platform such as cloud based analytics or an AI module it receives real time data from ERP and from </a:t>
            </a:r>
            <a:r>
              <a:rPr lang="en-US" sz="2200" dirty="0" err="1"/>
              <a:t>IoT</a:t>
            </a:r>
            <a:r>
              <a:rPr lang="en-US" sz="2200" dirty="0"/>
              <a:t> sensors when the AI model generates a prediction it sends a signal back to the ERP to trigger a specific action</a:t>
            </a:r>
          </a:p>
        </p:txBody>
      </p:sp>
    </p:spTree>
    <p:extLst>
      <p:ext uri="{BB962C8B-B14F-4D97-AF65-F5344CB8AC3E}">
        <p14:creationId xmlns:p14="http://schemas.microsoft.com/office/powerpoint/2010/main" val="36512636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09600"/>
            <a:ext cx="9601196" cy="1371600"/>
          </a:xfrm>
        </p:spPr>
        <p:txBody>
          <a:bodyPr>
            <a:normAutofit/>
          </a:bodyPr>
          <a:lstStyle/>
          <a:p>
            <a:r>
              <a:rPr lang="en-US" sz="3600" dirty="0"/>
              <a:t>Data flow between AI tools and ERP</a:t>
            </a:r>
            <a:r>
              <a:rPr lang="en-US" dirty="0"/>
              <a:t/>
            </a:r>
            <a:br>
              <a:rPr lang="en-US" dirty="0"/>
            </a:br>
            <a:endParaRPr lang="en-US" dirty="0"/>
          </a:p>
        </p:txBody>
      </p:sp>
      <p:sp>
        <p:nvSpPr>
          <p:cNvPr id="3" name="Content Placeholder 2"/>
          <p:cNvSpPr>
            <a:spLocks noGrp="1"/>
          </p:cNvSpPr>
          <p:nvPr>
            <p:ph idx="1"/>
          </p:nvPr>
        </p:nvSpPr>
        <p:spPr>
          <a:xfrm>
            <a:off x="1094509" y="2078182"/>
            <a:ext cx="9802088" cy="3797686"/>
          </a:xfrm>
        </p:spPr>
        <p:txBody>
          <a:bodyPr>
            <a:normAutofit fontScale="92500" lnSpcReduction="20000"/>
          </a:bodyPr>
          <a:lstStyle/>
          <a:p>
            <a:pPr marL="0" lvl="0" indent="0">
              <a:buNone/>
            </a:pPr>
            <a:r>
              <a:rPr lang="en-US" dirty="0"/>
              <a:t>ERP to AI The AI tool receive historical work order data, equipment specification and spare parts lists from the ERP to train the AI model.</a:t>
            </a:r>
          </a:p>
          <a:p>
            <a:pPr marL="0" lvl="0" indent="0">
              <a:buNone/>
            </a:pPr>
            <a:r>
              <a:rPr lang="en-US" dirty="0"/>
              <a:t>Sensors/</a:t>
            </a:r>
            <a:r>
              <a:rPr lang="en-US" dirty="0" err="1"/>
              <a:t>IoT</a:t>
            </a:r>
            <a:r>
              <a:rPr lang="en-US" dirty="0"/>
              <a:t> to AI Real time vibration, temperature and pressure data to the AI platform.</a:t>
            </a:r>
          </a:p>
          <a:p>
            <a:pPr marL="0" lvl="0" indent="0">
              <a:buNone/>
            </a:pPr>
            <a:r>
              <a:rPr lang="en-US" dirty="0"/>
              <a:t>AI to ERP When a failure is predicted the AI tool creates a notification in the SAP PM module after that generating a work order automatically.</a:t>
            </a:r>
          </a:p>
          <a:p>
            <a:pPr marL="0" lvl="0" indent="0">
              <a:buNone/>
            </a:pPr>
            <a:r>
              <a:rPr lang="en-US" dirty="0"/>
              <a:t>ERP to inventory The work order makes a reservation of the required spare parts in the SAP MM module.</a:t>
            </a:r>
          </a:p>
          <a:p>
            <a:pPr marL="0" lvl="0" indent="0">
              <a:buNone/>
            </a:pPr>
            <a:r>
              <a:rPr lang="en-US" dirty="0"/>
              <a:t>ERP to AI Once the maintenance is completed the work order status is updated in the ERP and this data is become feedback to the AI model for continuous learning and improvement.</a:t>
            </a:r>
          </a:p>
          <a:p>
            <a:endParaRPr lang="en-US" dirty="0"/>
          </a:p>
        </p:txBody>
      </p:sp>
    </p:spTree>
    <p:extLst>
      <p:ext uri="{BB962C8B-B14F-4D97-AF65-F5344CB8AC3E}">
        <p14:creationId xmlns:p14="http://schemas.microsoft.com/office/powerpoint/2010/main" val="13830055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Benefits of ERP and AI integration</a:t>
            </a:r>
          </a:p>
        </p:txBody>
      </p:sp>
      <p:sp>
        <p:nvSpPr>
          <p:cNvPr id="3" name="Content Placeholder 2"/>
          <p:cNvSpPr>
            <a:spLocks noGrp="1"/>
          </p:cNvSpPr>
          <p:nvPr>
            <p:ph idx="1"/>
          </p:nvPr>
        </p:nvSpPr>
        <p:spPr>
          <a:xfrm>
            <a:off x="1295401" y="2078182"/>
            <a:ext cx="9601196" cy="3797686"/>
          </a:xfrm>
        </p:spPr>
        <p:txBody>
          <a:bodyPr>
            <a:normAutofit/>
          </a:bodyPr>
          <a:lstStyle/>
          <a:p>
            <a:pPr marL="0" indent="0">
              <a:lnSpc>
                <a:spcPct val="80000"/>
              </a:lnSpc>
              <a:buNone/>
            </a:pPr>
            <a:r>
              <a:rPr lang="en-US" sz="2200" dirty="0"/>
              <a:t>There are three benefits from the integration of ERP and AI as the following:</a:t>
            </a:r>
          </a:p>
          <a:p>
            <a:pPr marL="0" indent="0">
              <a:lnSpc>
                <a:spcPct val="80000"/>
              </a:lnSpc>
              <a:buNone/>
            </a:pPr>
            <a:r>
              <a:rPr lang="en-US" sz="2200" dirty="0"/>
              <a:t>End to End automation the integration creates closed loop system from prediction to procurement to repair.</a:t>
            </a:r>
          </a:p>
          <a:p>
            <a:pPr marL="0" indent="0">
              <a:lnSpc>
                <a:spcPct val="80000"/>
              </a:lnSpc>
              <a:buNone/>
            </a:pPr>
            <a:r>
              <a:rPr lang="en-US" sz="2200" dirty="0"/>
              <a:t>Improved asset management Provides a single source of complete lifecycle of an asset from procurement to real time condition to maintenance history.</a:t>
            </a:r>
          </a:p>
          <a:p>
            <a:pPr marL="0" indent="0">
              <a:lnSpc>
                <a:spcPct val="80000"/>
              </a:lnSpc>
              <a:buNone/>
            </a:pPr>
            <a:r>
              <a:rPr lang="en-US" sz="2200" dirty="0"/>
              <a:t>Optimized inventory reduces excess inventory of rarely used parts while ensuring high availability of critical spares based on predicted needs.</a:t>
            </a:r>
          </a:p>
          <a:p>
            <a:pPr marL="0" indent="0">
              <a:lnSpc>
                <a:spcPct val="80000"/>
              </a:lnSpc>
              <a:buNone/>
            </a:pPr>
            <a:endParaRPr lang="en-US" sz="2200" dirty="0"/>
          </a:p>
        </p:txBody>
      </p:sp>
    </p:spTree>
    <p:extLst>
      <p:ext uri="{BB962C8B-B14F-4D97-AF65-F5344CB8AC3E}">
        <p14:creationId xmlns:p14="http://schemas.microsoft.com/office/powerpoint/2010/main" val="37022196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Challenges in ERP implementation or customization</a:t>
            </a:r>
          </a:p>
        </p:txBody>
      </p:sp>
      <p:sp>
        <p:nvSpPr>
          <p:cNvPr id="3" name="Content Placeholder 2"/>
          <p:cNvSpPr>
            <a:spLocks noGrp="1"/>
          </p:cNvSpPr>
          <p:nvPr>
            <p:ph idx="1"/>
          </p:nvPr>
        </p:nvSpPr>
        <p:spPr/>
        <p:txBody>
          <a:bodyPr/>
          <a:lstStyle/>
          <a:p>
            <a:pPr marL="0" lvl="0" indent="0">
              <a:lnSpc>
                <a:spcPct val="80000"/>
              </a:lnSpc>
              <a:buNone/>
            </a:pPr>
            <a:r>
              <a:rPr lang="en-US" sz="2200" dirty="0"/>
              <a:t>Data silos ERP systems might have poor data quality or missing fields required for effective AI modeling.</a:t>
            </a:r>
          </a:p>
          <a:p>
            <a:pPr marL="0" lvl="0" indent="0">
              <a:lnSpc>
                <a:spcPct val="80000"/>
              </a:lnSpc>
              <a:buNone/>
            </a:pPr>
            <a:r>
              <a:rPr lang="en-US" sz="2200" dirty="0"/>
              <a:t>Integration complexity Connecting real time </a:t>
            </a:r>
            <a:r>
              <a:rPr lang="en-US" sz="2200" dirty="0" err="1"/>
              <a:t>IoT</a:t>
            </a:r>
            <a:r>
              <a:rPr lang="en-US" sz="2200" dirty="0"/>
              <a:t> data to older ERP systems requires robust middleware and API management. </a:t>
            </a:r>
          </a:p>
          <a:p>
            <a:pPr marL="0" indent="0">
              <a:lnSpc>
                <a:spcPct val="80000"/>
              </a:lnSpc>
              <a:buNone/>
            </a:pPr>
            <a:r>
              <a:rPr lang="en-US" sz="2200" dirty="0"/>
              <a:t>Scalability The ERP system must be capable of handling a significantly higher volume of transactions without performance degradation</a:t>
            </a:r>
          </a:p>
        </p:txBody>
      </p:sp>
    </p:spTree>
    <p:extLst>
      <p:ext uri="{BB962C8B-B14F-4D97-AF65-F5344CB8AC3E}">
        <p14:creationId xmlns:p14="http://schemas.microsoft.com/office/powerpoint/2010/main" val="13520272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Work flow</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3891" y="2078182"/>
            <a:ext cx="9421091" cy="3729115"/>
          </a:xfrm>
        </p:spPr>
      </p:pic>
    </p:spTree>
    <p:extLst>
      <p:ext uri="{BB962C8B-B14F-4D97-AF65-F5344CB8AC3E}">
        <p14:creationId xmlns:p14="http://schemas.microsoft.com/office/powerpoint/2010/main" val="200676656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5402" y="982132"/>
            <a:ext cx="9601196" cy="4892195"/>
          </a:xfrm>
        </p:spPr>
        <p:txBody>
          <a:bodyPr/>
          <a:lstStyle/>
          <a:p>
            <a:r>
              <a:rPr lang="en-US" b="1" dirty="0"/>
              <a:t>Business impact and value creation</a:t>
            </a:r>
            <a:r>
              <a:rPr lang="en-US" dirty="0"/>
              <a:t>.</a:t>
            </a:r>
            <a:endParaRPr lang="en-US" dirty="0"/>
          </a:p>
        </p:txBody>
      </p:sp>
    </p:spTree>
    <p:extLst>
      <p:ext uri="{BB962C8B-B14F-4D97-AF65-F5344CB8AC3E}">
        <p14:creationId xmlns:p14="http://schemas.microsoft.com/office/powerpoint/2010/main" val="51169065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Financial impact </a:t>
            </a:r>
            <a:endParaRPr lang="en-US" dirty="0"/>
          </a:p>
        </p:txBody>
      </p:sp>
      <p:sp>
        <p:nvSpPr>
          <p:cNvPr id="5" name="Content Placeholder 4"/>
          <p:cNvSpPr>
            <a:spLocks noGrp="1"/>
          </p:cNvSpPr>
          <p:nvPr>
            <p:ph idx="1"/>
          </p:nvPr>
        </p:nvSpPr>
        <p:spPr/>
        <p:txBody>
          <a:bodyPr>
            <a:normAutofit/>
          </a:bodyPr>
          <a:lstStyle/>
          <a:p>
            <a:pPr marL="0" lvl="0" indent="0">
              <a:lnSpc>
                <a:spcPct val="80000"/>
              </a:lnSpc>
              <a:buNone/>
            </a:pPr>
            <a:r>
              <a:rPr lang="en-US" sz="2200" dirty="0"/>
              <a:t>Cost Reduction Significant reduction in unplanned downtime costs, reduction in maintenance labor costs and emergency parts procurement.</a:t>
            </a:r>
          </a:p>
          <a:p>
            <a:pPr marL="0" lvl="0" indent="0">
              <a:lnSpc>
                <a:spcPct val="80000"/>
              </a:lnSpc>
              <a:buNone/>
            </a:pPr>
            <a:r>
              <a:rPr lang="en-US" sz="2200" dirty="0"/>
              <a:t>Revenue Growth Increased overall equipment effectiveness leads to higher throughput and production capacity.</a:t>
            </a:r>
          </a:p>
          <a:p>
            <a:pPr marL="0" lvl="0" indent="0">
              <a:lnSpc>
                <a:spcPct val="80000"/>
              </a:lnSpc>
              <a:buNone/>
            </a:pPr>
            <a:r>
              <a:rPr lang="en-US" sz="2200" dirty="0"/>
              <a:t>ROI The ROI is often realized within 6-18 months through a combination of cost avoidance (Downtime) and increased output.</a:t>
            </a:r>
          </a:p>
          <a:p>
            <a:pPr marL="0" indent="0">
              <a:lnSpc>
                <a:spcPct val="80000"/>
              </a:lnSpc>
              <a:buNone/>
            </a:pPr>
            <a:endParaRPr lang="en-US" sz="2200" dirty="0"/>
          </a:p>
        </p:txBody>
      </p:sp>
    </p:spTree>
    <p:extLst>
      <p:ext uri="{BB962C8B-B14F-4D97-AF65-F5344CB8AC3E}">
        <p14:creationId xmlns:p14="http://schemas.microsoft.com/office/powerpoint/2010/main" val="412165458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Operational efficiency improvements </a:t>
            </a:r>
            <a:endParaRPr lang="en-US" dirty="0"/>
          </a:p>
        </p:txBody>
      </p:sp>
      <p:sp>
        <p:nvSpPr>
          <p:cNvPr id="3" name="Content Placeholder 2"/>
          <p:cNvSpPr>
            <a:spLocks noGrp="1"/>
          </p:cNvSpPr>
          <p:nvPr>
            <p:ph idx="1"/>
          </p:nvPr>
        </p:nvSpPr>
        <p:spPr/>
        <p:txBody>
          <a:bodyPr>
            <a:normAutofit/>
          </a:bodyPr>
          <a:lstStyle/>
          <a:p>
            <a:pPr marL="0" indent="0">
              <a:lnSpc>
                <a:spcPct val="80000"/>
              </a:lnSpc>
              <a:buNone/>
            </a:pPr>
            <a:r>
              <a:rPr lang="en-US" sz="2200" dirty="0"/>
              <a:t>Increased OEE A 10-20 % increase in overall equipment effectiveness is a common benchmark for AI driven predictive maintenance. </a:t>
            </a:r>
            <a:r>
              <a:rPr lang="en-US" sz="2200" dirty="0"/>
              <a:t>Reduced </a:t>
            </a:r>
            <a:r>
              <a:rPr lang="en-US" sz="2200" dirty="0"/>
              <a:t>mean time to repair Because parts and technicians are pre scheduled MTTR drops significantly. Extended asset lifespan Operating equipment only when it is healthy and intervening early prevents catastrophic failures</a:t>
            </a:r>
          </a:p>
        </p:txBody>
      </p:sp>
    </p:spTree>
    <p:extLst>
      <p:ext uri="{BB962C8B-B14F-4D97-AF65-F5344CB8AC3E}">
        <p14:creationId xmlns:p14="http://schemas.microsoft.com/office/powerpoint/2010/main" val="404131927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Strategic advantages gained</a:t>
            </a:r>
            <a:endParaRPr lang="en-US" dirty="0"/>
          </a:p>
        </p:txBody>
      </p:sp>
      <p:sp>
        <p:nvSpPr>
          <p:cNvPr id="3" name="Content Placeholder 2"/>
          <p:cNvSpPr>
            <a:spLocks noGrp="1"/>
          </p:cNvSpPr>
          <p:nvPr>
            <p:ph idx="1"/>
          </p:nvPr>
        </p:nvSpPr>
        <p:spPr/>
        <p:txBody>
          <a:bodyPr>
            <a:normAutofit/>
          </a:bodyPr>
          <a:lstStyle/>
          <a:p>
            <a:pPr marL="0" indent="0">
              <a:lnSpc>
                <a:spcPct val="80000"/>
              </a:lnSpc>
              <a:buNone/>
            </a:pPr>
            <a:r>
              <a:rPr lang="en-US" sz="2200" dirty="0"/>
              <a:t>Manufacturing as a service High asset reliability allows a company to offer its manufacturing capacity as a service to other businesses. Talent attraction A digitally transformed plant is more attractive to a new generation of data savvy engineers and technicians</a:t>
            </a:r>
          </a:p>
        </p:txBody>
      </p:sp>
    </p:spTree>
    <p:extLst>
      <p:ext uri="{BB962C8B-B14F-4D97-AF65-F5344CB8AC3E}">
        <p14:creationId xmlns:p14="http://schemas.microsoft.com/office/powerpoint/2010/main" val="12631163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Scalability and long term sustainability</a:t>
            </a:r>
            <a:endParaRPr lang="en-US" dirty="0"/>
          </a:p>
        </p:txBody>
      </p:sp>
      <p:sp>
        <p:nvSpPr>
          <p:cNvPr id="3" name="Content Placeholder 2"/>
          <p:cNvSpPr>
            <a:spLocks noGrp="1"/>
          </p:cNvSpPr>
          <p:nvPr>
            <p:ph idx="1"/>
          </p:nvPr>
        </p:nvSpPr>
        <p:spPr>
          <a:xfrm>
            <a:off x="1101437" y="2182859"/>
            <a:ext cx="9601196" cy="3318936"/>
          </a:xfrm>
        </p:spPr>
        <p:txBody>
          <a:bodyPr>
            <a:normAutofit/>
          </a:bodyPr>
          <a:lstStyle/>
          <a:p>
            <a:pPr marL="0" indent="0">
              <a:lnSpc>
                <a:spcPct val="80000"/>
              </a:lnSpc>
              <a:buNone/>
            </a:pPr>
            <a:r>
              <a:rPr lang="en-US" sz="2200" dirty="0"/>
              <a:t>The solution is highly scalable once the AI model and ERP integration are proven on one asset they can be replicated across a fleet of thousands of machines in multiple plants globally</a:t>
            </a:r>
          </a:p>
        </p:txBody>
      </p:sp>
    </p:spTree>
    <p:extLst>
      <p:ext uri="{BB962C8B-B14F-4D97-AF65-F5344CB8AC3E}">
        <p14:creationId xmlns:p14="http://schemas.microsoft.com/office/powerpoint/2010/main" val="17436564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295402" y="982132"/>
            <a:ext cx="9601196" cy="4753650"/>
          </a:xfrm>
        </p:spPr>
        <p:txBody>
          <a:bodyPr/>
          <a:lstStyle/>
          <a:p>
            <a:r>
              <a:rPr lang="en-US" b="1" dirty="0"/>
              <a:t>Risks, Ethical issues and limitations</a:t>
            </a:r>
            <a:endParaRPr lang="en-US" dirty="0"/>
          </a:p>
        </p:txBody>
      </p:sp>
    </p:spTree>
    <p:extLst>
      <p:ext uri="{BB962C8B-B14F-4D97-AF65-F5344CB8AC3E}">
        <p14:creationId xmlns:p14="http://schemas.microsoft.com/office/powerpoint/2010/main" val="20718211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Data privacy and security concerns</a:t>
            </a:r>
            <a:endParaRPr lang="en-US" dirty="0"/>
          </a:p>
        </p:txBody>
      </p:sp>
      <p:sp>
        <p:nvSpPr>
          <p:cNvPr id="4" name="Content Placeholder 3"/>
          <p:cNvSpPr>
            <a:spLocks noGrp="1"/>
          </p:cNvSpPr>
          <p:nvPr>
            <p:ph idx="1"/>
          </p:nvPr>
        </p:nvSpPr>
        <p:spPr/>
        <p:txBody>
          <a:bodyPr>
            <a:normAutofit/>
          </a:bodyPr>
          <a:lstStyle/>
          <a:p>
            <a:pPr marL="0" indent="0">
              <a:lnSpc>
                <a:spcPct val="80000"/>
              </a:lnSpc>
              <a:buNone/>
            </a:pPr>
            <a:r>
              <a:rPr lang="en-US" sz="2200" dirty="0"/>
              <a:t>Risk The collection of real time data from connected machines creates a larger attack surface for cyber threats. While GDPR primarily concerns personal data. </a:t>
            </a:r>
            <a:endParaRPr lang="en-US" sz="2200" dirty="0"/>
          </a:p>
          <a:p>
            <a:pPr marL="0" indent="0">
              <a:lnSpc>
                <a:spcPct val="80000"/>
              </a:lnSpc>
              <a:buNone/>
            </a:pPr>
            <a:r>
              <a:rPr lang="en-US" sz="2200" dirty="0"/>
              <a:t>Mitigation </a:t>
            </a:r>
            <a:r>
              <a:rPr lang="en-US" sz="2200" dirty="0"/>
              <a:t>Implement robust cybersecurity protocols, network segmentation and role based access control.</a:t>
            </a:r>
          </a:p>
          <a:p>
            <a:pPr marL="0" indent="0">
              <a:lnSpc>
                <a:spcPct val="80000"/>
              </a:lnSpc>
              <a:buNone/>
            </a:pPr>
            <a:endParaRPr lang="en-US" sz="2200" dirty="0"/>
          </a:p>
        </p:txBody>
      </p:sp>
    </p:spTree>
    <p:extLst>
      <p:ext uri="{BB962C8B-B14F-4D97-AF65-F5344CB8AC3E}">
        <p14:creationId xmlns:p14="http://schemas.microsoft.com/office/powerpoint/2010/main" val="174536066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Bias in AI models</a:t>
            </a:r>
            <a:endParaRPr lang="en-US" dirty="0"/>
          </a:p>
        </p:txBody>
      </p:sp>
      <p:sp>
        <p:nvSpPr>
          <p:cNvPr id="3" name="Content Placeholder 2"/>
          <p:cNvSpPr>
            <a:spLocks noGrp="1"/>
          </p:cNvSpPr>
          <p:nvPr>
            <p:ph idx="1"/>
          </p:nvPr>
        </p:nvSpPr>
        <p:spPr/>
        <p:txBody>
          <a:bodyPr/>
          <a:lstStyle/>
          <a:p>
            <a:pPr marL="0" indent="0">
              <a:lnSpc>
                <a:spcPct val="80000"/>
              </a:lnSpc>
              <a:buNone/>
            </a:pPr>
            <a:r>
              <a:rPr lang="en-US" sz="2200" dirty="0"/>
              <a:t>Risk The AI model might be trained on historical data that only includes certain types of failures making it less effective at predicting novel or rare failures. </a:t>
            </a:r>
            <a:endParaRPr lang="en-US" sz="2200" dirty="0"/>
          </a:p>
          <a:p>
            <a:pPr marL="0" indent="0">
              <a:lnSpc>
                <a:spcPct val="80000"/>
              </a:lnSpc>
              <a:buNone/>
            </a:pPr>
            <a:r>
              <a:rPr lang="en-US" sz="2200" dirty="0"/>
              <a:t>Mitigation </a:t>
            </a:r>
            <a:r>
              <a:rPr lang="en-US" sz="2200" dirty="0"/>
              <a:t>Continuously validate model performance on diverse datasets and implement active learning loops where technicians can flag missed or false predictions.</a:t>
            </a:r>
          </a:p>
          <a:p>
            <a:endParaRPr lang="en-US" dirty="0"/>
          </a:p>
        </p:txBody>
      </p:sp>
    </p:spTree>
    <p:extLst>
      <p:ext uri="{BB962C8B-B14F-4D97-AF65-F5344CB8AC3E}">
        <p14:creationId xmlns:p14="http://schemas.microsoft.com/office/powerpoint/2010/main" val="71748299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Regulatory or compliance issues</a:t>
            </a:r>
            <a:endParaRPr lang="en-US" dirty="0"/>
          </a:p>
        </p:txBody>
      </p:sp>
      <p:sp>
        <p:nvSpPr>
          <p:cNvPr id="3" name="Content Placeholder 2"/>
          <p:cNvSpPr>
            <a:spLocks noGrp="1"/>
          </p:cNvSpPr>
          <p:nvPr>
            <p:ph idx="1"/>
          </p:nvPr>
        </p:nvSpPr>
        <p:spPr/>
        <p:txBody>
          <a:bodyPr>
            <a:normAutofit/>
          </a:bodyPr>
          <a:lstStyle/>
          <a:p>
            <a:pPr marL="0" indent="0">
              <a:lnSpc>
                <a:spcPct val="80000"/>
              </a:lnSpc>
              <a:buNone/>
            </a:pPr>
            <a:r>
              <a:rPr lang="en-US" sz="2200" dirty="0"/>
              <a:t>Risk In highly regulated industries like aerospace changing a maintenance protocol from a validated time based schedule to a predictive one may require extensive re validation.</a:t>
            </a:r>
          </a:p>
          <a:p>
            <a:pPr marL="0" indent="0">
              <a:lnSpc>
                <a:spcPct val="80000"/>
              </a:lnSpc>
              <a:buNone/>
            </a:pPr>
            <a:endParaRPr lang="en-US" sz="2200" dirty="0"/>
          </a:p>
        </p:txBody>
      </p:sp>
    </p:spTree>
    <p:extLst>
      <p:ext uri="{BB962C8B-B14F-4D97-AF65-F5344CB8AC3E}">
        <p14:creationId xmlns:p14="http://schemas.microsoft.com/office/powerpoint/2010/main" val="37138510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Technology adoption risks</a:t>
            </a:r>
            <a:endParaRPr lang="en-US" dirty="0"/>
          </a:p>
        </p:txBody>
      </p:sp>
      <p:sp>
        <p:nvSpPr>
          <p:cNvPr id="3" name="Content Placeholder 2"/>
          <p:cNvSpPr>
            <a:spLocks noGrp="1"/>
          </p:cNvSpPr>
          <p:nvPr>
            <p:ph idx="1"/>
          </p:nvPr>
        </p:nvSpPr>
        <p:spPr/>
        <p:txBody>
          <a:bodyPr>
            <a:normAutofit/>
          </a:bodyPr>
          <a:lstStyle/>
          <a:p>
            <a:pPr marL="0" indent="0">
              <a:lnSpc>
                <a:spcPct val="80000"/>
              </a:lnSpc>
              <a:buNone/>
            </a:pPr>
            <a:r>
              <a:rPr lang="en-US" sz="2200" dirty="0"/>
              <a:t>Risk Employee resistance to new systems lack of in house data science skills and the black box nature of some AI models can lead to mistrust.</a:t>
            </a:r>
          </a:p>
          <a:p>
            <a:pPr marL="0" indent="0">
              <a:lnSpc>
                <a:spcPct val="80000"/>
              </a:lnSpc>
              <a:buNone/>
            </a:pPr>
            <a:endParaRPr lang="en-US" sz="2200" dirty="0"/>
          </a:p>
        </p:txBody>
      </p:sp>
    </p:spTree>
    <p:extLst>
      <p:ext uri="{BB962C8B-B14F-4D97-AF65-F5344CB8AC3E}">
        <p14:creationId xmlns:p14="http://schemas.microsoft.com/office/powerpoint/2010/main" val="53258136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Limitations of AI and ERP systems</a:t>
            </a:r>
            <a:endParaRPr lang="en-US" dirty="0"/>
          </a:p>
        </p:txBody>
      </p:sp>
      <p:sp>
        <p:nvSpPr>
          <p:cNvPr id="3" name="Content Placeholder 2"/>
          <p:cNvSpPr>
            <a:spLocks noGrp="1"/>
          </p:cNvSpPr>
          <p:nvPr>
            <p:ph idx="1"/>
          </p:nvPr>
        </p:nvSpPr>
        <p:spPr/>
        <p:txBody>
          <a:bodyPr>
            <a:normAutofit/>
          </a:bodyPr>
          <a:lstStyle/>
          <a:p>
            <a:pPr marL="0" indent="0">
              <a:lnSpc>
                <a:spcPct val="80000"/>
              </a:lnSpc>
              <a:buNone/>
            </a:pPr>
            <a:r>
              <a:rPr lang="en-US" sz="2200" dirty="0"/>
              <a:t>Limitation AI models cannot predict failures that result from human error or unrecorded external factors ERP systems if not configured correctly can become a bottleneck if they cannot handle the high transaction volume generated by the AI system.</a:t>
            </a:r>
          </a:p>
          <a:p>
            <a:pPr marL="0" indent="0">
              <a:lnSpc>
                <a:spcPct val="80000"/>
              </a:lnSpc>
              <a:buNone/>
            </a:pPr>
            <a:endParaRPr lang="en-US" sz="2200" dirty="0"/>
          </a:p>
        </p:txBody>
      </p:sp>
    </p:spTree>
    <p:extLst>
      <p:ext uri="{BB962C8B-B14F-4D97-AF65-F5344CB8AC3E}">
        <p14:creationId xmlns:p14="http://schemas.microsoft.com/office/powerpoint/2010/main" val="307492828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95402" y="982132"/>
            <a:ext cx="9601196" cy="4850632"/>
          </a:xfrm>
        </p:spPr>
        <p:txBody>
          <a:bodyPr/>
          <a:lstStyle/>
          <a:p>
            <a:r>
              <a:rPr lang="en-US" b="1" dirty="0"/>
              <a:t>Recommendations and future scope </a:t>
            </a:r>
            <a:endParaRPr lang="en-US" dirty="0"/>
          </a:p>
        </p:txBody>
      </p:sp>
    </p:spTree>
    <p:extLst>
      <p:ext uri="{BB962C8B-B14F-4D97-AF65-F5344CB8AC3E}">
        <p14:creationId xmlns:p14="http://schemas.microsoft.com/office/powerpoint/2010/main" val="170797177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sz="3600" b="1" dirty="0"/>
              <a:t>Strategic recommendations for improvement </a:t>
            </a:r>
          </a:p>
        </p:txBody>
      </p:sp>
      <p:sp>
        <p:nvSpPr>
          <p:cNvPr id="4" name="Content Placeholder 3"/>
          <p:cNvSpPr>
            <a:spLocks noGrp="1"/>
          </p:cNvSpPr>
          <p:nvPr>
            <p:ph idx="1"/>
          </p:nvPr>
        </p:nvSpPr>
        <p:spPr/>
        <p:txBody>
          <a:bodyPr>
            <a:normAutofit/>
          </a:bodyPr>
          <a:lstStyle/>
          <a:p>
            <a:pPr marL="0" lvl="0" indent="0">
              <a:lnSpc>
                <a:spcPct val="80000"/>
              </a:lnSpc>
              <a:buNone/>
            </a:pPr>
            <a:r>
              <a:rPr lang="en-US" sz="2200" dirty="0"/>
              <a:t>Invest in data quality Before scaling the AI solution implement a data governance framework within the ERP system to ensure the accuracy and completeness.</a:t>
            </a:r>
          </a:p>
          <a:p>
            <a:pPr marL="0" lvl="0" indent="0">
              <a:lnSpc>
                <a:spcPct val="80000"/>
              </a:lnSpc>
              <a:buNone/>
            </a:pPr>
            <a:r>
              <a:rPr lang="en-US" sz="2200" dirty="0"/>
              <a:t>Change management program Implement a comprehensive change management program to upskill maintenance technicians and foster culture of trust in AI driven insight.</a:t>
            </a:r>
          </a:p>
          <a:p>
            <a:pPr marL="0" indent="0">
              <a:lnSpc>
                <a:spcPct val="80000"/>
              </a:lnSpc>
              <a:buNone/>
            </a:pPr>
            <a:endParaRPr lang="en-US" sz="2200" dirty="0"/>
          </a:p>
        </p:txBody>
      </p:sp>
    </p:spTree>
    <p:extLst>
      <p:ext uri="{BB962C8B-B14F-4D97-AF65-F5344CB8AC3E}">
        <p14:creationId xmlns:p14="http://schemas.microsoft.com/office/powerpoint/2010/main" val="322999384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a:t>Suggestions for advanced analytics or AI upgrades</a:t>
            </a:r>
            <a:endParaRPr lang="en-US" sz="3200" dirty="0"/>
          </a:p>
        </p:txBody>
      </p:sp>
      <p:sp>
        <p:nvSpPr>
          <p:cNvPr id="3" name="Content Placeholder 2"/>
          <p:cNvSpPr>
            <a:spLocks noGrp="1"/>
          </p:cNvSpPr>
          <p:nvPr>
            <p:ph idx="1"/>
          </p:nvPr>
        </p:nvSpPr>
        <p:spPr/>
        <p:txBody>
          <a:bodyPr>
            <a:normAutofit/>
          </a:bodyPr>
          <a:lstStyle/>
          <a:p>
            <a:pPr marL="0" lvl="0" indent="0">
              <a:buNone/>
            </a:pPr>
            <a:r>
              <a:rPr lang="en-US" sz="2200" dirty="0"/>
              <a:t>Digital Twins Move from a predictive maintenance model to a prescriptive one by creating a digital twin of the plant.</a:t>
            </a:r>
          </a:p>
          <a:p>
            <a:pPr marL="0" lvl="0" indent="0">
              <a:buNone/>
            </a:pPr>
            <a:r>
              <a:rPr lang="en-US" sz="2200" dirty="0"/>
              <a:t>Generative AI for troubleshooting Implement a generative AI assistant integrated with the ERP that maintenance technicians can query.</a:t>
            </a:r>
          </a:p>
          <a:p>
            <a:endParaRPr lang="en-US" sz="2200" dirty="0"/>
          </a:p>
        </p:txBody>
      </p:sp>
    </p:spTree>
    <p:extLst>
      <p:ext uri="{BB962C8B-B14F-4D97-AF65-F5344CB8AC3E}">
        <p14:creationId xmlns:p14="http://schemas.microsoft.com/office/powerpoint/2010/main" val="360730277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Future digital transformation opportunities </a:t>
            </a:r>
            <a:endParaRPr lang="en-US" dirty="0"/>
          </a:p>
        </p:txBody>
      </p:sp>
      <p:sp>
        <p:nvSpPr>
          <p:cNvPr id="3" name="Content Placeholder 2"/>
          <p:cNvSpPr>
            <a:spLocks noGrp="1"/>
          </p:cNvSpPr>
          <p:nvPr>
            <p:ph idx="1"/>
          </p:nvPr>
        </p:nvSpPr>
        <p:spPr/>
        <p:txBody>
          <a:bodyPr>
            <a:normAutofit/>
          </a:bodyPr>
          <a:lstStyle/>
          <a:p>
            <a:pPr marL="0" lvl="0" indent="0">
              <a:buNone/>
            </a:pPr>
            <a:r>
              <a:rPr lang="en-US" sz="2200" dirty="0"/>
              <a:t>Autonomous supply chain Link predictive maintenance data with supplier systems so that critical spare parts are automatically ordered and delivered just in time for a predicted failure.</a:t>
            </a:r>
          </a:p>
          <a:p>
            <a:pPr marL="0" lvl="0" indent="0">
              <a:buNone/>
            </a:pPr>
            <a:r>
              <a:rPr lang="en-US" sz="2200" dirty="0"/>
              <a:t>Quality 4.0 Correlate machine health data with product quality data to predict and prevent defects before they occur not just machine failures.</a:t>
            </a:r>
          </a:p>
          <a:p>
            <a:endParaRPr lang="en-US" sz="2200" dirty="0"/>
          </a:p>
        </p:txBody>
      </p:sp>
    </p:spTree>
    <p:extLst>
      <p:ext uri="{BB962C8B-B14F-4D97-AF65-F5344CB8AC3E}">
        <p14:creationId xmlns:p14="http://schemas.microsoft.com/office/powerpoint/2010/main" val="30309463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Expansion of ERP AI capabilities </a:t>
            </a:r>
            <a:endParaRPr lang="en-US" dirty="0"/>
          </a:p>
        </p:txBody>
      </p:sp>
      <p:sp>
        <p:nvSpPr>
          <p:cNvPr id="3" name="Content Placeholder 2"/>
          <p:cNvSpPr>
            <a:spLocks noGrp="1"/>
          </p:cNvSpPr>
          <p:nvPr>
            <p:ph idx="1"/>
          </p:nvPr>
        </p:nvSpPr>
        <p:spPr/>
        <p:txBody>
          <a:bodyPr>
            <a:normAutofit/>
          </a:bodyPr>
          <a:lstStyle/>
          <a:p>
            <a:pPr marL="0" indent="0">
              <a:buNone/>
            </a:pPr>
            <a:r>
              <a:rPr lang="en-US" sz="2200" dirty="0"/>
              <a:t>Integrated Financial Forecasting Embed the output of asset health predictions from the AI model into the ERP’S financial module to automate and improve the accuracy of long term capital expenditure.</a:t>
            </a:r>
          </a:p>
          <a:p>
            <a:endParaRPr lang="en-US" sz="2200" dirty="0"/>
          </a:p>
        </p:txBody>
      </p:sp>
    </p:spTree>
    <p:extLst>
      <p:ext uri="{BB962C8B-B14F-4D97-AF65-F5344CB8AC3E}">
        <p14:creationId xmlns:p14="http://schemas.microsoft.com/office/powerpoint/2010/main" val="60495047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TM02900743[[fn=Organic]]</Template>
  <TotalTime>4210</TotalTime>
  <Words>3133</Words>
  <Application>Microsoft Office PowerPoint</Application>
  <PresentationFormat>Widescreen</PresentationFormat>
  <Paragraphs>353</Paragraphs>
  <Slides>73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73</vt:i4>
      </vt:variant>
    </vt:vector>
  </HeadingPairs>
  <TitlesOfParts>
    <vt:vector size="77" baseType="lpstr">
      <vt:lpstr>Arial</vt:lpstr>
      <vt:lpstr>Calibri</vt:lpstr>
      <vt:lpstr>Garamond</vt:lpstr>
      <vt:lpstr>Organic</vt:lpstr>
      <vt:lpstr>Case Studies in AI for Business Prof. Dr. Ahmed Elseddawy</vt:lpstr>
      <vt:lpstr>   Predictive Maintenance Using AI in Manufacturing Plants  </vt:lpstr>
      <vt:lpstr>Business Understanding </vt:lpstr>
      <vt:lpstr>Industry 4.0 and Digital Transformation in Manufacturing</vt:lpstr>
      <vt:lpstr>Industry 4.0 and Digital Transformation in Manufacturing</vt:lpstr>
      <vt:lpstr>Industry Characteristics/Electronics Manufacturing Industry</vt:lpstr>
      <vt:lpstr>Organization Context/Siemens Amberg Electronics Plant</vt:lpstr>
      <vt:lpstr>Problem Analysis  </vt:lpstr>
      <vt:lpstr>Maintenance Evolution</vt:lpstr>
      <vt:lpstr>Maintenance Evolution</vt:lpstr>
      <vt:lpstr>Core Business Problem</vt:lpstr>
      <vt:lpstr>Limitations of Traditional Systems</vt:lpstr>
      <vt:lpstr>Limitations of Traditional Systems</vt:lpstr>
      <vt:lpstr>Operational and Financial Impact</vt:lpstr>
      <vt:lpstr>Operational and Financial Impact</vt:lpstr>
      <vt:lpstr>AI Solution Overview </vt:lpstr>
      <vt:lpstr>AI Solution for Predictive Maintenance</vt:lpstr>
      <vt:lpstr>AI Technologies Used</vt:lpstr>
      <vt:lpstr>Business Functions Impacted</vt:lpstr>
      <vt:lpstr>AI Predictive Maintenance Process</vt:lpstr>
      <vt:lpstr>Machine Learning Methods</vt:lpstr>
      <vt:lpstr>RPA in Predictive Maintenance</vt:lpstr>
      <vt:lpstr>SDLC Methodology</vt:lpstr>
      <vt:lpstr>SDLC Methodology</vt:lpstr>
      <vt:lpstr>Data Analytics Components</vt:lpstr>
      <vt:lpstr>Data Analytics Components</vt:lpstr>
      <vt:lpstr>Types of Data</vt:lpstr>
      <vt:lpstr>Data Sources</vt:lpstr>
      <vt:lpstr>Dataset Description owned </vt:lpstr>
      <vt:lpstr>Analytics Technique </vt:lpstr>
      <vt:lpstr>Types of analytics </vt:lpstr>
      <vt:lpstr>Descriptive analytics</vt:lpstr>
      <vt:lpstr>Descriptive analytics</vt:lpstr>
      <vt:lpstr>Diagnostic analytics</vt:lpstr>
      <vt:lpstr>Diagnostic analytics</vt:lpstr>
      <vt:lpstr>Predictive analysis</vt:lpstr>
      <vt:lpstr>Predictive analysis</vt:lpstr>
      <vt:lpstr>Prescriptive analysis</vt:lpstr>
      <vt:lpstr>Prescriptive analysis</vt:lpstr>
      <vt:lpstr>Key performance index (KPI’s)</vt:lpstr>
      <vt:lpstr>Key performance index (KPI’s)</vt:lpstr>
      <vt:lpstr>Simple Dashboard</vt:lpstr>
      <vt:lpstr>Simple Dashboard</vt:lpstr>
      <vt:lpstr>Digital transformation analysis</vt:lpstr>
      <vt:lpstr>Changes in business processes and workflows</vt:lpstr>
      <vt:lpstr>Changes in business processes and workflows</vt:lpstr>
      <vt:lpstr>Automation of manual or repetitive tasks</vt:lpstr>
      <vt:lpstr>Impact on organizational culture and decision making</vt:lpstr>
      <vt:lpstr>Customer experience improvements</vt:lpstr>
      <vt:lpstr>Comparison of before and after digital transformation</vt:lpstr>
      <vt:lpstr>ERP integration</vt:lpstr>
      <vt:lpstr>ERP SAP modules involved </vt:lpstr>
      <vt:lpstr>How AI integrates with ERP systems</vt:lpstr>
      <vt:lpstr>Data flow between AI tools and ERP </vt:lpstr>
      <vt:lpstr>Benefits of ERP and AI integration</vt:lpstr>
      <vt:lpstr>Challenges in ERP implementation or customization</vt:lpstr>
      <vt:lpstr>Work flow</vt:lpstr>
      <vt:lpstr>Business impact and value creation.</vt:lpstr>
      <vt:lpstr>Financial impact </vt:lpstr>
      <vt:lpstr>Operational efficiency improvements </vt:lpstr>
      <vt:lpstr>Strategic advantages gained</vt:lpstr>
      <vt:lpstr>Scalability and long term sustainability</vt:lpstr>
      <vt:lpstr>Risks, Ethical issues and limitations</vt:lpstr>
      <vt:lpstr>Data privacy and security concerns</vt:lpstr>
      <vt:lpstr>Bias in AI models</vt:lpstr>
      <vt:lpstr>Regulatory or compliance issues</vt:lpstr>
      <vt:lpstr>Technology adoption risks</vt:lpstr>
      <vt:lpstr>Limitations of AI and ERP systems</vt:lpstr>
      <vt:lpstr>Recommendations and future scope </vt:lpstr>
      <vt:lpstr>Strategic recommendations for improvement </vt:lpstr>
      <vt:lpstr>Suggestions for advanced analytics or AI upgrades</vt:lpstr>
      <vt:lpstr>Future digital transformation opportunities </vt:lpstr>
      <vt:lpstr>Expansion of ERP AI capabilities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Studies in AI for Business Prof. Dr. Ahmed Elseddawy</dc:title>
  <dc:creator>Hassan Farid</dc:creator>
  <cp:lastModifiedBy>asd</cp:lastModifiedBy>
  <cp:revision>17</cp:revision>
  <dcterms:created xsi:type="dcterms:W3CDTF">2026-02-03T22:29:39Z</dcterms:created>
  <dcterms:modified xsi:type="dcterms:W3CDTF">2026-04-04T20:21:04Z</dcterms:modified>
</cp:coreProperties>
</file>