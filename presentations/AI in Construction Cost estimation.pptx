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1" r:id="rId1"/>
  </p:sldMasterIdLst>
  <p:notesMasterIdLst>
    <p:notesMasterId r:id="rId18"/>
  </p:notesMasterIdLst>
  <p:sldIdLst>
    <p:sldId id="256" r:id="rId2"/>
    <p:sldId id="257" r:id="rId3"/>
    <p:sldId id="259" r:id="rId4"/>
    <p:sldId id="269" r:id="rId5"/>
    <p:sldId id="258" r:id="rId6"/>
    <p:sldId id="268" r:id="rId7"/>
    <p:sldId id="270" r:id="rId8"/>
    <p:sldId id="271" r:id="rId9"/>
    <p:sldId id="260" r:id="rId10"/>
    <p:sldId id="261" r:id="rId11"/>
    <p:sldId id="262" r:id="rId12"/>
    <p:sldId id="263" r:id="rId13"/>
    <p:sldId id="264" r:id="rId14"/>
    <p:sldId id="265" r:id="rId15"/>
    <p:sldId id="266" r:id="rId16"/>
    <p:sldId id="267" r:id="rId17"/>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7E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1" autoAdjust="0"/>
    <p:restoredTop sz="94610"/>
  </p:normalViewPr>
  <p:slideViewPr>
    <p:cSldViewPr snapToGrid="0" snapToObjects="1">
      <p:cViewPr>
        <p:scale>
          <a:sx n="120" d="100"/>
          <a:sy n="120" d="100"/>
        </p:scale>
        <p:origin x="17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500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Good morning. We're here to discuss a critical shift in construction: how AI is revolutionizing cost management. This isn't just about new tech; it's about fundamentally enhancing accuracy and mitigating risks in every project we undertake. We'll explore how AI moves us beyond traditional, often subjective, estimation methods. This strategic shift promises greater financial predictability for both residential and infrastructure endeavors. Let's dive into the current challenges facing our industry.</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The construction industry, a bedrock of global GDP, faces a persistent crisis: chronic cost overruns. This isn't a minor issue; it's a systemic problem. Traditional estimation relies heavily on historical data and expert judgment, which are inherently subjective and prone to optimism bias. The consequences are severe: average cost overruns exceeding 40% in megaprojects, leading to financial instability, stakeholder disputes, and reduced ROI. This unsustainable reality demands a new approach, and that's where AI steps in.</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To validate the power of AI, we conducted a comprehensive quantitative study. Our scope involved a comparative analysis of 400 diverse construction projects, spanning both residential and infrastructure sectors. We meticulously gathered key data points, including project complexity, financial estimates versus actual costs, inflation rates, and risk scores. Our primary objective was clear: to quantify the performance gap between traditional methods and these advanced AI-driven models. This rigorous methodology ensures our findings are robust and actionable. And what did we find regarding accuracy?</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So, how do we tackle this crisis? The answer lies in the AI revolution in estimating. We're moving from manual calculations to sophisticated, data-driven predictive modeling. This involves powerful machine learning algorithms like XGBoost and Random Forests to uncover complex patterns in project data. We also leverage deep learning, specifically LSTM and ANNs, to model sequential project lifecycles and predict cost trajectories. Furthermore, probabilistic models, such as Bayesian networks, quantify uncertainty, providing a range of potential cost outcomes for better contingency planning. This isn't just about individual technologies; it's about their synergistic integration with BIM and robotics for end-to-end automation. Now, let's look at how we've rigorously tested these AI models.</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Our research redefined accuracy, as evidenced by our Mean Absolute Percentage Error, or MAPE, results. Traditional methods showed a significant 14.50% MAPE, reflecting the inherent optimism bias and variability. In stark contrast, our AI-driven models achieved a remarkable 10.25% MAPE. This isn't just a marginal improvement; it's a substantial reduction in error. This enhanced precision comes from multi-modal data analysis and the ability of AI to recognize non-linear patterns. This means AI provides a far more reliable financial baseline, significantly reducing the variance between estimated and actual costs. Next, we'll quantify the financial impact of this improved accuracy.</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We've seen how AI refines accuracy; now let's translate that into tangible financial gains. The impact on budget overruns is simply staggering. Our study shows a nearly fourfold reduction in total budget overruns when using AI-driven estimation. This means moving from a 9.2% overrun to just 2.1%, saving a remarkable $35.2 million across the portfolio. That's real money, directly impacting your bottom line. And it's a clear indicator of AI's power to mitigate financial risk. But the benefits extend beyond just cost savings; they also touch on how we operate.</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Beyond the financial impact, AI fundamentally transforms operational efficiency and speed. We're talking about generating estimates up to seven times faster than traditional human-led processes. This speed enables accelerated decision-making, allowing project managers to quickly evaluate multiple scenarios. And with BIM-AI automation, we virtually eliminate manual data entry errors, freeing up human estimators. They can then focus on high-value strategic analysis, not repetitive calculations. This efficiency creates a ripple effect, benefiting every stakeholder involved.</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The strategic benefits of AI in cost management extend across all key stakeholders. Project owners gain unprecedented financial certainty, leading to better capital allocation. Contractors can submit more competitive and accurate bids, protecting their profit margins. Financial institutions see reduced investment risk through more reliable project appraisals. And architects can optimize designs for cost-effectiveness with early, precise feedback. Ultimately, this creates a more collaborative and financially sound ecosystem for everyone. But it also elevates our ability to manage risk itself.</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AI truly redefines risk management, moving us from reactive auditing to proactive intelligence. It goes beyond simple numbers, identifying subtle risk patterns that traditional methods often miss. Think about correlating inflation spikes with material supply chain delays; AI spots these connections. This capability provides early warning systems for potential budget deviations, allowing for immediate corrective action. And it enables us to set realistic contingency funds based on data-driven confidence intervals, not arbitrary percentages. This shift is a strategic advantage, transforming how we approach project uncertainties. However, implementing such a powerful system isn't without its challenges.</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While AI offers immense benefits, we must acknowledge the critical hurdles to its widespread adoption. These challenges aren't insurmountable, but they demand strategic foresight and investment. First, data quality is paramount; AI models are only as effective as the data they consume, and our industry's data is often fragmented. Second, the initial investment in technology and talent can be substantial, posing a barrier for some firms. And finally, we face cultural resistance from those accustomed to traditional methods, along with ethical questions around AI accountability. Addressing these points will be key to unlocking AI's full potential. But what does this future look like?</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Building on the foundation of AI-driven cost management, the future promises even more transformative applications. We're moving towards autonomous construction management, where AI isn't just predicting costs but actively shaping projects. Generative AI will optimize designs to meet budget constraints from the outset. Digital twins will provide real-time synchronization between physical sites and virtual models, instantly flagging cost deviations. And predictive robotic maintenance will drastically reduce equipment downtime, saving significant operational costs. This strategic horizon integrates real-time data with predictive intelligence, creating a truly dynamic environment. So, what are our key takeaways and recommendations?</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65" tIns="54132" rIns="108265" bIns="54132"/>
          <a:lstStyle/>
          <a:p>
            <a:r>
              <a:rPr lang="en-US" dirty="0"/>
              <a:t>In conclusion, AI is no longer a luxury; it's a strategic imperative for financial predictability and risk mitigation in construction. To capitalize on this, we have three core recommendations. First, we must invest in standardizing and collecting high-quality data to fuel more accurate predictive models. Second, fostering collaboration between AI specialists and construction domain experts is crucial to ensure our models are grounded in reality. And finally, we need to transition to probabilistic estimation frameworks that account for market volatility and project risks. The future of construction is undeniably data-driven, resilient, and efficient.</a:t>
            </a:r>
          </a:p>
        </p:txBody>
      </p:sp>
      <p:sp>
        <p:nvSpPr>
          <p:cNvPr id="4" name="Slide Number Placeholder 3"/>
          <p:cNvSpPr>
            <a:spLocks noGrp="1"/>
          </p:cNvSpPr>
          <p:nvPr>
            <p:ph type="sldNum" sz="quarter" idx="10"/>
          </p:nvPr>
        </p:nvSpPr>
        <p:spPr/>
        <p:txBody>
          <a:bodyPr lIns="108265" tIns="54132" rIns="108265" bIns="54132"/>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351956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1781840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79537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370771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092358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3555972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41804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1457566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942127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764234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9488318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586443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881011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349689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704419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8891098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582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C764DE79-268F-4C1A-8933-263129D2AF90}" type="datetimeFigureOut">
              <a:rPr lang="en-US" smtClean="0"/>
              <a:t>4/2/2026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86777763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p:nvPr/>
        </p:nvSpPr>
        <p:spPr>
          <a:xfrm>
            <a:off x="274890" y="978172"/>
            <a:ext cx="4152900" cy="1320143"/>
          </a:xfrm>
          <a:prstGeom prst="rect">
            <a:avLst/>
          </a:prstGeom>
          <a:noFill/>
          <a:ln/>
        </p:spPr>
        <p:txBody>
          <a:bodyPr wrap="square" lIns="0" tIns="0" rIns="0" bIns="0" rtlCol="0" anchor="t">
            <a:spAutoFit/>
          </a:bodyPr>
          <a:lstStyle/>
          <a:p>
            <a:pPr marL="0" indent="0" algn="l">
              <a:lnSpc>
                <a:spcPts val="5200"/>
              </a:lnSpc>
              <a:buNone/>
            </a:pPr>
            <a:r>
              <a:rPr lang="en-US" sz="3600" b="1" dirty="0">
                <a:solidFill>
                  <a:srgbClr val="18181B"/>
                </a:solidFill>
                <a:latin typeface="Playfair Display" pitchFamily="34" charset="0"/>
                <a:ea typeface="Playfair Display" pitchFamily="34" charset="-122"/>
                <a:cs typeface="Playfair Display" pitchFamily="34" charset="-120"/>
              </a:rPr>
              <a:t>AI in Construction Cost Management</a:t>
            </a:r>
            <a:endParaRPr lang="en-US" sz="3600" dirty="0"/>
          </a:p>
        </p:txBody>
      </p:sp>
      <p:sp>
        <p:nvSpPr>
          <p:cNvPr id="5" name="Text 1"/>
          <p:cNvSpPr/>
          <p:nvPr/>
        </p:nvSpPr>
        <p:spPr>
          <a:xfrm>
            <a:off x="274890" y="2486734"/>
            <a:ext cx="4637809" cy="553641"/>
          </a:xfrm>
          <a:prstGeom prst="rect">
            <a:avLst/>
          </a:prstGeom>
          <a:noFill/>
          <a:ln/>
        </p:spPr>
        <p:txBody>
          <a:bodyPr wrap="square" lIns="0" tIns="0" rIns="0" bIns="0" rtlCol="0" anchor="t">
            <a:spAutoFit/>
          </a:bodyPr>
          <a:lstStyle/>
          <a:p>
            <a:pPr marL="0" indent="0" algn="l">
              <a:lnSpc>
                <a:spcPts val="2200"/>
              </a:lnSpc>
              <a:buNone/>
            </a:pPr>
            <a:r>
              <a:rPr lang="en-US" sz="1600" b="1" dirty="0">
                <a:solidFill>
                  <a:srgbClr val="92D050"/>
                </a:solidFill>
                <a:latin typeface="Inter" pitchFamily="34" charset="0"/>
                <a:ea typeface="Inter" pitchFamily="34" charset="-122"/>
                <a:cs typeface="Inter" pitchFamily="34" charset="-120"/>
              </a:rPr>
              <a:t>Enhancing Estimation Accuracy and Mitigating Risks in Residential and Infrastructure Projects</a:t>
            </a:r>
            <a:endParaRPr lang="en-US" sz="1600" dirty="0">
              <a:solidFill>
                <a:srgbClr val="92D050"/>
              </a:solidFill>
            </a:endParaRPr>
          </a:p>
        </p:txBody>
      </p:sp>
      <p:sp>
        <p:nvSpPr>
          <p:cNvPr id="6" name="Text 2"/>
          <p:cNvSpPr/>
          <p:nvPr/>
        </p:nvSpPr>
        <p:spPr>
          <a:xfrm>
            <a:off x="345757" y="3431829"/>
            <a:ext cx="993542" cy="145809"/>
          </a:xfrm>
          <a:prstGeom prst="rect">
            <a:avLst/>
          </a:prstGeom>
          <a:noFill/>
          <a:ln/>
        </p:spPr>
        <p:txBody>
          <a:bodyPr wrap="none" lIns="0" tIns="0" rIns="0" bIns="0" rtlCol="0" anchor="t">
            <a:spAutoFit/>
          </a:bodyPr>
          <a:lstStyle/>
          <a:p>
            <a:pPr marL="0" indent="0" algn="l">
              <a:lnSpc>
                <a:spcPts val="900"/>
              </a:lnSpc>
              <a:buNone/>
            </a:pPr>
            <a:r>
              <a:rPr lang="en-US" b="1" kern="0" spc="1" dirty="0">
                <a:solidFill>
                  <a:srgbClr val="A1A1AA"/>
                </a:solidFill>
                <a:latin typeface="Inter" pitchFamily="34" charset="0"/>
                <a:ea typeface="Inter" pitchFamily="34" charset="-122"/>
                <a:cs typeface="Inter" pitchFamily="34" charset="-120"/>
              </a:rPr>
              <a:t>Presenter:</a:t>
            </a:r>
            <a:endParaRPr lang="en-US" sz="727" b="1" dirty="0"/>
          </a:p>
        </p:txBody>
      </p:sp>
      <p:sp>
        <p:nvSpPr>
          <p:cNvPr id="7" name="Text 3"/>
          <p:cNvSpPr/>
          <p:nvPr/>
        </p:nvSpPr>
        <p:spPr>
          <a:xfrm>
            <a:off x="345757" y="3766298"/>
            <a:ext cx="1966949" cy="179536"/>
          </a:xfrm>
          <a:prstGeom prst="rect">
            <a:avLst/>
          </a:prstGeom>
          <a:noFill/>
          <a:ln/>
        </p:spPr>
        <p:txBody>
          <a:bodyPr wrap="none" lIns="0" tIns="0" rIns="0" bIns="0" rtlCol="0" anchor="t">
            <a:spAutoFit/>
          </a:bodyPr>
          <a:lstStyle/>
          <a:p>
            <a:pPr marL="0" indent="0" algn="l">
              <a:lnSpc>
                <a:spcPts val="1400"/>
              </a:lnSpc>
              <a:buNone/>
            </a:pPr>
            <a:r>
              <a:rPr lang="en-US" sz="1200" b="1" dirty="0">
                <a:solidFill>
                  <a:srgbClr val="18181B"/>
                </a:solidFill>
                <a:latin typeface="Inter" pitchFamily="34" charset="0"/>
                <a:ea typeface="Inter" pitchFamily="34" charset="-122"/>
              </a:rPr>
              <a:t>Mostafa Abdellatif  - 23227500</a:t>
            </a:r>
            <a:endParaRPr lang="en-US" sz="1200" b="1" dirty="0"/>
          </a:p>
        </p:txBody>
      </p:sp>
      <p:sp>
        <p:nvSpPr>
          <p:cNvPr id="8" name="Text 4"/>
          <p:cNvSpPr/>
          <p:nvPr/>
        </p:nvSpPr>
        <p:spPr>
          <a:xfrm>
            <a:off x="1880592" y="4132827"/>
            <a:ext cx="65" cy="111184"/>
          </a:xfrm>
          <a:prstGeom prst="rect">
            <a:avLst/>
          </a:prstGeom>
          <a:noFill/>
          <a:ln/>
        </p:spPr>
        <p:txBody>
          <a:bodyPr wrap="none" lIns="0" tIns="0" rIns="0" bIns="0" rtlCol="0" anchor="t">
            <a:spAutoFit/>
          </a:bodyPr>
          <a:lstStyle/>
          <a:p>
            <a:pPr marL="0" indent="0" algn="l">
              <a:lnSpc>
                <a:spcPts val="900"/>
              </a:lnSpc>
              <a:buNone/>
            </a:pPr>
            <a:endParaRPr lang="en-US" sz="727" dirty="0"/>
          </a:p>
        </p:txBody>
      </p:sp>
      <p:sp>
        <p:nvSpPr>
          <p:cNvPr id="9" name="Text 5"/>
          <p:cNvSpPr/>
          <p:nvPr/>
        </p:nvSpPr>
        <p:spPr>
          <a:xfrm>
            <a:off x="4190159" y="4292510"/>
            <a:ext cx="65" cy="168059"/>
          </a:xfrm>
          <a:prstGeom prst="rect">
            <a:avLst/>
          </a:prstGeom>
          <a:noFill/>
          <a:ln/>
        </p:spPr>
        <p:txBody>
          <a:bodyPr wrap="none" lIns="0" tIns="0" rIns="0" bIns="0" rtlCol="0" anchor="t">
            <a:spAutoFit/>
          </a:bodyPr>
          <a:lstStyle/>
          <a:p>
            <a:pPr marL="0" indent="0" algn="l">
              <a:lnSpc>
                <a:spcPts val="1400"/>
              </a:lnSpc>
              <a:buNone/>
            </a:pPr>
            <a:endParaRPr lang="en-US" sz="987" dirty="0"/>
          </a:p>
        </p:txBody>
      </p:sp>
      <p:sp>
        <p:nvSpPr>
          <p:cNvPr id="10" name="Text 6"/>
          <p:cNvSpPr/>
          <p:nvPr/>
        </p:nvSpPr>
        <p:spPr>
          <a:xfrm>
            <a:off x="5125639" y="4120159"/>
            <a:ext cx="65" cy="111184"/>
          </a:xfrm>
          <a:prstGeom prst="rect">
            <a:avLst/>
          </a:prstGeom>
          <a:noFill/>
          <a:ln/>
        </p:spPr>
        <p:txBody>
          <a:bodyPr wrap="none" lIns="0" tIns="0" rIns="0" bIns="0" rtlCol="0" anchor="t">
            <a:spAutoFit/>
          </a:bodyPr>
          <a:lstStyle/>
          <a:p>
            <a:pPr marL="0" indent="0" algn="l">
              <a:lnSpc>
                <a:spcPts val="900"/>
              </a:lnSpc>
              <a:buNone/>
            </a:pPr>
            <a:endParaRPr lang="en-US" sz="727" dirty="0"/>
          </a:p>
        </p:txBody>
      </p:sp>
      <p:sp>
        <p:nvSpPr>
          <p:cNvPr id="11" name="Text 7"/>
          <p:cNvSpPr/>
          <p:nvPr/>
        </p:nvSpPr>
        <p:spPr>
          <a:xfrm>
            <a:off x="5125640" y="4303742"/>
            <a:ext cx="65" cy="168059"/>
          </a:xfrm>
          <a:prstGeom prst="rect">
            <a:avLst/>
          </a:prstGeom>
          <a:noFill/>
          <a:ln/>
        </p:spPr>
        <p:txBody>
          <a:bodyPr wrap="none" lIns="0" tIns="0" rIns="0" bIns="0" rtlCol="0" anchor="t">
            <a:spAutoFit/>
          </a:bodyPr>
          <a:lstStyle/>
          <a:p>
            <a:pPr marL="0" indent="0" algn="l">
              <a:lnSpc>
                <a:spcPts val="1400"/>
              </a:lnSpc>
              <a:buNone/>
            </a:pPr>
            <a:endParaRPr lang="en-US" sz="987" dirty="0"/>
          </a:p>
        </p:txBody>
      </p:sp>
      <p:sp>
        <p:nvSpPr>
          <p:cNvPr id="12" name="TextBox 11">
            <a:extLst>
              <a:ext uri="{FF2B5EF4-FFF2-40B4-BE49-F238E27FC236}">
                <a16:creationId xmlns:a16="http://schemas.microsoft.com/office/drawing/2014/main" id="{0F939F40-F280-CF7A-84F0-7C4499AB5EC0}"/>
              </a:ext>
            </a:extLst>
          </p:cNvPr>
          <p:cNvSpPr txBox="1"/>
          <p:nvPr/>
        </p:nvSpPr>
        <p:spPr>
          <a:xfrm>
            <a:off x="2737541" y="3718881"/>
            <a:ext cx="2329131" cy="279628"/>
          </a:xfrm>
          <a:prstGeom prst="rect">
            <a:avLst/>
          </a:prstGeom>
          <a:noFill/>
        </p:spPr>
        <p:txBody>
          <a:bodyPr wrap="square">
            <a:spAutoFit/>
          </a:bodyPr>
          <a:lstStyle/>
          <a:p>
            <a:pPr marL="0" indent="0" algn="l">
              <a:lnSpc>
                <a:spcPts val="1400"/>
              </a:lnSpc>
              <a:buNone/>
            </a:pPr>
            <a:r>
              <a:rPr lang="en-US" sz="1600" b="1" dirty="0">
                <a:solidFill>
                  <a:srgbClr val="18181B"/>
                </a:solidFill>
                <a:latin typeface="Inter" pitchFamily="34" charset="0"/>
                <a:ea typeface="Inter" pitchFamily="34" charset="-122"/>
              </a:rPr>
              <a:t>Prof. Ahmed El </a:t>
            </a:r>
            <a:r>
              <a:rPr lang="en-US" sz="1600" b="1" dirty="0" err="1">
                <a:solidFill>
                  <a:srgbClr val="18181B"/>
                </a:solidFill>
                <a:latin typeface="Inter" pitchFamily="34" charset="0"/>
                <a:ea typeface="Inter" pitchFamily="34" charset="-122"/>
              </a:rPr>
              <a:t>seddawy</a:t>
            </a:r>
            <a:endParaRPr lang="en-US" sz="1600" b="1" dirty="0"/>
          </a:p>
        </p:txBody>
      </p:sp>
      <p:sp>
        <p:nvSpPr>
          <p:cNvPr id="13" name="Text 2">
            <a:extLst>
              <a:ext uri="{FF2B5EF4-FFF2-40B4-BE49-F238E27FC236}">
                <a16:creationId xmlns:a16="http://schemas.microsoft.com/office/drawing/2014/main" id="{2563BCE7-4B14-4F5F-BE91-3E813A43D953}"/>
              </a:ext>
            </a:extLst>
          </p:cNvPr>
          <p:cNvSpPr/>
          <p:nvPr/>
        </p:nvSpPr>
        <p:spPr>
          <a:xfrm>
            <a:off x="3201091" y="3417212"/>
            <a:ext cx="1196033" cy="140680"/>
          </a:xfrm>
          <a:prstGeom prst="rect">
            <a:avLst/>
          </a:prstGeom>
          <a:noFill/>
          <a:ln/>
        </p:spPr>
        <p:txBody>
          <a:bodyPr wrap="none" lIns="0" tIns="0" rIns="0" bIns="0" rtlCol="0" anchor="t">
            <a:spAutoFit/>
          </a:bodyPr>
          <a:lstStyle/>
          <a:p>
            <a:pPr marL="0" indent="0" algn="l">
              <a:lnSpc>
                <a:spcPts val="900"/>
              </a:lnSpc>
              <a:buNone/>
            </a:pPr>
            <a:r>
              <a:rPr lang="en-US" sz="1600" b="1" kern="0" spc="1" dirty="0">
                <a:solidFill>
                  <a:srgbClr val="A1A1AA"/>
                </a:solidFill>
                <a:latin typeface="Inter" pitchFamily="34" charset="0"/>
                <a:ea typeface="Inter" pitchFamily="34" charset="-122"/>
              </a:rPr>
              <a:t>Presented to :</a:t>
            </a:r>
            <a:endParaRPr lang="en-US" sz="1600" b="1" dirty="0"/>
          </a:p>
        </p:txBody>
      </p:sp>
      <p:pic>
        <p:nvPicPr>
          <p:cNvPr id="1028" name="Picture 4">
            <a:extLst>
              <a:ext uri="{FF2B5EF4-FFF2-40B4-BE49-F238E27FC236}">
                <a16:creationId xmlns:a16="http://schemas.microsoft.com/office/drawing/2014/main" id="{F5883E61-629F-6F5A-6FE3-C4A542F9EA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2540" y="68970"/>
            <a:ext cx="3710622" cy="4967157"/>
          </a:xfrm>
          <a:prstGeom prst="rect">
            <a:avLst/>
          </a:prstGeom>
          <a:noFill/>
          <a:ln w="19050">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1030" name="Picture 6" descr="AASTMT Media Center - المركز الإعلامى للأكاديمية العربية ...">
            <a:extLst>
              <a:ext uri="{FF2B5EF4-FFF2-40B4-BE49-F238E27FC236}">
                <a16:creationId xmlns:a16="http://schemas.microsoft.com/office/drawing/2014/main" id="{066DE5C9-DB37-7D25-D776-BD894508FB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09" y="68970"/>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273627" y="633845"/>
            <a:ext cx="4934043" cy="418384"/>
          </a:xfrm>
          <a:prstGeom prst="rect">
            <a:avLst/>
          </a:prstGeom>
          <a:noFill/>
          <a:ln/>
        </p:spPr>
        <p:txBody>
          <a:bodyPr wrap="none" lIns="0" tIns="0" rIns="0" bIns="0" rtlCol="0" anchor="t">
            <a:spAutoFit/>
          </a:bodyPr>
          <a:lstStyle/>
          <a:p>
            <a:pPr marL="0" indent="0" algn="l">
              <a:lnSpc>
                <a:spcPts val="3800"/>
              </a:lnSpc>
              <a:buNone/>
            </a:pPr>
            <a:r>
              <a:rPr lang="en-US" b="1" u="sng" dirty="0">
                <a:solidFill>
                  <a:srgbClr val="18181B"/>
                </a:solidFill>
                <a:latin typeface="Playfair Display" pitchFamily="34" charset="0"/>
              </a:rPr>
              <a:t>Problem analysis and Business Understanding</a:t>
            </a:r>
            <a:endParaRPr lang="en-US" u="sng" dirty="0"/>
          </a:p>
        </p:txBody>
      </p:sp>
      <p:sp>
        <p:nvSpPr>
          <p:cNvPr id="5" name="Text 1"/>
          <p:cNvSpPr/>
          <p:nvPr/>
        </p:nvSpPr>
        <p:spPr>
          <a:xfrm>
            <a:off x="571498" y="1428570"/>
            <a:ext cx="1172757"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8181B"/>
                </a:solidFill>
                <a:latin typeface="Inter" pitchFamily="34" charset="0"/>
                <a:ea typeface="Inter" pitchFamily="34" charset="-122"/>
                <a:cs typeface="Inter" pitchFamily="34" charset="-120"/>
              </a:rPr>
              <a:t>Industry Reality</a:t>
            </a:r>
            <a:endParaRPr lang="en-US" sz="1400" dirty="0"/>
          </a:p>
        </p:txBody>
      </p:sp>
      <p:sp>
        <p:nvSpPr>
          <p:cNvPr id="6" name="Text 2"/>
          <p:cNvSpPr/>
          <p:nvPr/>
        </p:nvSpPr>
        <p:spPr>
          <a:xfrm>
            <a:off x="571498" y="1834180"/>
            <a:ext cx="3786188" cy="603755"/>
          </a:xfrm>
          <a:prstGeom prst="rect">
            <a:avLst/>
          </a:prstGeom>
          <a:noFill/>
          <a:ln/>
        </p:spPr>
        <p:txBody>
          <a:bodyPr wrap="square" lIns="0" tIns="0" rIns="0" bIns="0" rtlCol="0" anchor="t">
            <a:spAutoFit/>
          </a:bodyPr>
          <a:lstStyle/>
          <a:p>
            <a:pPr>
              <a:lnSpc>
                <a:spcPts val="1600"/>
              </a:lnSpc>
            </a:pPr>
            <a:r>
              <a:rPr lang="en-US" sz="1200" b="1" dirty="0">
                <a:solidFill>
                  <a:srgbClr val="52525B"/>
                </a:solidFill>
                <a:latin typeface="Inter" pitchFamily="34" charset="0"/>
                <a:ea typeface="Inter" pitchFamily="34" charset="-122"/>
                <a:cs typeface="Inter" pitchFamily="34" charset="-120"/>
              </a:rPr>
              <a:t>The construction sector is a cornerstone of the country’s GDP, but it is plagued by market volatility and productivity fluctuations.</a:t>
            </a:r>
            <a:endParaRPr lang="en-US" sz="942" dirty="0"/>
          </a:p>
        </p:txBody>
      </p:sp>
      <p:sp>
        <p:nvSpPr>
          <p:cNvPr id="7" name="Text 3"/>
          <p:cNvSpPr/>
          <p:nvPr/>
        </p:nvSpPr>
        <p:spPr>
          <a:xfrm>
            <a:off x="571498" y="2598931"/>
            <a:ext cx="945195"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8181B"/>
                </a:solidFill>
                <a:latin typeface="Inter" pitchFamily="34" charset="0"/>
                <a:ea typeface="Inter" pitchFamily="34" charset="-122"/>
                <a:cs typeface="Inter" pitchFamily="34" charset="-120"/>
              </a:rPr>
              <a:t>The Problem</a:t>
            </a:r>
            <a:endParaRPr lang="en-US" sz="1400" dirty="0"/>
          </a:p>
        </p:txBody>
      </p:sp>
      <p:sp>
        <p:nvSpPr>
          <p:cNvPr id="8" name="Text 4"/>
          <p:cNvSpPr/>
          <p:nvPr/>
        </p:nvSpPr>
        <p:spPr>
          <a:xfrm>
            <a:off x="571498" y="2894417"/>
            <a:ext cx="3786188" cy="604717"/>
          </a:xfrm>
          <a:prstGeom prst="rect">
            <a:avLst/>
          </a:prstGeom>
          <a:noFill/>
          <a:ln/>
        </p:spPr>
        <p:txBody>
          <a:bodyPr wrap="square" lIns="0" tIns="0" rIns="0" bIns="0" rtlCol="0" anchor="t">
            <a:spAutoFit/>
          </a:bodyPr>
          <a:lstStyle/>
          <a:p>
            <a:pPr>
              <a:lnSpc>
                <a:spcPts val="1600"/>
              </a:lnSpc>
            </a:pPr>
            <a:r>
              <a:rPr lang="en-US" sz="1200" b="1" dirty="0">
                <a:solidFill>
                  <a:srgbClr val="52525B"/>
                </a:solidFill>
                <a:latin typeface="Inter" pitchFamily="34" charset="0"/>
                <a:ea typeface="Inter" pitchFamily="34" charset="-122"/>
              </a:rPr>
              <a:t>Traditional estimation methods are often prone to inaccuracies, creating budget overruns, delays, disputes, and project risk.</a:t>
            </a:r>
          </a:p>
        </p:txBody>
      </p:sp>
      <p:sp>
        <p:nvSpPr>
          <p:cNvPr id="9" name="Text 5"/>
          <p:cNvSpPr/>
          <p:nvPr/>
        </p:nvSpPr>
        <p:spPr>
          <a:xfrm>
            <a:off x="571498" y="3727424"/>
            <a:ext cx="1064394" cy="205184"/>
          </a:xfrm>
          <a:prstGeom prst="rect">
            <a:avLst/>
          </a:prstGeom>
          <a:noFill/>
          <a:ln/>
        </p:spPr>
        <p:txBody>
          <a:bodyPr wrap="none" lIns="0" tIns="0" rIns="0" bIns="0" rtlCol="0" anchor="t">
            <a:spAutoFit/>
          </a:bodyPr>
          <a:lstStyle/>
          <a:p>
            <a:pPr marL="0" indent="0" algn="l">
              <a:lnSpc>
                <a:spcPts val="1600"/>
              </a:lnSpc>
              <a:buNone/>
            </a:pPr>
            <a:r>
              <a:rPr lang="en-US" sz="1400" b="1" dirty="0">
                <a:solidFill>
                  <a:srgbClr val="18181B"/>
                </a:solidFill>
                <a:latin typeface="Inter" pitchFamily="34" charset="0"/>
                <a:ea typeface="Inter" pitchFamily="34" charset="-122"/>
                <a:cs typeface="Inter" pitchFamily="34" charset="-120"/>
              </a:rPr>
              <a:t>Consequences</a:t>
            </a:r>
            <a:endParaRPr lang="en-US" sz="1400" dirty="0"/>
          </a:p>
        </p:txBody>
      </p:sp>
      <p:sp>
        <p:nvSpPr>
          <p:cNvPr id="10" name="Text 6"/>
          <p:cNvSpPr/>
          <p:nvPr/>
        </p:nvSpPr>
        <p:spPr>
          <a:xfrm>
            <a:off x="571500" y="4153979"/>
            <a:ext cx="3786188" cy="399725"/>
          </a:xfrm>
          <a:prstGeom prst="rect">
            <a:avLst/>
          </a:prstGeom>
          <a:noFill/>
          <a:ln/>
        </p:spPr>
        <p:txBody>
          <a:bodyPr wrap="square" lIns="0" tIns="0" rIns="0" bIns="0" rtlCol="0" anchor="t">
            <a:spAutoFit/>
          </a:bodyPr>
          <a:lstStyle/>
          <a:p>
            <a:pPr marL="0" indent="0" algn="l">
              <a:lnSpc>
                <a:spcPts val="1600"/>
              </a:lnSpc>
              <a:buNone/>
            </a:pPr>
            <a:r>
              <a:rPr lang="en-US" sz="1200" b="1" dirty="0">
                <a:solidFill>
                  <a:srgbClr val="52525B"/>
                </a:solidFill>
                <a:latin typeface="Inter" pitchFamily="34" charset="0"/>
                <a:ea typeface="Inter" pitchFamily="34" charset="-122"/>
              </a:rPr>
              <a:t>Financial instability, stakeholder disputes, and reduced ROI that threaten project viability and economic growth.</a:t>
            </a:r>
          </a:p>
        </p:txBody>
      </p:sp>
      <p:sp>
        <p:nvSpPr>
          <p:cNvPr id="12" name="Text 8"/>
          <p:cNvSpPr/>
          <p:nvPr/>
        </p:nvSpPr>
        <p:spPr>
          <a:xfrm>
            <a:off x="4572000" y="1293230"/>
            <a:ext cx="2539157" cy="1022331"/>
          </a:xfrm>
          <a:prstGeom prst="rect">
            <a:avLst/>
          </a:prstGeom>
          <a:noFill/>
          <a:ln/>
        </p:spPr>
        <p:txBody>
          <a:bodyPr wrap="none" lIns="0" tIns="0" rIns="0" bIns="0" rtlCol="0" anchor="t">
            <a:spAutoFit/>
          </a:bodyPr>
          <a:lstStyle/>
          <a:p>
            <a:pPr marL="0" indent="0" algn="ctr">
              <a:lnSpc>
                <a:spcPts val="7900"/>
              </a:lnSpc>
              <a:buNone/>
            </a:pPr>
            <a:r>
              <a:rPr lang="en-US" sz="8000" b="1" dirty="0">
                <a:solidFill>
                  <a:schemeClr val="tx1">
                    <a:lumMod val="50000"/>
                    <a:lumOff val="50000"/>
                  </a:schemeClr>
                </a:solidFill>
                <a:latin typeface="Playfair Display" pitchFamily="34" charset="0"/>
                <a:ea typeface="Playfair Display" pitchFamily="34" charset="-122"/>
                <a:cs typeface="Playfair Display" pitchFamily="34" charset="-120"/>
              </a:rPr>
              <a:t>40%+</a:t>
            </a:r>
            <a:endParaRPr lang="en-US" sz="8000" dirty="0">
              <a:solidFill>
                <a:schemeClr val="tx1">
                  <a:lumMod val="50000"/>
                  <a:lumOff val="50000"/>
                </a:schemeClr>
              </a:solidFill>
            </a:endParaRPr>
          </a:p>
        </p:txBody>
      </p:sp>
      <p:sp>
        <p:nvSpPr>
          <p:cNvPr id="13" name="Text 9"/>
          <p:cNvSpPr/>
          <p:nvPr/>
        </p:nvSpPr>
        <p:spPr>
          <a:xfrm>
            <a:off x="4514222" y="3016661"/>
            <a:ext cx="2654712" cy="360227"/>
          </a:xfrm>
          <a:prstGeom prst="rect">
            <a:avLst/>
          </a:prstGeom>
          <a:noFill/>
          <a:ln/>
        </p:spPr>
        <p:txBody>
          <a:bodyPr wrap="square" lIns="0" tIns="0" rIns="0" bIns="0" rtlCol="0" anchor="t">
            <a:spAutoFit/>
          </a:bodyPr>
          <a:lstStyle/>
          <a:p>
            <a:pPr marL="0" indent="0" algn="ctr">
              <a:lnSpc>
                <a:spcPts val="1400"/>
              </a:lnSpc>
              <a:buNone/>
            </a:pPr>
            <a:r>
              <a:rPr lang="en-US" sz="1400" b="1" dirty="0">
                <a:solidFill>
                  <a:srgbClr val="00B050"/>
                </a:solidFill>
                <a:latin typeface="Inter" pitchFamily="34" charset="0"/>
                <a:ea typeface="Inter" pitchFamily="34" charset="-122"/>
                <a:cs typeface="Inter" pitchFamily="34" charset="-120"/>
              </a:rPr>
              <a:t>Average cost overruns in large-scale megaprojects globally.</a:t>
            </a:r>
            <a:endParaRPr lang="en-US" sz="1400" dirty="0">
              <a:solidFill>
                <a:srgbClr val="00B050"/>
              </a:solidFill>
            </a:endParaRPr>
          </a:p>
        </p:txBody>
      </p:sp>
      <p:pic>
        <p:nvPicPr>
          <p:cNvPr id="2" name="Picture 6" descr="AASTMT Media Center - المركز الإعلامى للأكاديمية العربية ...">
            <a:extLst>
              <a:ext uri="{FF2B5EF4-FFF2-40B4-BE49-F238E27FC236}">
                <a16:creationId xmlns:a16="http://schemas.microsoft.com/office/drawing/2014/main" id="{73231ECC-693F-4924-3CE5-22F1A03EF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92"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
        <p:nvSpPr>
          <p:cNvPr id="3" name="Text 8">
            <a:extLst>
              <a:ext uri="{FF2B5EF4-FFF2-40B4-BE49-F238E27FC236}">
                <a16:creationId xmlns:a16="http://schemas.microsoft.com/office/drawing/2014/main" id="{985D6EC0-CF8C-4469-BC06-028178DC3C51}"/>
              </a:ext>
            </a:extLst>
          </p:cNvPr>
          <p:cNvSpPr/>
          <p:nvPr/>
        </p:nvSpPr>
        <p:spPr>
          <a:xfrm>
            <a:off x="4842907" y="1910583"/>
            <a:ext cx="1997342" cy="829394"/>
          </a:xfrm>
          <a:prstGeom prst="rect">
            <a:avLst/>
          </a:prstGeom>
          <a:noFill/>
          <a:ln/>
        </p:spPr>
        <p:txBody>
          <a:bodyPr wrap="none" lIns="0" tIns="0" rIns="0" bIns="0" rtlCol="0" anchor="t">
            <a:spAutoFit/>
          </a:bodyPr>
          <a:lstStyle/>
          <a:p>
            <a:pPr algn="ctr">
              <a:lnSpc>
                <a:spcPts val="7900"/>
              </a:lnSpc>
            </a:pPr>
            <a:r>
              <a:rPr lang="en-US" sz="2400" b="1" dirty="0">
                <a:solidFill>
                  <a:schemeClr val="tx1">
                    <a:lumMod val="50000"/>
                    <a:lumOff val="50000"/>
                  </a:schemeClr>
                </a:solidFill>
                <a:latin typeface="Playfair Display" pitchFamily="34" charset="0"/>
              </a:rPr>
              <a:t>over $1 billion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p:nvPr/>
        </p:nvSpPr>
        <p:spPr>
          <a:xfrm>
            <a:off x="571500" y="628650"/>
            <a:ext cx="2446182" cy="449482"/>
          </a:xfrm>
          <a:prstGeom prst="rect">
            <a:avLst/>
          </a:prstGeom>
          <a:noFill/>
          <a:ln/>
        </p:spPr>
        <p:txBody>
          <a:bodyPr wrap="none" lIns="0" tIns="0" rIns="0" bIns="0" rtlCol="0" anchor="t">
            <a:spAutoFit/>
          </a:bodyPr>
          <a:lstStyle/>
          <a:p>
            <a:pPr marL="0" indent="0" algn="l">
              <a:lnSpc>
                <a:spcPts val="3800"/>
              </a:lnSpc>
              <a:buNone/>
            </a:pPr>
            <a:r>
              <a:rPr lang="en-US" sz="2862" b="1" dirty="0">
                <a:solidFill>
                  <a:srgbClr val="18181B"/>
                </a:solidFill>
                <a:latin typeface="Playfair Display" pitchFamily="34" charset="0"/>
                <a:ea typeface="Playfair Display" pitchFamily="34" charset="-122"/>
                <a:cs typeface="Playfair Display" pitchFamily="34" charset="-120"/>
              </a:rPr>
              <a:t>Data Analytics</a:t>
            </a:r>
            <a:endParaRPr lang="en-US" sz="2862" dirty="0"/>
          </a:p>
        </p:txBody>
      </p:sp>
      <p:sp>
        <p:nvSpPr>
          <p:cNvPr id="5" name="Text 1"/>
          <p:cNvSpPr/>
          <p:nvPr/>
        </p:nvSpPr>
        <p:spPr>
          <a:xfrm>
            <a:off x="571500" y="1282590"/>
            <a:ext cx="1024127" cy="205184"/>
          </a:xfrm>
          <a:prstGeom prst="rect">
            <a:avLst/>
          </a:prstGeom>
          <a:noFill/>
          <a:ln/>
        </p:spPr>
        <p:txBody>
          <a:bodyPr wrap="none" lIns="0" tIns="0" rIns="0" bIns="0" rtlCol="0" anchor="t">
            <a:spAutoFit/>
          </a:bodyPr>
          <a:lstStyle/>
          <a:p>
            <a:pPr marL="0" indent="0" algn="l">
              <a:lnSpc>
                <a:spcPts val="1600"/>
              </a:lnSpc>
              <a:buNone/>
            </a:pPr>
            <a:r>
              <a:rPr lang="en-US" sz="1400" b="1" kern="0" spc="1" dirty="0">
                <a:solidFill>
                  <a:srgbClr val="18181B"/>
                </a:solidFill>
                <a:latin typeface="Inter" pitchFamily="34" charset="0"/>
                <a:ea typeface="Inter" pitchFamily="34" charset="-122"/>
                <a:cs typeface="Inter" pitchFamily="34" charset="-120"/>
              </a:rPr>
              <a:t>STUDY SCOPE</a:t>
            </a:r>
            <a:endParaRPr lang="en-US" sz="1400" dirty="0"/>
          </a:p>
        </p:txBody>
      </p:sp>
      <p:sp>
        <p:nvSpPr>
          <p:cNvPr id="6" name="Text 2"/>
          <p:cNvSpPr/>
          <p:nvPr/>
        </p:nvSpPr>
        <p:spPr>
          <a:xfrm>
            <a:off x="571500" y="1637150"/>
            <a:ext cx="4480917" cy="388183"/>
          </a:xfrm>
          <a:prstGeom prst="rect">
            <a:avLst/>
          </a:prstGeom>
          <a:noFill/>
          <a:ln/>
        </p:spPr>
        <p:txBody>
          <a:bodyPr wrap="square" lIns="0" tIns="0" rIns="0" bIns="0" rtlCol="0" anchor="t">
            <a:spAutoFit/>
          </a:bodyPr>
          <a:lstStyle/>
          <a:p>
            <a:pPr marL="0" indent="0" algn="l">
              <a:lnSpc>
                <a:spcPts val="1600"/>
              </a:lnSpc>
              <a:buNone/>
            </a:pPr>
            <a:r>
              <a:rPr lang="en-US" sz="1000" b="1" dirty="0">
                <a:solidFill>
                  <a:srgbClr val="52525B"/>
                </a:solidFill>
                <a:latin typeface="Inter" pitchFamily="34" charset="0"/>
                <a:ea typeface="Inter" pitchFamily="34" charset="-122"/>
                <a:cs typeface="Inter" pitchFamily="34" charset="-120"/>
              </a:rPr>
              <a:t>A comparative quantitative analysis evaluating the effectiveness of AI-driven cost estimation against traditional manual methods across diverse sectors.</a:t>
            </a:r>
            <a:endParaRPr lang="en-US" sz="1000" b="1" dirty="0"/>
          </a:p>
        </p:txBody>
      </p:sp>
      <p:sp>
        <p:nvSpPr>
          <p:cNvPr id="7" name="Text 3"/>
          <p:cNvSpPr/>
          <p:nvPr/>
        </p:nvSpPr>
        <p:spPr>
          <a:xfrm>
            <a:off x="571499" y="2301927"/>
            <a:ext cx="1531188" cy="206531"/>
          </a:xfrm>
          <a:prstGeom prst="rect">
            <a:avLst/>
          </a:prstGeom>
          <a:noFill/>
          <a:ln/>
        </p:spPr>
        <p:txBody>
          <a:bodyPr wrap="none" lIns="0" tIns="0" rIns="0" bIns="0" rtlCol="0" anchor="t">
            <a:spAutoFit/>
          </a:bodyPr>
          <a:lstStyle/>
          <a:p>
            <a:pPr marL="0" indent="0" algn="l">
              <a:lnSpc>
                <a:spcPts val="1600"/>
              </a:lnSpc>
              <a:buNone/>
            </a:pPr>
            <a:r>
              <a:rPr lang="en-US" sz="1600" b="1" kern="0" spc="1" dirty="0">
                <a:solidFill>
                  <a:srgbClr val="18181B"/>
                </a:solidFill>
                <a:latin typeface="Inter" pitchFamily="34" charset="0"/>
                <a:ea typeface="Inter" pitchFamily="34" charset="-122"/>
                <a:cs typeface="Inter" pitchFamily="34" charset="-120"/>
              </a:rPr>
              <a:t>KEY DATA POINTS</a:t>
            </a:r>
            <a:endParaRPr lang="en-US" sz="1600" dirty="0"/>
          </a:p>
        </p:txBody>
      </p:sp>
      <p:sp>
        <p:nvSpPr>
          <p:cNvPr id="8" name="Shape 4"/>
          <p:cNvSpPr/>
          <p:nvPr/>
        </p:nvSpPr>
        <p:spPr>
          <a:xfrm>
            <a:off x="566596" y="2591822"/>
            <a:ext cx="2214563" cy="237530"/>
          </a:xfrm>
          <a:prstGeom prst="rect">
            <a:avLst/>
          </a:prstGeom>
          <a:solidFill>
            <a:srgbClr val="FFFFFF"/>
          </a:solidFill>
          <a:ln w="9144">
            <a:solidFill>
              <a:srgbClr val="E4E4E7"/>
            </a:solidFill>
            <a:prstDash val="solid"/>
          </a:ln>
        </p:spPr>
        <p:txBody>
          <a:bodyPr/>
          <a:lstStyle/>
          <a:p>
            <a:endParaRPr lang="en-US"/>
          </a:p>
        </p:txBody>
      </p:sp>
      <p:sp>
        <p:nvSpPr>
          <p:cNvPr id="9" name="Text 5"/>
          <p:cNvSpPr/>
          <p:nvPr/>
        </p:nvSpPr>
        <p:spPr>
          <a:xfrm>
            <a:off x="542924" y="2536587"/>
            <a:ext cx="2214563" cy="244169"/>
          </a:xfrm>
          <a:prstGeom prst="rect">
            <a:avLst/>
          </a:prstGeom>
          <a:noFill/>
          <a:ln/>
        </p:spPr>
        <p:txBody>
          <a:bodyPr wrap="square" lIns="136017" tIns="102108" rIns="136017" bIns="0" rtlCol="0" anchor="t">
            <a:spAutoFit/>
          </a:bodyPr>
          <a:lstStyle/>
          <a:p>
            <a:pPr marL="0" indent="0" algn="l">
              <a:lnSpc>
                <a:spcPts val="1100"/>
              </a:lnSpc>
              <a:buNone/>
            </a:pPr>
            <a:r>
              <a:rPr lang="en-US" sz="1100" b="1" dirty="0">
                <a:solidFill>
                  <a:srgbClr val="52525B"/>
                </a:solidFill>
                <a:latin typeface="Inter" pitchFamily="34" charset="0"/>
                <a:ea typeface="Inter" pitchFamily="34" charset="-122"/>
                <a:cs typeface="Inter" pitchFamily="34" charset="-120"/>
              </a:rPr>
              <a:t>Project Complexity</a:t>
            </a:r>
            <a:endParaRPr lang="en-US" sz="1100" b="1" dirty="0"/>
          </a:p>
        </p:txBody>
      </p:sp>
      <p:sp>
        <p:nvSpPr>
          <p:cNvPr id="10" name="Shape 6"/>
          <p:cNvSpPr/>
          <p:nvPr/>
        </p:nvSpPr>
        <p:spPr>
          <a:xfrm>
            <a:off x="2869107" y="2599629"/>
            <a:ext cx="2214563" cy="237530"/>
          </a:xfrm>
          <a:prstGeom prst="rect">
            <a:avLst/>
          </a:prstGeom>
          <a:solidFill>
            <a:srgbClr val="FFFFFF"/>
          </a:solidFill>
          <a:ln w="9144">
            <a:solidFill>
              <a:srgbClr val="E4E4E7"/>
            </a:solidFill>
            <a:prstDash val="solid"/>
          </a:ln>
        </p:spPr>
        <p:txBody>
          <a:bodyPr/>
          <a:lstStyle/>
          <a:p>
            <a:r>
              <a:rPr lang="en-US" sz="1100" b="1" dirty="0">
                <a:solidFill>
                  <a:srgbClr val="52525B"/>
                </a:solidFill>
                <a:latin typeface="Inter" pitchFamily="34" charset="0"/>
                <a:ea typeface="Inter" pitchFamily="34" charset="-122"/>
                <a:cs typeface="Inter" pitchFamily="34" charset="-120"/>
              </a:rPr>
              <a:t>Financial Estimates</a:t>
            </a:r>
            <a:endParaRPr lang="en-US" sz="1100" b="1" dirty="0"/>
          </a:p>
          <a:p>
            <a:endParaRPr lang="en-US" dirty="0"/>
          </a:p>
        </p:txBody>
      </p:sp>
      <p:sp>
        <p:nvSpPr>
          <p:cNvPr id="11" name="Text 7"/>
          <p:cNvSpPr/>
          <p:nvPr/>
        </p:nvSpPr>
        <p:spPr>
          <a:xfrm>
            <a:off x="2757487" y="3230812"/>
            <a:ext cx="2214563" cy="237530"/>
          </a:xfrm>
          <a:prstGeom prst="rect">
            <a:avLst/>
          </a:prstGeom>
          <a:noFill/>
          <a:ln/>
        </p:spPr>
        <p:txBody>
          <a:bodyPr wrap="square" lIns="136017" tIns="102108" rIns="136017" bIns="0" rtlCol="0" anchor="t">
            <a:spAutoFit/>
          </a:bodyPr>
          <a:lstStyle/>
          <a:p>
            <a:pPr marL="0" indent="0" algn="l">
              <a:lnSpc>
                <a:spcPts val="1100"/>
              </a:lnSpc>
              <a:buNone/>
            </a:pPr>
            <a:endParaRPr lang="en-US" sz="784" dirty="0"/>
          </a:p>
        </p:txBody>
      </p:sp>
      <p:sp>
        <p:nvSpPr>
          <p:cNvPr id="12" name="Shape 8"/>
          <p:cNvSpPr/>
          <p:nvPr/>
        </p:nvSpPr>
        <p:spPr>
          <a:xfrm>
            <a:off x="571500" y="2968731"/>
            <a:ext cx="2214563" cy="237530"/>
          </a:xfrm>
          <a:prstGeom prst="rect">
            <a:avLst/>
          </a:prstGeom>
          <a:solidFill>
            <a:srgbClr val="FFFFFF"/>
          </a:solidFill>
          <a:ln w="9144">
            <a:solidFill>
              <a:srgbClr val="E4E4E7"/>
            </a:solidFill>
            <a:prstDash val="solid"/>
          </a:ln>
        </p:spPr>
        <p:txBody>
          <a:bodyPr/>
          <a:lstStyle/>
          <a:p>
            <a:endParaRPr lang="en-US"/>
          </a:p>
        </p:txBody>
      </p:sp>
      <p:sp>
        <p:nvSpPr>
          <p:cNvPr id="13" name="Text 9"/>
          <p:cNvSpPr/>
          <p:nvPr/>
        </p:nvSpPr>
        <p:spPr>
          <a:xfrm>
            <a:off x="566595" y="2896138"/>
            <a:ext cx="2214563" cy="244169"/>
          </a:xfrm>
          <a:prstGeom prst="rect">
            <a:avLst/>
          </a:prstGeom>
          <a:noFill/>
          <a:ln/>
        </p:spPr>
        <p:txBody>
          <a:bodyPr wrap="square" lIns="136017" tIns="102108" rIns="136017" bIns="0" rtlCol="0" anchor="t">
            <a:spAutoFit/>
          </a:bodyPr>
          <a:lstStyle/>
          <a:p>
            <a:pPr marL="0" indent="0" algn="l">
              <a:lnSpc>
                <a:spcPts val="1100"/>
              </a:lnSpc>
              <a:buNone/>
            </a:pPr>
            <a:r>
              <a:rPr lang="en-US" sz="1100" b="1" dirty="0">
                <a:solidFill>
                  <a:srgbClr val="52525B"/>
                </a:solidFill>
                <a:latin typeface="Inter" pitchFamily="34" charset="0"/>
                <a:ea typeface="Inter" pitchFamily="34" charset="-122"/>
                <a:cs typeface="Inter" pitchFamily="34" charset="-120"/>
              </a:rPr>
              <a:t>Actual Final Costs</a:t>
            </a:r>
            <a:endParaRPr lang="en-US" sz="1100" dirty="0"/>
          </a:p>
        </p:txBody>
      </p:sp>
      <p:sp>
        <p:nvSpPr>
          <p:cNvPr id="14" name="Shape 10"/>
          <p:cNvSpPr/>
          <p:nvPr/>
        </p:nvSpPr>
        <p:spPr>
          <a:xfrm>
            <a:off x="2889239" y="2963856"/>
            <a:ext cx="2214563" cy="237530"/>
          </a:xfrm>
          <a:prstGeom prst="rect">
            <a:avLst/>
          </a:prstGeom>
          <a:solidFill>
            <a:srgbClr val="FFFFFF"/>
          </a:solidFill>
          <a:ln w="9144">
            <a:solidFill>
              <a:srgbClr val="E4E4E7"/>
            </a:solidFill>
            <a:prstDash val="solid"/>
          </a:ln>
        </p:spPr>
        <p:txBody>
          <a:bodyPr/>
          <a:lstStyle/>
          <a:p>
            <a:endParaRPr lang="en-US" dirty="0"/>
          </a:p>
        </p:txBody>
      </p:sp>
      <p:sp>
        <p:nvSpPr>
          <p:cNvPr id="15" name="Text 11"/>
          <p:cNvSpPr/>
          <p:nvPr/>
        </p:nvSpPr>
        <p:spPr>
          <a:xfrm>
            <a:off x="2811957" y="2962092"/>
            <a:ext cx="2214563" cy="244169"/>
          </a:xfrm>
          <a:prstGeom prst="rect">
            <a:avLst/>
          </a:prstGeom>
          <a:noFill/>
          <a:ln/>
        </p:spPr>
        <p:txBody>
          <a:bodyPr wrap="square" lIns="136017" tIns="102108" rIns="136017" bIns="0" rtlCol="0" anchor="t">
            <a:spAutoFit/>
          </a:bodyPr>
          <a:lstStyle/>
          <a:p>
            <a:pPr indent="0">
              <a:lnSpc>
                <a:spcPts val="1100"/>
              </a:lnSpc>
              <a:buNone/>
            </a:pPr>
            <a:r>
              <a:rPr lang="en-US" sz="1100" b="1" dirty="0">
                <a:solidFill>
                  <a:srgbClr val="52525B"/>
                </a:solidFill>
                <a:latin typeface="Inter" pitchFamily="34" charset="0"/>
                <a:ea typeface="Inter" pitchFamily="34" charset="-122"/>
              </a:rPr>
              <a:t>Inflation Rates </a:t>
            </a:r>
          </a:p>
        </p:txBody>
      </p:sp>
      <p:sp>
        <p:nvSpPr>
          <p:cNvPr id="16" name="Shape 12"/>
          <p:cNvSpPr/>
          <p:nvPr/>
        </p:nvSpPr>
        <p:spPr>
          <a:xfrm>
            <a:off x="571499" y="3379294"/>
            <a:ext cx="2214563" cy="237530"/>
          </a:xfrm>
          <a:prstGeom prst="rect">
            <a:avLst/>
          </a:prstGeom>
          <a:solidFill>
            <a:srgbClr val="FFFFFF"/>
          </a:solidFill>
          <a:ln w="9144">
            <a:solidFill>
              <a:srgbClr val="E4E4E7"/>
            </a:solidFill>
            <a:prstDash val="solid"/>
          </a:ln>
        </p:spPr>
        <p:txBody>
          <a:bodyPr/>
          <a:lstStyle/>
          <a:p>
            <a:endParaRPr lang="en-US"/>
          </a:p>
        </p:txBody>
      </p:sp>
      <p:sp>
        <p:nvSpPr>
          <p:cNvPr id="17" name="Text 13"/>
          <p:cNvSpPr/>
          <p:nvPr/>
        </p:nvSpPr>
        <p:spPr>
          <a:xfrm>
            <a:off x="571500" y="3356829"/>
            <a:ext cx="2214563" cy="244169"/>
          </a:xfrm>
          <a:prstGeom prst="rect">
            <a:avLst/>
          </a:prstGeom>
          <a:noFill/>
          <a:ln/>
        </p:spPr>
        <p:txBody>
          <a:bodyPr wrap="square" lIns="136017" tIns="102108" rIns="136017" bIns="0" rtlCol="0" anchor="t">
            <a:spAutoFit/>
          </a:bodyPr>
          <a:lstStyle/>
          <a:p>
            <a:pPr marL="0" indent="0" algn="l">
              <a:lnSpc>
                <a:spcPts val="1100"/>
              </a:lnSpc>
              <a:buNone/>
            </a:pPr>
            <a:r>
              <a:rPr lang="en-US" sz="1100" b="1" dirty="0">
                <a:solidFill>
                  <a:srgbClr val="52525B"/>
                </a:solidFill>
                <a:latin typeface="Inter" pitchFamily="34" charset="0"/>
                <a:ea typeface="Inter" pitchFamily="34" charset="-122"/>
                <a:cs typeface="Inter" pitchFamily="34" charset="-120"/>
              </a:rPr>
              <a:t>Material/Labor Data</a:t>
            </a:r>
            <a:endParaRPr lang="en-US" sz="1100" dirty="0"/>
          </a:p>
        </p:txBody>
      </p:sp>
      <p:sp>
        <p:nvSpPr>
          <p:cNvPr id="18" name="Shape 14"/>
          <p:cNvSpPr/>
          <p:nvPr/>
        </p:nvSpPr>
        <p:spPr>
          <a:xfrm>
            <a:off x="2869107" y="3385051"/>
            <a:ext cx="2214563" cy="237530"/>
          </a:xfrm>
          <a:prstGeom prst="rect">
            <a:avLst/>
          </a:prstGeom>
          <a:solidFill>
            <a:srgbClr val="FFFFFF"/>
          </a:solidFill>
          <a:ln w="9144">
            <a:solidFill>
              <a:srgbClr val="E4E4E7"/>
            </a:solidFill>
            <a:prstDash val="solid"/>
          </a:ln>
        </p:spPr>
        <p:txBody>
          <a:bodyPr/>
          <a:lstStyle/>
          <a:p>
            <a:endParaRPr lang="en-US"/>
          </a:p>
        </p:txBody>
      </p:sp>
      <p:sp>
        <p:nvSpPr>
          <p:cNvPr id="19" name="Text 15"/>
          <p:cNvSpPr/>
          <p:nvPr/>
        </p:nvSpPr>
        <p:spPr>
          <a:xfrm>
            <a:off x="2869107" y="3380721"/>
            <a:ext cx="2214563" cy="244169"/>
          </a:xfrm>
          <a:prstGeom prst="rect">
            <a:avLst/>
          </a:prstGeom>
          <a:noFill/>
          <a:ln/>
        </p:spPr>
        <p:txBody>
          <a:bodyPr wrap="square" lIns="136017" tIns="102108" rIns="136017" bIns="0" rtlCol="0" anchor="t">
            <a:spAutoFit/>
          </a:bodyPr>
          <a:lstStyle/>
          <a:p>
            <a:pPr marL="0" indent="0" algn="l">
              <a:lnSpc>
                <a:spcPts val="1100"/>
              </a:lnSpc>
              <a:buNone/>
            </a:pPr>
            <a:r>
              <a:rPr lang="en-US" sz="1100" b="1" dirty="0">
                <a:solidFill>
                  <a:srgbClr val="52525B"/>
                </a:solidFill>
                <a:latin typeface="Inter" pitchFamily="34" charset="0"/>
                <a:ea typeface="Inter" pitchFamily="34" charset="-122"/>
                <a:cs typeface="Inter" pitchFamily="34" charset="-120"/>
              </a:rPr>
              <a:t>Risk Scores</a:t>
            </a:r>
            <a:endParaRPr lang="en-US" sz="1100" dirty="0"/>
          </a:p>
        </p:txBody>
      </p:sp>
      <p:sp>
        <p:nvSpPr>
          <p:cNvPr id="20" name="Text 16"/>
          <p:cNvSpPr/>
          <p:nvPr/>
        </p:nvSpPr>
        <p:spPr>
          <a:xfrm>
            <a:off x="540245" y="3882138"/>
            <a:ext cx="4543425"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8181B"/>
                </a:solidFill>
                <a:latin typeface="Inter" pitchFamily="34" charset="0"/>
                <a:ea typeface="Inter" pitchFamily="34" charset="-122"/>
                <a:cs typeface="Inter" pitchFamily="34" charset="-120"/>
              </a:rPr>
              <a:t>PRIMARY OBJECTIVE</a:t>
            </a:r>
            <a:endParaRPr lang="en-US" sz="1193" dirty="0"/>
          </a:p>
        </p:txBody>
      </p:sp>
      <p:sp>
        <p:nvSpPr>
          <p:cNvPr id="21" name="Text 17"/>
          <p:cNvSpPr/>
          <p:nvPr/>
        </p:nvSpPr>
        <p:spPr>
          <a:xfrm>
            <a:off x="540244" y="4162203"/>
            <a:ext cx="4543425" cy="603755"/>
          </a:xfrm>
          <a:prstGeom prst="rect">
            <a:avLst/>
          </a:prstGeom>
          <a:noFill/>
          <a:ln/>
        </p:spPr>
        <p:txBody>
          <a:bodyPr wrap="square" lIns="0" tIns="0" rIns="0" bIns="0" rtlCol="0" anchor="t">
            <a:spAutoFit/>
          </a:bodyPr>
          <a:lstStyle/>
          <a:p>
            <a:pPr marL="0" indent="0" algn="l">
              <a:lnSpc>
                <a:spcPts val="1600"/>
              </a:lnSpc>
              <a:buNone/>
            </a:pPr>
            <a:r>
              <a:rPr lang="en-US" sz="1200" b="1" dirty="0">
                <a:solidFill>
                  <a:schemeClr val="tx1">
                    <a:lumMod val="75000"/>
                    <a:lumOff val="25000"/>
                  </a:schemeClr>
                </a:solidFill>
                <a:latin typeface="Inter" pitchFamily="34" charset="0"/>
                <a:ea typeface="Inter" pitchFamily="34" charset="-122"/>
                <a:cs typeface="Inter" pitchFamily="34" charset="-120"/>
              </a:rPr>
              <a:t>To bridge the research gap by quantifying the reduction in budget overruns and accuracy improvements using large-scale empirical datasets.</a:t>
            </a:r>
            <a:endParaRPr lang="en-US" sz="1200" b="1" dirty="0">
              <a:solidFill>
                <a:schemeClr val="tx1">
                  <a:lumMod val="75000"/>
                  <a:lumOff val="25000"/>
                </a:schemeClr>
              </a:solidFill>
            </a:endParaRPr>
          </a:p>
        </p:txBody>
      </p:sp>
      <p:sp>
        <p:nvSpPr>
          <p:cNvPr id="23" name="Text 19"/>
          <p:cNvSpPr/>
          <p:nvPr/>
        </p:nvSpPr>
        <p:spPr>
          <a:xfrm>
            <a:off x="5572841" y="1183049"/>
            <a:ext cx="1418657" cy="872034"/>
          </a:xfrm>
          <a:prstGeom prst="rect">
            <a:avLst/>
          </a:prstGeom>
          <a:noFill/>
          <a:ln/>
        </p:spPr>
        <p:txBody>
          <a:bodyPr wrap="none" lIns="0" tIns="0" rIns="0" bIns="0" rtlCol="0" anchor="t">
            <a:spAutoFit/>
          </a:bodyPr>
          <a:lstStyle/>
          <a:p>
            <a:pPr marL="0" indent="0" algn="ctr">
              <a:lnSpc>
                <a:spcPts val="6800"/>
              </a:lnSpc>
              <a:buNone/>
            </a:pPr>
            <a:r>
              <a:rPr lang="en-US" sz="6218" b="1" dirty="0">
                <a:solidFill>
                  <a:schemeClr val="tx1">
                    <a:lumMod val="50000"/>
                    <a:lumOff val="50000"/>
                  </a:schemeClr>
                </a:solidFill>
                <a:latin typeface="Playfair Display" pitchFamily="34" charset="0"/>
                <a:ea typeface="Playfair Display" pitchFamily="34" charset="-122"/>
                <a:cs typeface="Playfair Display" pitchFamily="34" charset="-120"/>
              </a:rPr>
              <a:t>300</a:t>
            </a:r>
            <a:endParaRPr lang="en-US" sz="6218" dirty="0">
              <a:solidFill>
                <a:schemeClr val="tx1">
                  <a:lumMod val="50000"/>
                  <a:lumOff val="50000"/>
                </a:schemeClr>
              </a:solidFill>
            </a:endParaRPr>
          </a:p>
        </p:txBody>
      </p:sp>
      <p:sp>
        <p:nvSpPr>
          <p:cNvPr id="24" name="Text 20"/>
          <p:cNvSpPr/>
          <p:nvPr/>
        </p:nvSpPr>
        <p:spPr>
          <a:xfrm>
            <a:off x="5365500" y="2318638"/>
            <a:ext cx="2042030" cy="546368"/>
          </a:xfrm>
          <a:prstGeom prst="rect">
            <a:avLst/>
          </a:prstGeom>
          <a:noFill/>
          <a:ln/>
        </p:spPr>
        <p:txBody>
          <a:bodyPr wrap="square" lIns="0" tIns="0" rIns="0" bIns="0" rtlCol="0" anchor="t">
            <a:spAutoFit/>
          </a:bodyPr>
          <a:lstStyle/>
          <a:p>
            <a:pPr marL="0" indent="0" algn="ctr">
              <a:lnSpc>
                <a:spcPts val="1400"/>
              </a:lnSpc>
              <a:buNone/>
            </a:pPr>
            <a:r>
              <a:rPr lang="en-US" sz="1400" b="1" dirty="0">
                <a:solidFill>
                  <a:schemeClr val="tx1">
                    <a:lumMod val="50000"/>
                    <a:lumOff val="50000"/>
                  </a:schemeClr>
                </a:solidFill>
                <a:latin typeface="Inter" pitchFamily="34" charset="0"/>
                <a:ea typeface="Inter" pitchFamily="34" charset="-122"/>
                <a:cs typeface="Inter" pitchFamily="34" charset="-120"/>
              </a:rPr>
              <a:t>Diverse construction projects analyzed in the study.</a:t>
            </a:r>
            <a:endParaRPr lang="en-US" sz="1400" dirty="0">
              <a:solidFill>
                <a:schemeClr val="tx1">
                  <a:lumMod val="50000"/>
                  <a:lumOff val="50000"/>
                </a:schemeClr>
              </a:solidFill>
            </a:endParaRPr>
          </a:p>
        </p:txBody>
      </p:sp>
      <p:pic>
        <p:nvPicPr>
          <p:cNvPr id="25" name="Picture 6" descr="AASTMT Media Center - المركز الإعلامى للأكاديمية العربية ...">
            <a:extLst>
              <a:ext uri="{FF2B5EF4-FFF2-40B4-BE49-F238E27FC236}">
                <a16:creationId xmlns:a16="http://schemas.microsoft.com/office/drawing/2014/main" id="{31AEA347-3C46-F248-15C3-77004676C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92"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2">
            <a:extLst>
              <a:ext uri="{FF2B5EF4-FFF2-40B4-BE49-F238E27FC236}">
                <a16:creationId xmlns:a16="http://schemas.microsoft.com/office/drawing/2014/main" id="{4BFD447B-0592-E786-0B49-46DEDB7904F5}"/>
              </a:ext>
            </a:extLst>
          </p:cNvPr>
          <p:cNvSpPr/>
          <p:nvPr/>
        </p:nvSpPr>
        <p:spPr>
          <a:xfrm>
            <a:off x="457200" y="242888"/>
            <a:ext cx="8658225" cy="27682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11827"/>
                </a:solidFill>
                <a:latin typeface="Inter" pitchFamily="34" charset="0"/>
                <a:ea typeface="Inter" pitchFamily="34" charset="-122"/>
                <a:cs typeface="Inter" pitchFamily="34" charset="-120"/>
              </a:rPr>
              <a:t>THE COST OVERRUN CRISIS (DATA VIEW)</a:t>
            </a:r>
            <a:endParaRPr lang="en-US" sz="1602" dirty="0"/>
          </a:p>
        </p:txBody>
      </p:sp>
      <p:sp>
        <p:nvSpPr>
          <p:cNvPr id="24" name="Text 5">
            <a:extLst>
              <a:ext uri="{FF2B5EF4-FFF2-40B4-BE49-F238E27FC236}">
                <a16:creationId xmlns:a16="http://schemas.microsoft.com/office/drawing/2014/main" id="{A91C661F-F7B4-8ADC-2785-35068ACB1A68}"/>
              </a:ext>
            </a:extLst>
          </p:cNvPr>
          <p:cNvSpPr/>
          <p:nvPr/>
        </p:nvSpPr>
        <p:spPr>
          <a:xfrm>
            <a:off x="457200" y="2041327"/>
            <a:ext cx="1571905" cy="154914"/>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2563EB"/>
                </a:solidFill>
                <a:latin typeface="JetBrains Mono" pitchFamily="34" charset="0"/>
                <a:ea typeface="JetBrains Mono" pitchFamily="34" charset="-122"/>
                <a:cs typeface="JetBrains Mono" pitchFamily="34" charset="-120"/>
              </a:rPr>
              <a:t>PRIMARY ROOT CAUSES:</a:t>
            </a:r>
            <a:endParaRPr lang="en-US" sz="1200" dirty="0"/>
          </a:p>
        </p:txBody>
      </p:sp>
      <p:sp>
        <p:nvSpPr>
          <p:cNvPr id="25" name="Text 6">
            <a:extLst>
              <a:ext uri="{FF2B5EF4-FFF2-40B4-BE49-F238E27FC236}">
                <a16:creationId xmlns:a16="http://schemas.microsoft.com/office/drawing/2014/main" id="{803DFF30-515C-866D-802C-D657460F1CE4}"/>
              </a:ext>
            </a:extLst>
          </p:cNvPr>
          <p:cNvSpPr/>
          <p:nvPr/>
        </p:nvSpPr>
        <p:spPr>
          <a:xfrm>
            <a:off x="457200" y="2353866"/>
            <a:ext cx="3057525" cy="702885"/>
          </a:xfrm>
          <a:prstGeom prst="rect">
            <a:avLst/>
          </a:prstGeom>
          <a:noFill/>
          <a:ln/>
        </p:spPr>
        <p:txBody>
          <a:bodyPr wrap="square" lIns="0" tIns="0" rIns="0" bIns="0" rtlCol="0" anchor="t">
            <a:spAutoFit/>
          </a:bodyPr>
          <a:lstStyle/>
          <a:p>
            <a:pPr marL="0" indent="0" algn="l">
              <a:lnSpc>
                <a:spcPts val="1400"/>
              </a:lnSpc>
              <a:buNone/>
            </a:pPr>
            <a:r>
              <a:rPr lang="en-US" sz="1000" dirty="0">
                <a:solidFill>
                  <a:srgbClr val="4B5563"/>
                </a:solidFill>
                <a:latin typeface="JetBrains Mono" pitchFamily="34" charset="0"/>
                <a:ea typeface="JetBrains Mono" pitchFamily="34" charset="-122"/>
                <a:cs typeface="JetBrains Mono" pitchFamily="34" charset="-120"/>
              </a:rPr>
              <a:t>- Inaccurate quantity takeoffs
- Market price fluctuations
- Design inconsistencies
- Human estimation bias</a:t>
            </a:r>
            <a:endParaRPr lang="en-US" sz="1000" dirty="0"/>
          </a:p>
        </p:txBody>
      </p:sp>
      <p:sp>
        <p:nvSpPr>
          <p:cNvPr id="26" name="Text 7">
            <a:extLst>
              <a:ext uri="{FF2B5EF4-FFF2-40B4-BE49-F238E27FC236}">
                <a16:creationId xmlns:a16="http://schemas.microsoft.com/office/drawing/2014/main" id="{040368C8-B8E7-DDBD-DAD7-4C88830DC9D1}"/>
              </a:ext>
            </a:extLst>
          </p:cNvPr>
          <p:cNvSpPr/>
          <p:nvPr/>
        </p:nvSpPr>
        <p:spPr>
          <a:xfrm>
            <a:off x="2202714" y="1197471"/>
            <a:ext cx="4443413" cy="169664"/>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11827"/>
                </a:solidFill>
                <a:latin typeface="JetBrains Mono" pitchFamily="34" charset="0"/>
                <a:ea typeface="JetBrains Mono" pitchFamily="34" charset="-122"/>
                <a:cs typeface="JetBrains Mono" pitchFamily="34" charset="-120"/>
              </a:rPr>
              <a:t>TRADITIONAL ESTIMATION ERROR DISTRIBUTION</a:t>
            </a:r>
            <a:endParaRPr lang="en-US" sz="885" dirty="0"/>
          </a:p>
        </p:txBody>
      </p:sp>
      <p:pic>
        <p:nvPicPr>
          <p:cNvPr id="28" name="Image 1" descr="preencoded.png">
            <a:extLst>
              <a:ext uri="{FF2B5EF4-FFF2-40B4-BE49-F238E27FC236}">
                <a16:creationId xmlns:a16="http://schemas.microsoft.com/office/drawing/2014/main" id="{4222DD41-6E30-FC9A-A53D-D160C7C93AAB}"/>
              </a:ext>
            </a:extLst>
          </p:cNvPr>
          <p:cNvPicPr>
            <a:picLocks noChangeAspect="1"/>
          </p:cNvPicPr>
          <p:nvPr/>
        </p:nvPicPr>
        <p:blipFill>
          <a:blip r:embed="rId2"/>
          <a:stretch>
            <a:fillRect/>
          </a:stretch>
        </p:blipFill>
        <p:spPr>
          <a:xfrm>
            <a:off x="2244705" y="1432325"/>
            <a:ext cx="4443413" cy="2857500"/>
          </a:xfrm>
          <a:prstGeom prst="rect">
            <a:avLst/>
          </a:prstGeom>
        </p:spPr>
      </p:pic>
      <p:sp>
        <p:nvSpPr>
          <p:cNvPr id="29" name="Text 9">
            <a:extLst>
              <a:ext uri="{FF2B5EF4-FFF2-40B4-BE49-F238E27FC236}">
                <a16:creationId xmlns:a16="http://schemas.microsoft.com/office/drawing/2014/main" id="{2010C1E9-95C6-9805-1C4B-253F404D4EC9}"/>
              </a:ext>
            </a:extLst>
          </p:cNvPr>
          <p:cNvSpPr/>
          <p:nvPr/>
        </p:nvSpPr>
        <p:spPr>
          <a:xfrm>
            <a:off x="2350293" y="4464801"/>
            <a:ext cx="4443413" cy="264319"/>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4B5563"/>
                </a:solidFill>
                <a:latin typeface="JetBrains Mono" pitchFamily="34" charset="0"/>
                <a:ea typeface="JetBrains Mono" pitchFamily="34" charset="-122"/>
                <a:cs typeface="JetBrains Mono" pitchFamily="34" charset="-120"/>
              </a:rPr>
              <a:t>*Mean Absolute Error (MAE) stands at 14.5%, with catastrophic outliers reaching up to 42.1% in high-complexity projects.</a:t>
            </a:r>
            <a:endParaRPr lang="en-US" sz="727" dirty="0"/>
          </a:p>
        </p:txBody>
      </p:sp>
      <p:pic>
        <p:nvPicPr>
          <p:cNvPr id="30" name="Picture 6" descr="AASTMT Media Center - المركز الإعلامى للأكاديمية العربية ...">
            <a:extLst>
              <a:ext uri="{FF2B5EF4-FFF2-40B4-BE49-F238E27FC236}">
                <a16:creationId xmlns:a16="http://schemas.microsoft.com/office/drawing/2014/main" id="{B21729B5-2362-FEF6-9796-0BF82A0B5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92"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92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8" name="Text 2">
            <a:extLst>
              <a:ext uri="{FF2B5EF4-FFF2-40B4-BE49-F238E27FC236}">
                <a16:creationId xmlns:a16="http://schemas.microsoft.com/office/drawing/2014/main" id="{EA369C0C-29BA-9C41-9EFE-CFD239CD486D}"/>
              </a:ext>
            </a:extLst>
          </p:cNvPr>
          <p:cNvSpPr/>
          <p:nvPr/>
        </p:nvSpPr>
        <p:spPr>
          <a:xfrm>
            <a:off x="457200" y="242888"/>
            <a:ext cx="5431808" cy="282257"/>
          </a:xfrm>
          <a:prstGeom prst="rect">
            <a:avLst/>
          </a:prstGeom>
          <a:noFill/>
          <a:ln/>
        </p:spPr>
        <p:txBody>
          <a:bodyPr wrap="none" lIns="0" tIns="0" rIns="0" bIns="0" rtlCol="0" anchor="t">
            <a:spAutoFit/>
          </a:bodyPr>
          <a:lstStyle/>
          <a:p>
            <a:pPr marL="0" indent="0" algn="l">
              <a:lnSpc>
                <a:spcPts val="2200"/>
              </a:lnSpc>
              <a:buNone/>
            </a:pPr>
            <a:r>
              <a:rPr lang="en-US" sz="2400" b="1" dirty="0">
                <a:solidFill>
                  <a:srgbClr val="111827"/>
                </a:solidFill>
                <a:latin typeface="Inter" pitchFamily="34" charset="0"/>
                <a:ea typeface="Inter" pitchFamily="34" charset="-122"/>
                <a:cs typeface="Inter" pitchFamily="34" charset="-120"/>
              </a:rPr>
              <a:t>AI &amp; DATA ANALYTICS APPLICATION</a:t>
            </a:r>
            <a:endParaRPr lang="en-US" sz="2400" dirty="0"/>
          </a:p>
        </p:txBody>
      </p:sp>
      <p:sp>
        <p:nvSpPr>
          <p:cNvPr id="29" name="Text 3">
            <a:extLst>
              <a:ext uri="{FF2B5EF4-FFF2-40B4-BE49-F238E27FC236}">
                <a16:creationId xmlns:a16="http://schemas.microsoft.com/office/drawing/2014/main" id="{07270F17-691D-3DFA-EEA7-FAF7083AF96C}"/>
              </a:ext>
            </a:extLst>
          </p:cNvPr>
          <p:cNvSpPr/>
          <p:nvPr/>
        </p:nvSpPr>
        <p:spPr>
          <a:xfrm>
            <a:off x="200025" y="985838"/>
            <a:ext cx="1445909" cy="218586"/>
          </a:xfrm>
          <a:prstGeom prst="rect">
            <a:avLst/>
          </a:prstGeom>
          <a:noFill/>
          <a:ln/>
        </p:spPr>
        <p:txBody>
          <a:bodyPr wrap="none" lIns="0" tIns="0" rIns="0" bIns="51054" rtlCol="0" anchor="t">
            <a:spAutoFit/>
          </a:bodyPr>
          <a:lstStyle/>
          <a:p>
            <a:pPr marL="0" indent="0" algn="l">
              <a:lnSpc>
                <a:spcPts val="1400"/>
              </a:lnSpc>
              <a:buNone/>
            </a:pPr>
            <a:r>
              <a:rPr lang="en-US" sz="1100" b="1" dirty="0">
                <a:solidFill>
                  <a:srgbClr val="2563EB"/>
                </a:solidFill>
                <a:latin typeface="JetBrains Mono" pitchFamily="34" charset="0"/>
                <a:ea typeface="JetBrains Mono" pitchFamily="34" charset="-122"/>
                <a:cs typeface="JetBrains Mono" pitchFamily="34" charset="-120"/>
              </a:rPr>
              <a:t>MACHINE LEARNING</a:t>
            </a:r>
            <a:endParaRPr lang="en-US" sz="1100" dirty="0"/>
          </a:p>
        </p:txBody>
      </p:sp>
      <p:sp>
        <p:nvSpPr>
          <p:cNvPr id="30" name="Text 4">
            <a:extLst>
              <a:ext uri="{FF2B5EF4-FFF2-40B4-BE49-F238E27FC236}">
                <a16:creationId xmlns:a16="http://schemas.microsoft.com/office/drawing/2014/main" id="{2814ED7C-F055-E365-2E74-FC8B5ABB8CF6}"/>
              </a:ext>
            </a:extLst>
          </p:cNvPr>
          <p:cNvSpPr/>
          <p:nvPr/>
        </p:nvSpPr>
        <p:spPr>
          <a:xfrm>
            <a:off x="200025" y="1318022"/>
            <a:ext cx="1694375"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REGRESSION &amp; XGBOOST</a:t>
            </a:r>
            <a:endParaRPr lang="en-US" sz="1050" dirty="0"/>
          </a:p>
        </p:txBody>
      </p:sp>
      <p:sp>
        <p:nvSpPr>
          <p:cNvPr id="31" name="Text 5">
            <a:extLst>
              <a:ext uri="{FF2B5EF4-FFF2-40B4-BE49-F238E27FC236}">
                <a16:creationId xmlns:a16="http://schemas.microsoft.com/office/drawing/2014/main" id="{E8D0A215-6927-1BBF-75AC-7232154AD23B}"/>
              </a:ext>
            </a:extLst>
          </p:cNvPr>
          <p:cNvSpPr/>
          <p:nvPr/>
        </p:nvSpPr>
        <p:spPr>
          <a:xfrm>
            <a:off x="200026" y="1530548"/>
            <a:ext cx="2006910" cy="615553"/>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Identifies non-linear cost drivers such as project size, location, and market trends from historical datasets.</a:t>
            </a:r>
            <a:endParaRPr lang="en-US" sz="1000" dirty="0"/>
          </a:p>
        </p:txBody>
      </p:sp>
      <p:sp>
        <p:nvSpPr>
          <p:cNvPr id="32" name="Text 6">
            <a:extLst>
              <a:ext uri="{FF2B5EF4-FFF2-40B4-BE49-F238E27FC236}">
                <a16:creationId xmlns:a16="http://schemas.microsoft.com/office/drawing/2014/main" id="{9FF3A846-B28B-0AC0-9C9C-53BA3EE13A6C}"/>
              </a:ext>
            </a:extLst>
          </p:cNvPr>
          <p:cNvSpPr/>
          <p:nvPr/>
        </p:nvSpPr>
        <p:spPr>
          <a:xfrm>
            <a:off x="200026" y="2461415"/>
            <a:ext cx="1263166"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RANDOM FORESTS</a:t>
            </a:r>
            <a:endParaRPr lang="en-US" sz="1050" dirty="0"/>
          </a:p>
        </p:txBody>
      </p:sp>
      <p:sp>
        <p:nvSpPr>
          <p:cNvPr id="33" name="Text 7">
            <a:extLst>
              <a:ext uri="{FF2B5EF4-FFF2-40B4-BE49-F238E27FC236}">
                <a16:creationId xmlns:a16="http://schemas.microsoft.com/office/drawing/2014/main" id="{7748AD8F-F194-97AA-5601-8115A781C76F}"/>
              </a:ext>
            </a:extLst>
          </p:cNvPr>
          <p:cNvSpPr/>
          <p:nvPr/>
        </p:nvSpPr>
        <p:spPr>
          <a:xfrm>
            <a:off x="152470" y="2748931"/>
            <a:ext cx="2006911" cy="615553"/>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Handles complex interactions between features to improve predictive accuracy and reduce overfitting.</a:t>
            </a:r>
            <a:endParaRPr lang="en-US" sz="1000" dirty="0"/>
          </a:p>
        </p:txBody>
      </p:sp>
      <p:sp>
        <p:nvSpPr>
          <p:cNvPr id="35" name="Text 9">
            <a:extLst>
              <a:ext uri="{FF2B5EF4-FFF2-40B4-BE49-F238E27FC236}">
                <a16:creationId xmlns:a16="http://schemas.microsoft.com/office/drawing/2014/main" id="{A0243FD0-DDF9-D83F-CFCA-14AED2BCA2D2}"/>
              </a:ext>
            </a:extLst>
          </p:cNvPr>
          <p:cNvSpPr/>
          <p:nvPr/>
        </p:nvSpPr>
        <p:spPr>
          <a:xfrm>
            <a:off x="200026" y="3528969"/>
            <a:ext cx="602729" cy="115994"/>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EA580C"/>
                </a:solidFill>
                <a:latin typeface="Inter" pitchFamily="34" charset="0"/>
                <a:ea typeface="Inter" pitchFamily="34" charset="-122"/>
                <a:cs typeface="Inter" pitchFamily="34" charset="-120"/>
              </a:rPr>
              <a:t>USE CASE</a:t>
            </a:r>
            <a:endParaRPr lang="en-US" sz="1000" dirty="0"/>
          </a:p>
        </p:txBody>
      </p:sp>
      <p:sp>
        <p:nvSpPr>
          <p:cNvPr id="36" name="Text 10">
            <a:extLst>
              <a:ext uri="{FF2B5EF4-FFF2-40B4-BE49-F238E27FC236}">
                <a16:creationId xmlns:a16="http://schemas.microsoft.com/office/drawing/2014/main" id="{8A23FB88-0052-E82F-2B3A-6B27F22B441C}"/>
              </a:ext>
            </a:extLst>
          </p:cNvPr>
          <p:cNvSpPr/>
          <p:nvPr/>
        </p:nvSpPr>
        <p:spPr>
          <a:xfrm>
            <a:off x="228877" y="3749742"/>
            <a:ext cx="2006911"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Initial budget forecasting based on structural parameters.</a:t>
            </a:r>
            <a:endParaRPr lang="en-US" sz="1000" dirty="0"/>
          </a:p>
        </p:txBody>
      </p:sp>
      <p:sp>
        <p:nvSpPr>
          <p:cNvPr id="37" name="Text 11">
            <a:extLst>
              <a:ext uri="{FF2B5EF4-FFF2-40B4-BE49-F238E27FC236}">
                <a16:creationId xmlns:a16="http://schemas.microsoft.com/office/drawing/2014/main" id="{8A458EA2-A81D-0444-8CAA-6A48827807D9}"/>
              </a:ext>
            </a:extLst>
          </p:cNvPr>
          <p:cNvSpPr/>
          <p:nvPr/>
        </p:nvSpPr>
        <p:spPr>
          <a:xfrm>
            <a:off x="2548331" y="979313"/>
            <a:ext cx="1117294" cy="218586"/>
          </a:xfrm>
          <a:prstGeom prst="rect">
            <a:avLst/>
          </a:prstGeom>
          <a:noFill/>
          <a:ln/>
        </p:spPr>
        <p:txBody>
          <a:bodyPr wrap="none" lIns="0" tIns="0" rIns="0" bIns="51054" rtlCol="0" anchor="t">
            <a:spAutoFit/>
          </a:bodyPr>
          <a:lstStyle/>
          <a:p>
            <a:pPr marL="0" indent="0" algn="l">
              <a:lnSpc>
                <a:spcPts val="1400"/>
              </a:lnSpc>
              <a:buNone/>
            </a:pPr>
            <a:r>
              <a:rPr lang="en-US" sz="1100" b="1" dirty="0">
                <a:solidFill>
                  <a:srgbClr val="2563EB"/>
                </a:solidFill>
                <a:latin typeface="JetBrains Mono" pitchFamily="34" charset="0"/>
                <a:ea typeface="JetBrains Mono" pitchFamily="34" charset="-122"/>
                <a:cs typeface="JetBrains Mono" pitchFamily="34" charset="-120"/>
              </a:rPr>
              <a:t>DEEP LEARNING</a:t>
            </a:r>
            <a:endParaRPr lang="en-US" sz="1100" dirty="0"/>
          </a:p>
        </p:txBody>
      </p:sp>
      <p:sp>
        <p:nvSpPr>
          <p:cNvPr id="38" name="Text 12">
            <a:extLst>
              <a:ext uri="{FF2B5EF4-FFF2-40B4-BE49-F238E27FC236}">
                <a16:creationId xmlns:a16="http://schemas.microsoft.com/office/drawing/2014/main" id="{C77DA1DC-B135-130A-ADBA-9DD8844D3767}"/>
              </a:ext>
            </a:extLst>
          </p:cNvPr>
          <p:cNvSpPr/>
          <p:nvPr/>
        </p:nvSpPr>
        <p:spPr>
          <a:xfrm>
            <a:off x="2548330" y="1302608"/>
            <a:ext cx="993862"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ANNs &amp; LSTMs</a:t>
            </a:r>
            <a:endParaRPr lang="en-US" sz="1050" dirty="0"/>
          </a:p>
        </p:txBody>
      </p:sp>
      <p:sp>
        <p:nvSpPr>
          <p:cNvPr id="39" name="Text 13">
            <a:extLst>
              <a:ext uri="{FF2B5EF4-FFF2-40B4-BE49-F238E27FC236}">
                <a16:creationId xmlns:a16="http://schemas.microsoft.com/office/drawing/2014/main" id="{29DA63AD-1386-3B53-70E8-EAEBC17D28D3}"/>
              </a:ext>
            </a:extLst>
          </p:cNvPr>
          <p:cNvSpPr/>
          <p:nvPr/>
        </p:nvSpPr>
        <p:spPr>
          <a:xfrm>
            <a:off x="2548330" y="1539427"/>
            <a:ext cx="2250552" cy="615553"/>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Artificial Neural Networks model intricate patterns, while LSTMs forecast costs over time considering project phases.</a:t>
            </a:r>
            <a:endParaRPr lang="en-US" sz="1000" dirty="0"/>
          </a:p>
        </p:txBody>
      </p:sp>
      <p:sp>
        <p:nvSpPr>
          <p:cNvPr id="40" name="Text 14">
            <a:extLst>
              <a:ext uri="{FF2B5EF4-FFF2-40B4-BE49-F238E27FC236}">
                <a16:creationId xmlns:a16="http://schemas.microsoft.com/office/drawing/2014/main" id="{4C0148D1-3EC0-848E-FDC9-A5AEBCB2EFEC}"/>
              </a:ext>
            </a:extLst>
          </p:cNvPr>
          <p:cNvSpPr/>
          <p:nvPr/>
        </p:nvSpPr>
        <p:spPr>
          <a:xfrm>
            <a:off x="2527330" y="2457413"/>
            <a:ext cx="1170192"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MULTI-MODAL AI</a:t>
            </a:r>
            <a:endParaRPr lang="en-US" sz="1050" dirty="0"/>
          </a:p>
        </p:txBody>
      </p:sp>
      <p:sp>
        <p:nvSpPr>
          <p:cNvPr id="41" name="Text 15">
            <a:extLst>
              <a:ext uri="{FF2B5EF4-FFF2-40B4-BE49-F238E27FC236}">
                <a16:creationId xmlns:a16="http://schemas.microsoft.com/office/drawing/2014/main" id="{696F57C7-8CBA-3FA2-E667-57451C985303}"/>
              </a:ext>
            </a:extLst>
          </p:cNvPr>
          <p:cNvSpPr/>
          <p:nvPr/>
        </p:nvSpPr>
        <p:spPr>
          <a:xfrm>
            <a:off x="2376451" y="2721529"/>
            <a:ext cx="2195549" cy="615553"/>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Integrates numerical data with textual specifications using NLP (GPT-based systems) for risk extraction.</a:t>
            </a:r>
            <a:endParaRPr lang="en-US" sz="1000" dirty="0"/>
          </a:p>
        </p:txBody>
      </p:sp>
      <p:sp>
        <p:nvSpPr>
          <p:cNvPr id="43" name="Text 17">
            <a:extLst>
              <a:ext uri="{FF2B5EF4-FFF2-40B4-BE49-F238E27FC236}">
                <a16:creationId xmlns:a16="http://schemas.microsoft.com/office/drawing/2014/main" id="{65690AB0-065B-B490-F0D1-5FA8022BDCDB}"/>
              </a:ext>
            </a:extLst>
          </p:cNvPr>
          <p:cNvSpPr/>
          <p:nvPr/>
        </p:nvSpPr>
        <p:spPr>
          <a:xfrm>
            <a:off x="2500205" y="3485415"/>
            <a:ext cx="602729" cy="115994"/>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EA580C"/>
                </a:solidFill>
                <a:latin typeface="Inter" pitchFamily="34" charset="0"/>
                <a:ea typeface="Inter" pitchFamily="34" charset="-122"/>
                <a:cs typeface="Inter" pitchFamily="34" charset="-120"/>
              </a:rPr>
              <a:t>USE CASE</a:t>
            </a:r>
            <a:endParaRPr lang="en-US" sz="1000" dirty="0"/>
          </a:p>
        </p:txBody>
      </p:sp>
      <p:sp>
        <p:nvSpPr>
          <p:cNvPr id="44" name="Text 18">
            <a:extLst>
              <a:ext uri="{FF2B5EF4-FFF2-40B4-BE49-F238E27FC236}">
                <a16:creationId xmlns:a16="http://schemas.microsoft.com/office/drawing/2014/main" id="{D3C3A5BD-CEAB-7C0D-F42B-AF90132CE633}"/>
              </a:ext>
            </a:extLst>
          </p:cNvPr>
          <p:cNvSpPr/>
          <p:nvPr/>
        </p:nvSpPr>
        <p:spPr>
          <a:xfrm>
            <a:off x="2500205" y="3749742"/>
            <a:ext cx="2195551"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Dynamic lifecycle cost adjustments and contract analysis.</a:t>
            </a:r>
            <a:endParaRPr lang="en-US" sz="1000" dirty="0"/>
          </a:p>
        </p:txBody>
      </p:sp>
      <p:sp>
        <p:nvSpPr>
          <p:cNvPr id="45" name="Text 19">
            <a:extLst>
              <a:ext uri="{FF2B5EF4-FFF2-40B4-BE49-F238E27FC236}">
                <a16:creationId xmlns:a16="http://schemas.microsoft.com/office/drawing/2014/main" id="{46484FBA-0E21-BDC7-D176-5111C1E4FA50}"/>
              </a:ext>
            </a:extLst>
          </p:cNvPr>
          <p:cNvSpPr/>
          <p:nvPr/>
        </p:nvSpPr>
        <p:spPr>
          <a:xfrm>
            <a:off x="5077217" y="985838"/>
            <a:ext cx="876843" cy="222433"/>
          </a:xfrm>
          <a:prstGeom prst="rect">
            <a:avLst/>
          </a:prstGeom>
          <a:noFill/>
          <a:ln/>
        </p:spPr>
        <p:txBody>
          <a:bodyPr wrap="none" lIns="0" tIns="0" rIns="0" bIns="51054" rtlCol="0" anchor="t">
            <a:spAutoFit/>
          </a:bodyPr>
          <a:lstStyle/>
          <a:p>
            <a:pPr marL="0" indent="0" algn="l">
              <a:lnSpc>
                <a:spcPts val="1400"/>
              </a:lnSpc>
              <a:buNone/>
            </a:pPr>
            <a:r>
              <a:rPr lang="en-US" sz="1100" b="1" dirty="0">
                <a:solidFill>
                  <a:srgbClr val="2563EB"/>
                </a:solidFill>
                <a:latin typeface="JetBrains Mono" pitchFamily="34" charset="0"/>
                <a:ea typeface="JetBrains Mono" pitchFamily="34" charset="-122"/>
                <a:cs typeface="JetBrains Mono" pitchFamily="34" charset="-120"/>
              </a:rPr>
              <a:t>PROBABILISTIC</a:t>
            </a:r>
            <a:endParaRPr lang="en-US" sz="1100" dirty="0"/>
          </a:p>
        </p:txBody>
      </p:sp>
      <p:sp>
        <p:nvSpPr>
          <p:cNvPr id="46" name="Text 20">
            <a:extLst>
              <a:ext uri="{FF2B5EF4-FFF2-40B4-BE49-F238E27FC236}">
                <a16:creationId xmlns:a16="http://schemas.microsoft.com/office/drawing/2014/main" id="{274565EC-29DF-2FDD-C1A8-A4AC05F0D8D2}"/>
              </a:ext>
            </a:extLst>
          </p:cNvPr>
          <p:cNvSpPr/>
          <p:nvPr/>
        </p:nvSpPr>
        <p:spPr>
          <a:xfrm>
            <a:off x="5036578" y="1432746"/>
            <a:ext cx="1474763"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BAYESIAN NETWORKS</a:t>
            </a:r>
            <a:endParaRPr lang="en-US" sz="1050" dirty="0"/>
          </a:p>
        </p:txBody>
      </p:sp>
      <p:sp>
        <p:nvSpPr>
          <p:cNvPr id="47" name="Text 21">
            <a:extLst>
              <a:ext uri="{FF2B5EF4-FFF2-40B4-BE49-F238E27FC236}">
                <a16:creationId xmlns:a16="http://schemas.microsoft.com/office/drawing/2014/main" id="{F89DDB3A-C8D8-E745-8808-18205EB075B6}"/>
              </a:ext>
            </a:extLst>
          </p:cNvPr>
          <p:cNvSpPr/>
          <p:nvPr/>
        </p:nvSpPr>
        <p:spPr>
          <a:xfrm>
            <a:off x="5036578" y="1693315"/>
            <a:ext cx="2250552" cy="461665"/>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Models dependencies between cost factors and risk events to provide nuanced assessments.</a:t>
            </a:r>
            <a:endParaRPr lang="en-US" sz="1000" dirty="0"/>
          </a:p>
        </p:txBody>
      </p:sp>
      <p:sp>
        <p:nvSpPr>
          <p:cNvPr id="48" name="Text 22">
            <a:extLst>
              <a:ext uri="{FF2B5EF4-FFF2-40B4-BE49-F238E27FC236}">
                <a16:creationId xmlns:a16="http://schemas.microsoft.com/office/drawing/2014/main" id="{B84ABCA2-FFFF-2EFA-8912-467FF8B289B8}"/>
              </a:ext>
            </a:extLst>
          </p:cNvPr>
          <p:cNvSpPr/>
          <p:nvPr/>
        </p:nvSpPr>
        <p:spPr>
          <a:xfrm>
            <a:off x="5036578" y="2457413"/>
            <a:ext cx="1000274" cy="153888"/>
          </a:xfrm>
          <a:prstGeom prst="rect">
            <a:avLst/>
          </a:prstGeom>
          <a:noFill/>
          <a:ln/>
        </p:spPr>
        <p:txBody>
          <a:bodyPr wrap="none" lIns="0" tIns="0" rIns="0" bIns="0" rtlCol="0" anchor="t">
            <a:spAutoFit/>
          </a:bodyPr>
          <a:lstStyle/>
          <a:p>
            <a:pPr marL="0" indent="0" algn="l">
              <a:lnSpc>
                <a:spcPts val="1200"/>
              </a:lnSpc>
              <a:buNone/>
            </a:pPr>
            <a:r>
              <a:rPr lang="en-US" sz="1050" b="1" dirty="0">
                <a:solidFill>
                  <a:srgbClr val="111827"/>
                </a:solidFill>
                <a:latin typeface="Inter" pitchFamily="34" charset="0"/>
                <a:ea typeface="Inter" pitchFamily="34" charset="-122"/>
                <a:cs typeface="Inter" pitchFamily="34" charset="-120"/>
              </a:rPr>
              <a:t>MONTE CARLO</a:t>
            </a:r>
            <a:endParaRPr lang="en-US" sz="1050" dirty="0"/>
          </a:p>
        </p:txBody>
      </p:sp>
      <p:sp>
        <p:nvSpPr>
          <p:cNvPr id="49" name="Text 23">
            <a:extLst>
              <a:ext uri="{FF2B5EF4-FFF2-40B4-BE49-F238E27FC236}">
                <a16:creationId xmlns:a16="http://schemas.microsoft.com/office/drawing/2014/main" id="{F9636FA6-88C5-256B-F8D6-1F7EC7E4E925}"/>
              </a:ext>
            </a:extLst>
          </p:cNvPr>
          <p:cNvSpPr/>
          <p:nvPr/>
        </p:nvSpPr>
        <p:spPr>
          <a:xfrm>
            <a:off x="5036578" y="2798474"/>
            <a:ext cx="2686050" cy="461665"/>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Runs thousands of simulations to generate a range of possible outcomes with associated probabilities.</a:t>
            </a:r>
            <a:endParaRPr lang="en-US" sz="1000" dirty="0"/>
          </a:p>
        </p:txBody>
      </p:sp>
      <p:sp>
        <p:nvSpPr>
          <p:cNvPr id="51" name="Text 25">
            <a:extLst>
              <a:ext uri="{FF2B5EF4-FFF2-40B4-BE49-F238E27FC236}">
                <a16:creationId xmlns:a16="http://schemas.microsoft.com/office/drawing/2014/main" id="{F865060E-9E3A-4CAE-DCCF-EC9E1FEFF23A}"/>
              </a:ext>
            </a:extLst>
          </p:cNvPr>
          <p:cNvSpPr/>
          <p:nvPr/>
        </p:nvSpPr>
        <p:spPr>
          <a:xfrm>
            <a:off x="5036578" y="3470972"/>
            <a:ext cx="602729" cy="115994"/>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EA580C"/>
                </a:solidFill>
                <a:latin typeface="Inter" pitchFamily="34" charset="0"/>
                <a:ea typeface="Inter" pitchFamily="34" charset="-122"/>
                <a:cs typeface="Inter" pitchFamily="34" charset="-120"/>
              </a:rPr>
              <a:t>USE CASE</a:t>
            </a:r>
            <a:endParaRPr lang="en-US" sz="1000" dirty="0"/>
          </a:p>
        </p:txBody>
      </p:sp>
      <p:sp>
        <p:nvSpPr>
          <p:cNvPr id="52" name="Text 26">
            <a:extLst>
              <a:ext uri="{FF2B5EF4-FFF2-40B4-BE49-F238E27FC236}">
                <a16:creationId xmlns:a16="http://schemas.microsoft.com/office/drawing/2014/main" id="{4C50D4FB-24CC-3176-73EF-8595F44E2E17}"/>
              </a:ext>
            </a:extLst>
          </p:cNvPr>
          <p:cNvSpPr/>
          <p:nvPr/>
        </p:nvSpPr>
        <p:spPr>
          <a:xfrm>
            <a:off x="5036578" y="3677254"/>
            <a:ext cx="2543175" cy="307777"/>
          </a:xfrm>
          <a:prstGeom prst="rect">
            <a:avLst/>
          </a:prstGeom>
          <a:noFill/>
          <a:ln/>
        </p:spPr>
        <p:txBody>
          <a:bodyPr wrap="square" lIns="0" tIns="0" rIns="0" bIns="0" rtlCol="0" anchor="t">
            <a:spAutoFit/>
          </a:bodyPr>
          <a:lstStyle/>
          <a:p>
            <a:pPr marL="0" indent="0" algn="l">
              <a:lnSpc>
                <a:spcPts val="1200"/>
              </a:lnSpc>
              <a:buNone/>
            </a:pPr>
            <a:r>
              <a:rPr lang="en-US" sz="1000" dirty="0">
                <a:solidFill>
                  <a:srgbClr val="4B5563"/>
                </a:solidFill>
                <a:latin typeface="JetBrains Mono" pitchFamily="34" charset="0"/>
                <a:ea typeface="JetBrains Mono" pitchFamily="34" charset="-122"/>
                <a:cs typeface="JetBrains Mono" pitchFamily="34" charset="-120"/>
              </a:rPr>
              <a:t>Quantifying uncertainty and contingency buffer planning.</a:t>
            </a:r>
            <a:endParaRPr lang="en-US" sz="1000" dirty="0"/>
          </a:p>
        </p:txBody>
      </p:sp>
      <p:pic>
        <p:nvPicPr>
          <p:cNvPr id="53" name="Picture 6" descr="AASTMT Media Center - المركز الإعلامى للأكاديمية العربية ...">
            <a:extLst>
              <a:ext uri="{FF2B5EF4-FFF2-40B4-BE49-F238E27FC236}">
                <a16:creationId xmlns:a16="http://schemas.microsoft.com/office/drawing/2014/main" id="{F9B5AD15-E796-C670-88C7-34C5989743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92" y="90242"/>
            <a:ext cx="1166890" cy="8098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F782CE4-8CC9-B41E-D89D-3D7CE512CC14}"/>
              </a:ext>
            </a:extLst>
          </p:cNvPr>
          <p:cNvPicPr>
            <a:picLocks noChangeAspect="1"/>
          </p:cNvPicPr>
          <p:nvPr/>
        </p:nvPicPr>
        <p:blipFill>
          <a:blip r:embed="rId2"/>
          <a:stretch>
            <a:fillRect/>
          </a:stretch>
        </p:blipFill>
        <p:spPr>
          <a:xfrm>
            <a:off x="76200" y="692728"/>
            <a:ext cx="8991600" cy="4409901"/>
          </a:xfrm>
          <a:prstGeom prst="rect">
            <a:avLst/>
          </a:prstGeom>
        </p:spPr>
      </p:pic>
      <p:sp>
        <p:nvSpPr>
          <p:cNvPr id="10" name="Text 0">
            <a:extLst>
              <a:ext uri="{FF2B5EF4-FFF2-40B4-BE49-F238E27FC236}">
                <a16:creationId xmlns:a16="http://schemas.microsoft.com/office/drawing/2014/main" id="{8706AB66-9014-CB60-E540-2F49CF6C68CB}"/>
              </a:ext>
            </a:extLst>
          </p:cNvPr>
          <p:cNvSpPr/>
          <p:nvPr/>
        </p:nvSpPr>
        <p:spPr>
          <a:xfrm>
            <a:off x="508593" y="171396"/>
            <a:ext cx="5755351" cy="48046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latin typeface="Playfair Display" panose="00000500000000000000" pitchFamily="2" charset="0"/>
                <a:ea typeface="+mj-ea"/>
                <a:cs typeface="+mj-cs"/>
              </a:rPr>
              <a:t>The AI Cost Estimation Pipeline</a:t>
            </a:r>
          </a:p>
        </p:txBody>
      </p:sp>
    </p:spTree>
    <p:extLst>
      <p:ext uri="{BB962C8B-B14F-4D97-AF65-F5344CB8AC3E}">
        <p14:creationId xmlns:p14="http://schemas.microsoft.com/office/powerpoint/2010/main" val="2955505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AF6D2A-B873-1665-037B-A35C951CDA8C}"/>
              </a:ext>
            </a:extLst>
          </p:cNvPr>
          <p:cNvSpPr/>
          <p:nvPr/>
        </p:nvSpPr>
        <p:spPr>
          <a:xfrm>
            <a:off x="28575" y="28575"/>
            <a:ext cx="9086850" cy="800100"/>
          </a:xfrm>
          <a:prstGeom prst="rect">
            <a:avLst/>
          </a:prstGeom>
          <a:solidFill>
            <a:srgbClr val="000000">
              <a:alpha val="0"/>
            </a:srgbClr>
          </a:solidFill>
          <a:ln/>
        </p:spPr>
        <p:txBody>
          <a:bodyPr/>
          <a:lstStyle/>
          <a:p>
            <a:endParaRPr lang="en-US"/>
          </a:p>
        </p:txBody>
      </p:sp>
      <p:sp>
        <p:nvSpPr>
          <p:cNvPr id="4" name="Text 2">
            <a:extLst>
              <a:ext uri="{FF2B5EF4-FFF2-40B4-BE49-F238E27FC236}">
                <a16:creationId xmlns:a16="http://schemas.microsoft.com/office/drawing/2014/main" id="{2A12AC7F-A776-3E3D-2E4B-24ACB47AC34D}"/>
              </a:ext>
            </a:extLst>
          </p:cNvPr>
          <p:cNvSpPr/>
          <p:nvPr/>
        </p:nvSpPr>
        <p:spPr>
          <a:xfrm>
            <a:off x="457200" y="242888"/>
            <a:ext cx="3919343" cy="25801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11827"/>
                </a:solidFill>
                <a:latin typeface="Playfair Display" panose="00000500000000000000" pitchFamily="2" charset="0"/>
                <a:ea typeface="Inter" pitchFamily="34" charset="-122"/>
                <a:cs typeface="Inter" pitchFamily="34" charset="-120"/>
              </a:rPr>
              <a:t>DIGITAL TRANSFORMATION ANALYSIS</a:t>
            </a:r>
            <a:endParaRPr lang="en-US" sz="1602" dirty="0">
              <a:latin typeface="Playfair Display" panose="00000500000000000000" pitchFamily="2" charset="0"/>
            </a:endParaRPr>
          </a:p>
        </p:txBody>
      </p:sp>
      <p:sp>
        <p:nvSpPr>
          <p:cNvPr id="5" name="Text 3">
            <a:extLst>
              <a:ext uri="{FF2B5EF4-FFF2-40B4-BE49-F238E27FC236}">
                <a16:creationId xmlns:a16="http://schemas.microsoft.com/office/drawing/2014/main" id="{C76DE850-D964-DB69-0501-633F5080E3A6}"/>
              </a:ext>
            </a:extLst>
          </p:cNvPr>
          <p:cNvSpPr/>
          <p:nvPr/>
        </p:nvSpPr>
        <p:spPr>
          <a:xfrm>
            <a:off x="314325" y="1100138"/>
            <a:ext cx="1005083" cy="121123"/>
          </a:xfrm>
          <a:prstGeom prst="rect">
            <a:avLst/>
          </a:prstGeom>
          <a:noFill/>
          <a:ln/>
        </p:spPr>
        <p:txBody>
          <a:bodyPr wrap="none" lIns="0" tIns="0" rIns="0" bIns="0" rtlCol="0" anchor="t">
            <a:spAutoFit/>
          </a:bodyPr>
          <a:lstStyle/>
          <a:p>
            <a:pPr marL="0" indent="0" algn="l">
              <a:lnSpc>
                <a:spcPts val="900"/>
              </a:lnSpc>
              <a:buNone/>
            </a:pPr>
            <a:r>
              <a:rPr lang="en-US" sz="1050" b="1" dirty="0">
                <a:solidFill>
                  <a:srgbClr val="2563EB"/>
                </a:solidFill>
                <a:latin typeface="JetBrains Mono" pitchFamily="34" charset="0"/>
                <a:ea typeface="JetBrains Mono" pitchFamily="34" charset="-122"/>
                <a:cs typeface="JetBrains Mono" pitchFamily="34" charset="-120"/>
              </a:rPr>
              <a:t>INFRASTRUCTURE</a:t>
            </a:r>
            <a:endParaRPr lang="en-US" sz="1050" dirty="0"/>
          </a:p>
        </p:txBody>
      </p:sp>
      <p:sp>
        <p:nvSpPr>
          <p:cNvPr id="6" name="Text 4">
            <a:extLst>
              <a:ext uri="{FF2B5EF4-FFF2-40B4-BE49-F238E27FC236}">
                <a16:creationId xmlns:a16="http://schemas.microsoft.com/office/drawing/2014/main" id="{886330FC-192C-48A9-B24D-C364AF15104B}"/>
              </a:ext>
            </a:extLst>
          </p:cNvPr>
          <p:cNvSpPr/>
          <p:nvPr/>
        </p:nvSpPr>
        <p:spPr>
          <a:xfrm>
            <a:off x="314325" y="1303734"/>
            <a:ext cx="2443163"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11827"/>
                </a:solidFill>
                <a:latin typeface="Inter" pitchFamily="34" charset="0"/>
                <a:ea typeface="Inter" pitchFamily="34" charset="-122"/>
                <a:cs typeface="Inter" pitchFamily="34" charset="-120"/>
              </a:rPr>
              <a:t>BIM INTEGRATION</a:t>
            </a:r>
            <a:endParaRPr lang="en-US" sz="1193" dirty="0"/>
          </a:p>
        </p:txBody>
      </p:sp>
      <p:sp>
        <p:nvSpPr>
          <p:cNvPr id="7" name="Text 5">
            <a:extLst>
              <a:ext uri="{FF2B5EF4-FFF2-40B4-BE49-F238E27FC236}">
                <a16:creationId xmlns:a16="http://schemas.microsoft.com/office/drawing/2014/main" id="{B8155B91-6CF0-C7AF-827C-D19FE149BF9D}"/>
              </a:ext>
            </a:extLst>
          </p:cNvPr>
          <p:cNvSpPr/>
          <p:nvPr/>
        </p:nvSpPr>
        <p:spPr>
          <a:xfrm>
            <a:off x="314325" y="1653778"/>
            <a:ext cx="2443163"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B5563"/>
                </a:solidFill>
                <a:latin typeface="JetBrains Mono" pitchFamily="34" charset="0"/>
                <a:ea typeface="JetBrains Mono" pitchFamily="34" charset="-122"/>
                <a:cs typeface="JetBrains Mono" pitchFamily="34" charset="-120"/>
              </a:rPr>
              <a:t>Building Information Modeling (BIM) provides the structured geometric and material data required for automated quantity takeoffs, eliminating manual measurement errors.</a:t>
            </a:r>
            <a:endParaRPr lang="en-US" sz="834" dirty="0"/>
          </a:p>
        </p:txBody>
      </p:sp>
      <p:sp>
        <p:nvSpPr>
          <p:cNvPr id="8" name="Text 6">
            <a:extLst>
              <a:ext uri="{FF2B5EF4-FFF2-40B4-BE49-F238E27FC236}">
                <a16:creationId xmlns:a16="http://schemas.microsoft.com/office/drawing/2014/main" id="{616B3501-1094-C489-B1ED-7F38ADE5FE31}"/>
              </a:ext>
            </a:extLst>
          </p:cNvPr>
          <p:cNvSpPr/>
          <p:nvPr/>
        </p:nvSpPr>
        <p:spPr>
          <a:xfrm>
            <a:off x="607218" y="2617034"/>
            <a:ext cx="2443163" cy="469702"/>
          </a:xfrm>
          <a:prstGeom prst="rect">
            <a:avLst/>
          </a:prstGeom>
          <a:noFill/>
          <a:ln/>
        </p:spPr>
        <p:txBody>
          <a:bodyPr wrap="square" lIns="0" tIns="170053" rIns="0" bIns="0" rtlCol="0" anchor="t">
            <a:spAutoFit/>
          </a:bodyPr>
          <a:lstStyle/>
          <a:p>
            <a:pPr marL="0" indent="0" algn="l">
              <a:lnSpc>
                <a:spcPts val="2400"/>
              </a:lnSpc>
              <a:buNone/>
            </a:pPr>
            <a:r>
              <a:rPr lang="en-US" sz="1808" b="1" dirty="0">
                <a:solidFill>
                  <a:srgbClr val="EA580C"/>
                </a:solidFill>
                <a:latin typeface="Inter" pitchFamily="34" charset="0"/>
                <a:ea typeface="Inter" pitchFamily="34" charset="-122"/>
                <a:cs typeface="Inter" pitchFamily="34" charset="-120"/>
              </a:rPr>
              <a:t>97%</a:t>
            </a:r>
            <a:endParaRPr lang="en-US" sz="1808" dirty="0"/>
          </a:p>
        </p:txBody>
      </p:sp>
      <p:sp>
        <p:nvSpPr>
          <p:cNvPr id="9" name="Text 7">
            <a:extLst>
              <a:ext uri="{FF2B5EF4-FFF2-40B4-BE49-F238E27FC236}">
                <a16:creationId xmlns:a16="http://schemas.microsoft.com/office/drawing/2014/main" id="{56B07B85-531D-0D22-318D-529293EB464F}"/>
              </a:ext>
            </a:extLst>
          </p:cNvPr>
          <p:cNvSpPr/>
          <p:nvPr/>
        </p:nvSpPr>
        <p:spPr>
          <a:xfrm>
            <a:off x="457200" y="3171043"/>
            <a:ext cx="2443163"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111827"/>
                </a:solidFill>
                <a:latin typeface="JetBrains Mono" pitchFamily="34" charset="0"/>
                <a:ea typeface="JetBrains Mono" pitchFamily="34" charset="-122"/>
                <a:cs typeface="JetBrains Mono" pitchFamily="34" charset="-120"/>
              </a:rPr>
              <a:t>ACCURACY POTENTIAL</a:t>
            </a:r>
            <a:endParaRPr lang="en-US" sz="727" dirty="0"/>
          </a:p>
        </p:txBody>
      </p:sp>
      <p:sp>
        <p:nvSpPr>
          <p:cNvPr id="10" name="Text 8">
            <a:extLst>
              <a:ext uri="{FF2B5EF4-FFF2-40B4-BE49-F238E27FC236}">
                <a16:creationId xmlns:a16="http://schemas.microsoft.com/office/drawing/2014/main" id="{A6371B7B-F87E-EE8E-806C-635C775840E6}"/>
              </a:ext>
            </a:extLst>
          </p:cNvPr>
          <p:cNvSpPr/>
          <p:nvPr/>
        </p:nvSpPr>
        <p:spPr>
          <a:xfrm>
            <a:off x="2757488" y="1100138"/>
            <a:ext cx="646011" cy="121123"/>
          </a:xfrm>
          <a:prstGeom prst="rect">
            <a:avLst/>
          </a:prstGeom>
          <a:noFill/>
          <a:ln/>
        </p:spPr>
        <p:txBody>
          <a:bodyPr wrap="none" lIns="0" tIns="0" rIns="0" bIns="0" rtlCol="0" anchor="t">
            <a:spAutoFit/>
          </a:bodyPr>
          <a:lstStyle/>
          <a:p>
            <a:pPr marL="0" indent="0" algn="l">
              <a:lnSpc>
                <a:spcPts val="900"/>
              </a:lnSpc>
              <a:buNone/>
            </a:pPr>
            <a:r>
              <a:rPr lang="en-US" sz="1050" b="1" dirty="0">
                <a:solidFill>
                  <a:srgbClr val="2563EB"/>
                </a:solidFill>
                <a:latin typeface="JetBrains Mono" pitchFamily="34" charset="0"/>
                <a:ea typeface="JetBrains Mono" pitchFamily="34" charset="-122"/>
                <a:cs typeface="JetBrains Mono" pitchFamily="34" charset="-120"/>
              </a:rPr>
              <a:t>EXECUTION</a:t>
            </a:r>
            <a:endParaRPr lang="en-US" sz="683" dirty="0"/>
          </a:p>
        </p:txBody>
      </p:sp>
      <p:sp>
        <p:nvSpPr>
          <p:cNvPr id="11" name="Text 9">
            <a:extLst>
              <a:ext uri="{FF2B5EF4-FFF2-40B4-BE49-F238E27FC236}">
                <a16:creationId xmlns:a16="http://schemas.microsoft.com/office/drawing/2014/main" id="{6763503C-BE45-046D-271E-8135B2824FC1}"/>
              </a:ext>
            </a:extLst>
          </p:cNvPr>
          <p:cNvSpPr/>
          <p:nvPr/>
        </p:nvSpPr>
        <p:spPr>
          <a:xfrm>
            <a:off x="2771776" y="1343025"/>
            <a:ext cx="2443163"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11827"/>
                </a:solidFill>
                <a:latin typeface="Inter" pitchFamily="34" charset="0"/>
                <a:ea typeface="Inter" pitchFamily="34" charset="-122"/>
                <a:cs typeface="Inter" pitchFamily="34" charset="-120"/>
              </a:rPr>
              <a:t>ROBOTICS &amp; AUTOMATION</a:t>
            </a:r>
            <a:endParaRPr lang="en-US" sz="1193" dirty="0"/>
          </a:p>
        </p:txBody>
      </p:sp>
      <p:sp>
        <p:nvSpPr>
          <p:cNvPr id="12" name="Text 10">
            <a:extLst>
              <a:ext uri="{FF2B5EF4-FFF2-40B4-BE49-F238E27FC236}">
                <a16:creationId xmlns:a16="http://schemas.microsoft.com/office/drawing/2014/main" id="{DA1DFDA7-1F08-F8DE-FC88-4EA8D5B5B84A}"/>
              </a:ext>
            </a:extLst>
          </p:cNvPr>
          <p:cNvSpPr/>
          <p:nvPr/>
        </p:nvSpPr>
        <p:spPr>
          <a:xfrm>
            <a:off x="2669598" y="1685228"/>
            <a:ext cx="2443163"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B5563"/>
                </a:solidFill>
                <a:latin typeface="JetBrains Mono" pitchFamily="34" charset="0"/>
                <a:ea typeface="JetBrains Mono" pitchFamily="34" charset="-122"/>
                <a:cs typeface="JetBrains Mono" pitchFamily="34" charset="-120"/>
              </a:rPr>
              <a:t>AI-driven robotics optimize resource allocation and perform predictive maintenance, ensuring operational cost stability and reducing labor-related overheads.</a:t>
            </a:r>
            <a:endParaRPr lang="en-US" sz="834" dirty="0"/>
          </a:p>
        </p:txBody>
      </p:sp>
      <p:sp>
        <p:nvSpPr>
          <p:cNvPr id="13" name="Text 11">
            <a:extLst>
              <a:ext uri="{FF2B5EF4-FFF2-40B4-BE49-F238E27FC236}">
                <a16:creationId xmlns:a16="http://schemas.microsoft.com/office/drawing/2014/main" id="{AFB8CDA7-B84A-958A-CD82-6242EA086D35}"/>
              </a:ext>
            </a:extLst>
          </p:cNvPr>
          <p:cNvSpPr/>
          <p:nvPr/>
        </p:nvSpPr>
        <p:spPr>
          <a:xfrm>
            <a:off x="2855912" y="2557734"/>
            <a:ext cx="2443163" cy="469702"/>
          </a:xfrm>
          <a:prstGeom prst="rect">
            <a:avLst/>
          </a:prstGeom>
          <a:noFill/>
          <a:ln/>
        </p:spPr>
        <p:txBody>
          <a:bodyPr wrap="square" lIns="0" tIns="170053" rIns="0" bIns="0" rtlCol="0" anchor="t">
            <a:spAutoFit/>
          </a:bodyPr>
          <a:lstStyle/>
          <a:p>
            <a:pPr marL="0" indent="0" algn="l">
              <a:lnSpc>
                <a:spcPts val="2400"/>
              </a:lnSpc>
              <a:buNone/>
            </a:pPr>
            <a:r>
              <a:rPr lang="en-US" sz="1808" b="1" dirty="0">
                <a:solidFill>
                  <a:srgbClr val="EA580C"/>
                </a:solidFill>
                <a:latin typeface="Inter" pitchFamily="34" charset="0"/>
                <a:ea typeface="Inter" pitchFamily="34" charset="-122"/>
                <a:cs typeface="Inter" pitchFamily="34" charset="-120"/>
              </a:rPr>
              <a:t>73%</a:t>
            </a:r>
            <a:endParaRPr lang="en-US" sz="1808" dirty="0"/>
          </a:p>
        </p:txBody>
      </p:sp>
      <p:sp>
        <p:nvSpPr>
          <p:cNvPr id="14" name="Text 12">
            <a:extLst>
              <a:ext uri="{FF2B5EF4-FFF2-40B4-BE49-F238E27FC236}">
                <a16:creationId xmlns:a16="http://schemas.microsoft.com/office/drawing/2014/main" id="{8B5A4DEA-D365-2B8A-74DE-B324457A97E6}"/>
              </a:ext>
            </a:extLst>
          </p:cNvPr>
          <p:cNvSpPr/>
          <p:nvPr/>
        </p:nvSpPr>
        <p:spPr>
          <a:xfrm>
            <a:off x="2771776" y="3171043"/>
            <a:ext cx="2443163"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111827"/>
                </a:solidFill>
                <a:latin typeface="JetBrains Mono" pitchFamily="34" charset="0"/>
                <a:ea typeface="JetBrains Mono" pitchFamily="34" charset="-122"/>
                <a:cs typeface="JetBrains Mono" pitchFamily="34" charset="-120"/>
              </a:rPr>
              <a:t>ERROR REDUCTION</a:t>
            </a:r>
            <a:endParaRPr lang="en-US" sz="727" dirty="0"/>
          </a:p>
        </p:txBody>
      </p:sp>
      <p:sp>
        <p:nvSpPr>
          <p:cNvPr id="15" name="Text 13">
            <a:extLst>
              <a:ext uri="{FF2B5EF4-FFF2-40B4-BE49-F238E27FC236}">
                <a16:creationId xmlns:a16="http://schemas.microsoft.com/office/drawing/2014/main" id="{03226C69-0BCE-7056-7B46-23B0C21CCB66}"/>
              </a:ext>
            </a:extLst>
          </p:cNvPr>
          <p:cNvSpPr/>
          <p:nvPr/>
        </p:nvSpPr>
        <p:spPr>
          <a:xfrm>
            <a:off x="5353627" y="979015"/>
            <a:ext cx="865622" cy="121123"/>
          </a:xfrm>
          <a:prstGeom prst="rect">
            <a:avLst/>
          </a:prstGeom>
          <a:noFill/>
          <a:ln/>
        </p:spPr>
        <p:txBody>
          <a:bodyPr wrap="none" lIns="0" tIns="0" rIns="0" bIns="0" rtlCol="0" anchor="t">
            <a:spAutoFit/>
          </a:bodyPr>
          <a:lstStyle/>
          <a:p>
            <a:pPr marL="0" indent="0" algn="l">
              <a:lnSpc>
                <a:spcPts val="900"/>
              </a:lnSpc>
              <a:buNone/>
            </a:pPr>
            <a:r>
              <a:rPr lang="en-US" sz="1050" b="1" dirty="0">
                <a:solidFill>
                  <a:srgbClr val="2563EB"/>
                </a:solidFill>
                <a:latin typeface="JetBrains Mono" pitchFamily="34" charset="0"/>
                <a:ea typeface="JetBrains Mono" pitchFamily="34" charset="-122"/>
                <a:cs typeface="JetBrains Mono" pitchFamily="34" charset="-120"/>
              </a:rPr>
              <a:t>PERFORMANCE</a:t>
            </a:r>
            <a:endParaRPr lang="en-US" sz="683" dirty="0"/>
          </a:p>
        </p:txBody>
      </p:sp>
      <p:sp>
        <p:nvSpPr>
          <p:cNvPr id="16" name="Text 14">
            <a:extLst>
              <a:ext uri="{FF2B5EF4-FFF2-40B4-BE49-F238E27FC236}">
                <a16:creationId xmlns:a16="http://schemas.microsoft.com/office/drawing/2014/main" id="{004B9357-1A81-6CFB-B433-F427B415C1DC}"/>
              </a:ext>
            </a:extLst>
          </p:cNvPr>
          <p:cNvSpPr/>
          <p:nvPr/>
        </p:nvSpPr>
        <p:spPr>
          <a:xfrm>
            <a:off x="5299075" y="1221261"/>
            <a:ext cx="245745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11827"/>
                </a:solidFill>
                <a:latin typeface="Inter" pitchFamily="34" charset="0"/>
                <a:ea typeface="Inter" pitchFamily="34" charset="-122"/>
                <a:cs typeface="Inter" pitchFamily="34" charset="-120"/>
              </a:rPr>
              <a:t>EFFICIENCY GAINS</a:t>
            </a:r>
            <a:endParaRPr lang="en-US" sz="1193" dirty="0"/>
          </a:p>
        </p:txBody>
      </p:sp>
      <p:sp>
        <p:nvSpPr>
          <p:cNvPr id="17" name="Text 15">
            <a:extLst>
              <a:ext uri="{FF2B5EF4-FFF2-40B4-BE49-F238E27FC236}">
                <a16:creationId xmlns:a16="http://schemas.microsoft.com/office/drawing/2014/main" id="{1C165682-EBDA-B8FC-0E9E-006B31C49D2D}"/>
              </a:ext>
            </a:extLst>
          </p:cNvPr>
          <p:cNvSpPr/>
          <p:nvPr/>
        </p:nvSpPr>
        <p:spPr>
          <a:xfrm>
            <a:off x="5299075" y="1596574"/>
            <a:ext cx="1831975" cy="700769"/>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B5563"/>
                </a:solidFill>
                <a:latin typeface="JetBrains Mono" pitchFamily="34" charset="0"/>
                <a:ea typeface="JetBrains Mono" pitchFamily="34" charset="-122"/>
                <a:cs typeface="JetBrains Mono" pitchFamily="34" charset="-120"/>
              </a:rPr>
              <a:t>AI-powered estimation workflows accelerate bid submissions and decision-making by automating complex data processing tasks.</a:t>
            </a:r>
            <a:endParaRPr lang="en-US" sz="834" dirty="0"/>
          </a:p>
        </p:txBody>
      </p:sp>
      <p:sp>
        <p:nvSpPr>
          <p:cNvPr id="18" name="Text 16">
            <a:extLst>
              <a:ext uri="{FF2B5EF4-FFF2-40B4-BE49-F238E27FC236}">
                <a16:creationId xmlns:a16="http://schemas.microsoft.com/office/drawing/2014/main" id="{6D43142C-0CF1-0B72-0974-21CC605D209A}"/>
              </a:ext>
            </a:extLst>
          </p:cNvPr>
          <p:cNvSpPr/>
          <p:nvPr/>
        </p:nvSpPr>
        <p:spPr>
          <a:xfrm>
            <a:off x="5464175" y="2552218"/>
            <a:ext cx="2457450" cy="469702"/>
          </a:xfrm>
          <a:prstGeom prst="rect">
            <a:avLst/>
          </a:prstGeom>
          <a:noFill/>
          <a:ln/>
        </p:spPr>
        <p:txBody>
          <a:bodyPr wrap="square" lIns="0" tIns="170053" rIns="0" bIns="0" rtlCol="0" anchor="t">
            <a:spAutoFit/>
          </a:bodyPr>
          <a:lstStyle/>
          <a:p>
            <a:pPr marL="0" indent="0" algn="l">
              <a:lnSpc>
                <a:spcPts val="2400"/>
              </a:lnSpc>
              <a:buNone/>
            </a:pPr>
            <a:r>
              <a:rPr lang="en-US" sz="1808" b="1" dirty="0">
                <a:solidFill>
                  <a:srgbClr val="EA580C"/>
                </a:solidFill>
                <a:latin typeface="Inter" pitchFamily="34" charset="0"/>
                <a:ea typeface="Inter" pitchFamily="34" charset="-122"/>
                <a:cs typeface="Inter" pitchFamily="34" charset="-120"/>
              </a:rPr>
              <a:t>7X</a:t>
            </a:r>
            <a:endParaRPr lang="en-US" sz="1808" dirty="0"/>
          </a:p>
        </p:txBody>
      </p:sp>
      <p:sp>
        <p:nvSpPr>
          <p:cNvPr id="19" name="Text 17">
            <a:extLst>
              <a:ext uri="{FF2B5EF4-FFF2-40B4-BE49-F238E27FC236}">
                <a16:creationId xmlns:a16="http://schemas.microsoft.com/office/drawing/2014/main" id="{E07959D3-3D80-17ED-42F8-B681C9ECCA92}"/>
              </a:ext>
            </a:extLst>
          </p:cNvPr>
          <p:cNvSpPr/>
          <p:nvPr/>
        </p:nvSpPr>
        <p:spPr>
          <a:xfrm>
            <a:off x="5353627" y="3118300"/>
            <a:ext cx="2457450"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111827"/>
                </a:solidFill>
                <a:latin typeface="JetBrains Mono" pitchFamily="34" charset="0"/>
                <a:ea typeface="JetBrains Mono" pitchFamily="34" charset="-122"/>
                <a:cs typeface="JetBrains Mono" pitchFamily="34" charset="-120"/>
              </a:rPr>
              <a:t>FASTER ESTIMATION</a:t>
            </a:r>
            <a:endParaRPr lang="en-US" sz="727" dirty="0"/>
          </a:p>
        </p:txBody>
      </p:sp>
    </p:spTree>
    <p:extLst>
      <p:ext uri="{BB962C8B-B14F-4D97-AF65-F5344CB8AC3E}">
        <p14:creationId xmlns:p14="http://schemas.microsoft.com/office/powerpoint/2010/main" val="843634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E78B5BF9-2E19-7EF1-9574-D07875E49540}"/>
              </a:ext>
            </a:extLst>
          </p:cNvPr>
          <p:cNvSpPr/>
          <p:nvPr/>
        </p:nvSpPr>
        <p:spPr>
          <a:xfrm>
            <a:off x="424295" y="485301"/>
            <a:ext cx="1896341" cy="263790"/>
          </a:xfrm>
          <a:prstGeom prst="rect">
            <a:avLst/>
          </a:prstGeom>
          <a:noFill/>
          <a:ln/>
        </p:spPr>
        <p:txBody>
          <a:bodyPr wrap="square" lIns="0" tIns="0" rIns="0" bIns="0" rtlCol="0" anchor="t">
            <a:spAutoFit/>
          </a:bodyPr>
          <a:lstStyle/>
          <a:p>
            <a:pPr marL="0" indent="0" algn="l">
              <a:lnSpc>
                <a:spcPts val="2200"/>
              </a:lnSpc>
              <a:buNone/>
            </a:pPr>
            <a:r>
              <a:rPr lang="en-US" b="1" dirty="0">
                <a:solidFill>
                  <a:srgbClr val="111827"/>
                </a:solidFill>
                <a:latin typeface="Playfair Display" panose="00000500000000000000" pitchFamily="2" charset="0"/>
                <a:ea typeface="Inter" pitchFamily="34" charset="-122"/>
                <a:cs typeface="Inter" pitchFamily="34" charset="-120"/>
              </a:rPr>
              <a:t>ERP Integration </a:t>
            </a:r>
            <a:endParaRPr lang="en-US" dirty="0">
              <a:latin typeface="Playfair Display" panose="00000500000000000000" pitchFamily="2" charset="0"/>
            </a:endParaRPr>
          </a:p>
        </p:txBody>
      </p:sp>
      <p:sp>
        <p:nvSpPr>
          <p:cNvPr id="6" name="Text 5">
            <a:extLst>
              <a:ext uri="{FF2B5EF4-FFF2-40B4-BE49-F238E27FC236}">
                <a16:creationId xmlns:a16="http://schemas.microsoft.com/office/drawing/2014/main" id="{3483EE1F-E4E8-892A-C8F4-289BCDEC4524}"/>
              </a:ext>
            </a:extLst>
          </p:cNvPr>
          <p:cNvSpPr/>
          <p:nvPr/>
        </p:nvSpPr>
        <p:spPr>
          <a:xfrm>
            <a:off x="457200" y="1044886"/>
            <a:ext cx="3162300" cy="180690"/>
          </a:xfrm>
          <a:prstGeom prst="rect">
            <a:avLst/>
          </a:prstGeom>
          <a:noFill/>
          <a:ln/>
        </p:spPr>
        <p:txBody>
          <a:bodyPr wrap="square" lIns="0" tIns="0" rIns="0" bIns="0" rtlCol="0" anchor="t">
            <a:spAutoFit/>
          </a:bodyPr>
          <a:lstStyle/>
          <a:p>
            <a:pPr marL="0" indent="0" algn="l">
              <a:lnSpc>
                <a:spcPts val="1400"/>
              </a:lnSpc>
              <a:buNone/>
            </a:pPr>
            <a:r>
              <a:rPr lang="en-US" sz="1400" b="1" dirty="0">
                <a:solidFill>
                  <a:srgbClr val="2563EB"/>
                </a:solidFill>
                <a:latin typeface="JetBrains Mono" pitchFamily="34" charset="0"/>
                <a:ea typeface="JetBrains Mono" pitchFamily="34" charset="-122"/>
                <a:cs typeface="JetBrains Mono" pitchFamily="34" charset="-120"/>
              </a:rPr>
              <a:t>AI AS THE INTELLIGENCE LAYER</a:t>
            </a:r>
            <a:endParaRPr lang="en-US" sz="1400" dirty="0"/>
          </a:p>
        </p:txBody>
      </p:sp>
      <p:sp>
        <p:nvSpPr>
          <p:cNvPr id="7" name="Text 6">
            <a:extLst>
              <a:ext uri="{FF2B5EF4-FFF2-40B4-BE49-F238E27FC236}">
                <a16:creationId xmlns:a16="http://schemas.microsoft.com/office/drawing/2014/main" id="{99D92417-5193-2A76-1A72-0ED6D6182609}"/>
              </a:ext>
            </a:extLst>
          </p:cNvPr>
          <p:cNvSpPr/>
          <p:nvPr/>
        </p:nvSpPr>
        <p:spPr>
          <a:xfrm>
            <a:off x="457200" y="1403747"/>
            <a:ext cx="4523509" cy="538609"/>
          </a:xfrm>
          <a:prstGeom prst="rect">
            <a:avLst/>
          </a:prstGeom>
          <a:noFill/>
          <a:ln/>
        </p:spPr>
        <p:txBody>
          <a:bodyPr wrap="square" lIns="0" tIns="0" rIns="0" bIns="0" rtlCol="0" anchor="t">
            <a:spAutoFit/>
          </a:bodyPr>
          <a:lstStyle/>
          <a:p>
            <a:pPr marL="0" indent="0" algn="l">
              <a:lnSpc>
                <a:spcPts val="1400"/>
              </a:lnSpc>
              <a:buNone/>
            </a:pPr>
            <a:r>
              <a:rPr lang="en-US" sz="1200" b="1" dirty="0">
                <a:solidFill>
                  <a:srgbClr val="4B5563"/>
                </a:solidFill>
                <a:latin typeface="JetBrains Mono" pitchFamily="34" charset="0"/>
                <a:ea typeface="JetBrains Mono" pitchFamily="34" charset="-122"/>
                <a:cs typeface="JetBrains Mono" pitchFamily="34" charset="-120"/>
              </a:rPr>
              <a:t>AI acts as a dynamic bridge between </a:t>
            </a:r>
            <a:r>
              <a:rPr lang="en-US" sz="1100" b="1" dirty="0">
                <a:solidFill>
                  <a:srgbClr val="EA580C"/>
                </a:solidFill>
                <a:latin typeface="JetBrains Mono" pitchFamily="34" charset="0"/>
                <a:ea typeface="JetBrains Mono" pitchFamily="34" charset="-122"/>
                <a:cs typeface="JetBrains Mono" pitchFamily="34" charset="-120"/>
              </a:rPr>
              <a:t>BIM (Design)</a:t>
            </a:r>
            <a:r>
              <a:rPr lang="en-US" sz="1200" b="1" dirty="0">
                <a:solidFill>
                  <a:srgbClr val="4B5563"/>
                </a:solidFill>
                <a:latin typeface="JetBrains Mono" pitchFamily="34" charset="0"/>
                <a:ea typeface="JetBrains Mono" pitchFamily="34" charset="-122"/>
                <a:cs typeface="JetBrains Mono" pitchFamily="34" charset="-120"/>
              </a:rPr>
              <a:t> and </a:t>
            </a:r>
            <a:r>
              <a:rPr lang="en-US" sz="1100" b="1" dirty="0">
                <a:solidFill>
                  <a:srgbClr val="EA580C"/>
                </a:solidFill>
                <a:latin typeface="JetBrains Mono" pitchFamily="34" charset="0"/>
                <a:ea typeface="JetBrains Mono" pitchFamily="34" charset="-122"/>
                <a:cs typeface="JetBrains Mono" pitchFamily="34" charset="-120"/>
              </a:rPr>
              <a:t>ERP (Finance)</a:t>
            </a:r>
            <a:r>
              <a:rPr lang="en-US" sz="1200" b="1" dirty="0">
                <a:solidFill>
                  <a:srgbClr val="4B5563"/>
                </a:solidFill>
                <a:latin typeface="JetBrains Mono" pitchFamily="34" charset="0"/>
                <a:ea typeface="JetBrains Mono" pitchFamily="34" charset="-122"/>
                <a:cs typeface="JetBrains Mono" pitchFamily="34" charset="-120"/>
              </a:rPr>
              <a:t>, syncing real-time pricing databases and economic indicators to create a "Single Source of Truth."</a:t>
            </a:r>
            <a:endParaRPr lang="en-US" sz="1200" b="1" dirty="0"/>
          </a:p>
        </p:txBody>
      </p:sp>
      <p:sp>
        <p:nvSpPr>
          <p:cNvPr id="8" name="Text 7">
            <a:extLst>
              <a:ext uri="{FF2B5EF4-FFF2-40B4-BE49-F238E27FC236}">
                <a16:creationId xmlns:a16="http://schemas.microsoft.com/office/drawing/2014/main" id="{1951A4D7-A91A-B86F-5928-7D92D8F79968}"/>
              </a:ext>
            </a:extLst>
          </p:cNvPr>
          <p:cNvSpPr/>
          <p:nvPr/>
        </p:nvSpPr>
        <p:spPr>
          <a:xfrm>
            <a:off x="420469" y="2261285"/>
            <a:ext cx="828753" cy="141064"/>
          </a:xfrm>
          <a:prstGeom prst="rect">
            <a:avLst/>
          </a:prstGeom>
          <a:noFill/>
          <a:ln/>
        </p:spPr>
        <p:txBody>
          <a:bodyPr wrap="none" lIns="0" tIns="0" rIns="0" bIns="0" rtlCol="0" anchor="t">
            <a:spAutoFit/>
          </a:bodyPr>
          <a:lstStyle/>
          <a:p>
            <a:pPr marL="0" indent="0" algn="ctr">
              <a:lnSpc>
                <a:spcPts val="1100"/>
              </a:lnSpc>
              <a:buNone/>
            </a:pPr>
            <a:r>
              <a:rPr lang="en-US" sz="1050" b="1" dirty="0">
                <a:solidFill>
                  <a:srgbClr val="EA580C"/>
                </a:solidFill>
                <a:latin typeface="Inter" pitchFamily="34" charset="0"/>
                <a:ea typeface="Inter" pitchFamily="34" charset="-122"/>
                <a:cs typeface="Inter" pitchFamily="34" charset="-120"/>
              </a:rPr>
              <a:t>DATA INPUT</a:t>
            </a:r>
            <a:endParaRPr lang="en-US" sz="1050" dirty="0"/>
          </a:p>
        </p:txBody>
      </p:sp>
      <p:sp>
        <p:nvSpPr>
          <p:cNvPr id="9" name="Text 8">
            <a:extLst>
              <a:ext uri="{FF2B5EF4-FFF2-40B4-BE49-F238E27FC236}">
                <a16:creationId xmlns:a16="http://schemas.microsoft.com/office/drawing/2014/main" id="{B384FB79-5632-3C61-C067-59CF2A588006}"/>
              </a:ext>
            </a:extLst>
          </p:cNvPr>
          <p:cNvSpPr/>
          <p:nvPr/>
        </p:nvSpPr>
        <p:spPr>
          <a:xfrm>
            <a:off x="343009" y="2560583"/>
            <a:ext cx="1163781" cy="157928"/>
          </a:xfrm>
          <a:prstGeom prst="rect">
            <a:avLst/>
          </a:prstGeom>
          <a:noFill/>
          <a:ln/>
        </p:spPr>
        <p:txBody>
          <a:bodyPr wrap="none" lIns="0" tIns="0" rIns="0" bIns="0" rtlCol="0" anchor="t">
            <a:spAutoFit/>
          </a:bodyPr>
          <a:lstStyle/>
          <a:p>
            <a:pPr marL="0" indent="0" algn="ctr">
              <a:lnSpc>
                <a:spcPts val="1300"/>
              </a:lnSpc>
              <a:buNone/>
            </a:pPr>
            <a:r>
              <a:rPr lang="en-US" sz="1000" b="1" dirty="0">
                <a:solidFill>
                  <a:srgbClr val="4B5563"/>
                </a:solidFill>
                <a:latin typeface="JetBrains Mono" pitchFamily="34" charset="0"/>
                <a:ea typeface="JetBrains Mono" pitchFamily="34" charset="-122"/>
                <a:cs typeface="JetBrains Mono" pitchFamily="34" charset="-120"/>
              </a:rPr>
              <a:t>Historical &amp; Real-time</a:t>
            </a:r>
            <a:endParaRPr lang="en-US" sz="1000" b="1" dirty="0"/>
          </a:p>
        </p:txBody>
      </p:sp>
      <p:sp>
        <p:nvSpPr>
          <p:cNvPr id="10" name="Text 9">
            <a:extLst>
              <a:ext uri="{FF2B5EF4-FFF2-40B4-BE49-F238E27FC236}">
                <a16:creationId xmlns:a16="http://schemas.microsoft.com/office/drawing/2014/main" id="{F0F9165A-D9FF-7182-8947-AA2F743FDA12}"/>
              </a:ext>
            </a:extLst>
          </p:cNvPr>
          <p:cNvSpPr/>
          <p:nvPr/>
        </p:nvSpPr>
        <p:spPr>
          <a:xfrm>
            <a:off x="2416921" y="2233675"/>
            <a:ext cx="793487" cy="141064"/>
          </a:xfrm>
          <a:prstGeom prst="rect">
            <a:avLst/>
          </a:prstGeom>
          <a:noFill/>
          <a:ln/>
        </p:spPr>
        <p:txBody>
          <a:bodyPr wrap="none" lIns="0" tIns="0" rIns="0" bIns="0" rtlCol="0" anchor="t">
            <a:spAutoFit/>
          </a:bodyPr>
          <a:lstStyle/>
          <a:p>
            <a:pPr marL="0" indent="0" algn="ctr">
              <a:lnSpc>
                <a:spcPts val="1100"/>
              </a:lnSpc>
              <a:buNone/>
            </a:pPr>
            <a:r>
              <a:rPr lang="en-US" sz="1000" b="1" dirty="0">
                <a:solidFill>
                  <a:srgbClr val="EA580C"/>
                </a:solidFill>
                <a:latin typeface="Inter" pitchFamily="34" charset="0"/>
                <a:ea typeface="Inter" pitchFamily="34" charset="-122"/>
                <a:cs typeface="Inter" pitchFamily="34" charset="-120"/>
              </a:rPr>
              <a:t>AI ANALYSIS</a:t>
            </a:r>
            <a:endParaRPr lang="en-US" sz="1000" dirty="0"/>
          </a:p>
        </p:txBody>
      </p:sp>
      <p:sp>
        <p:nvSpPr>
          <p:cNvPr id="11" name="Text 10">
            <a:extLst>
              <a:ext uri="{FF2B5EF4-FFF2-40B4-BE49-F238E27FC236}">
                <a16:creationId xmlns:a16="http://schemas.microsoft.com/office/drawing/2014/main" id="{7799A45C-5E41-ED45-2519-BF8E4C4D6ECA}"/>
              </a:ext>
            </a:extLst>
          </p:cNvPr>
          <p:cNvSpPr/>
          <p:nvPr/>
        </p:nvSpPr>
        <p:spPr>
          <a:xfrm>
            <a:off x="2372324" y="2520048"/>
            <a:ext cx="1062791" cy="157928"/>
          </a:xfrm>
          <a:prstGeom prst="rect">
            <a:avLst/>
          </a:prstGeom>
          <a:noFill/>
          <a:ln/>
        </p:spPr>
        <p:txBody>
          <a:bodyPr wrap="none" lIns="0" tIns="0" rIns="0" bIns="0" rtlCol="0" anchor="t">
            <a:spAutoFit/>
          </a:bodyPr>
          <a:lstStyle/>
          <a:p>
            <a:pPr marL="0" indent="0" algn="ctr">
              <a:lnSpc>
                <a:spcPts val="1300"/>
              </a:lnSpc>
              <a:buNone/>
            </a:pPr>
            <a:r>
              <a:rPr lang="en-US" sz="1000" b="1" dirty="0">
                <a:solidFill>
                  <a:srgbClr val="4B5563"/>
                </a:solidFill>
                <a:latin typeface="JetBrains Mono" pitchFamily="34" charset="0"/>
                <a:ea typeface="JetBrains Mono" pitchFamily="34" charset="-122"/>
                <a:cs typeface="JetBrains Mono" pitchFamily="34" charset="-120"/>
              </a:rPr>
              <a:t>Pattern Recognition</a:t>
            </a:r>
            <a:endParaRPr lang="en-US" sz="1000" b="1" dirty="0"/>
          </a:p>
        </p:txBody>
      </p:sp>
      <p:sp>
        <p:nvSpPr>
          <p:cNvPr id="12" name="Text 11">
            <a:extLst>
              <a:ext uri="{FF2B5EF4-FFF2-40B4-BE49-F238E27FC236}">
                <a16:creationId xmlns:a16="http://schemas.microsoft.com/office/drawing/2014/main" id="{90BD4AA6-51E3-4639-200B-F76A5739E518}"/>
              </a:ext>
            </a:extLst>
          </p:cNvPr>
          <p:cNvSpPr/>
          <p:nvPr/>
        </p:nvSpPr>
        <p:spPr>
          <a:xfrm>
            <a:off x="4378107" y="2215992"/>
            <a:ext cx="601383" cy="145296"/>
          </a:xfrm>
          <a:prstGeom prst="rect">
            <a:avLst/>
          </a:prstGeom>
          <a:noFill/>
          <a:ln/>
        </p:spPr>
        <p:txBody>
          <a:bodyPr wrap="none" lIns="0" tIns="0" rIns="0" bIns="0" rtlCol="0" anchor="t">
            <a:spAutoFit/>
          </a:bodyPr>
          <a:lstStyle/>
          <a:p>
            <a:pPr marL="0" indent="0" algn="ctr">
              <a:lnSpc>
                <a:spcPts val="1100"/>
              </a:lnSpc>
              <a:buNone/>
            </a:pPr>
            <a:r>
              <a:rPr lang="en-US" sz="1200" b="1" dirty="0">
                <a:solidFill>
                  <a:srgbClr val="EA580C"/>
                </a:solidFill>
                <a:latin typeface="Inter" pitchFamily="34" charset="0"/>
                <a:ea typeface="Inter" pitchFamily="34" charset="-122"/>
                <a:cs typeface="Inter" pitchFamily="34" charset="-120"/>
              </a:rPr>
              <a:t>ERP</a:t>
            </a:r>
            <a:r>
              <a:rPr lang="en-US" sz="900" b="1" dirty="0">
                <a:solidFill>
                  <a:srgbClr val="EA580C"/>
                </a:solidFill>
                <a:latin typeface="Inter" pitchFamily="34" charset="0"/>
                <a:ea typeface="Inter" pitchFamily="34" charset="-122"/>
                <a:cs typeface="Inter" pitchFamily="34" charset="-120"/>
              </a:rPr>
              <a:t> </a:t>
            </a:r>
            <a:r>
              <a:rPr lang="en-US" sz="1200" b="1" dirty="0">
                <a:solidFill>
                  <a:srgbClr val="EA580C"/>
                </a:solidFill>
                <a:latin typeface="Inter" pitchFamily="34" charset="0"/>
                <a:ea typeface="Inter" pitchFamily="34" charset="-122"/>
                <a:cs typeface="Inter" pitchFamily="34" charset="-120"/>
              </a:rPr>
              <a:t>SYNC</a:t>
            </a:r>
            <a:endParaRPr lang="en-US" sz="900" dirty="0"/>
          </a:p>
        </p:txBody>
      </p:sp>
      <p:sp>
        <p:nvSpPr>
          <p:cNvPr id="13" name="Text 12">
            <a:extLst>
              <a:ext uri="{FF2B5EF4-FFF2-40B4-BE49-F238E27FC236}">
                <a16:creationId xmlns:a16="http://schemas.microsoft.com/office/drawing/2014/main" id="{0E89E67E-1AA3-DE3E-67D1-4D2F74D44490}"/>
              </a:ext>
            </a:extLst>
          </p:cNvPr>
          <p:cNvSpPr/>
          <p:nvPr/>
        </p:nvSpPr>
        <p:spPr>
          <a:xfrm>
            <a:off x="4151123" y="2495214"/>
            <a:ext cx="1106072" cy="157928"/>
          </a:xfrm>
          <a:prstGeom prst="rect">
            <a:avLst/>
          </a:prstGeom>
          <a:noFill/>
          <a:ln/>
        </p:spPr>
        <p:txBody>
          <a:bodyPr wrap="none" lIns="0" tIns="0" rIns="0" bIns="0" rtlCol="0" anchor="t">
            <a:spAutoFit/>
          </a:bodyPr>
          <a:lstStyle/>
          <a:p>
            <a:pPr marL="0" indent="0" algn="ctr">
              <a:lnSpc>
                <a:spcPts val="1300"/>
              </a:lnSpc>
              <a:buNone/>
            </a:pPr>
            <a:r>
              <a:rPr lang="en-US" sz="1000" b="1" dirty="0">
                <a:solidFill>
                  <a:srgbClr val="4B5563"/>
                </a:solidFill>
                <a:latin typeface="JetBrains Mono" pitchFamily="34" charset="0"/>
                <a:ea typeface="JetBrains Mono" pitchFamily="34" charset="-122"/>
                <a:cs typeface="JetBrains Mono" pitchFamily="34" charset="-120"/>
              </a:rPr>
              <a:t>Budget Optimization</a:t>
            </a:r>
            <a:endParaRPr lang="en-US" sz="1000" b="1" dirty="0"/>
          </a:p>
        </p:txBody>
      </p:sp>
      <p:sp>
        <p:nvSpPr>
          <p:cNvPr id="14" name="Text 13">
            <a:extLst>
              <a:ext uri="{FF2B5EF4-FFF2-40B4-BE49-F238E27FC236}">
                <a16:creationId xmlns:a16="http://schemas.microsoft.com/office/drawing/2014/main" id="{3532DD4C-06BC-B269-F562-99AA99CC42A9}"/>
              </a:ext>
            </a:extLst>
          </p:cNvPr>
          <p:cNvSpPr/>
          <p:nvPr/>
        </p:nvSpPr>
        <p:spPr>
          <a:xfrm>
            <a:off x="6027372" y="2173034"/>
            <a:ext cx="605935" cy="142027"/>
          </a:xfrm>
          <a:prstGeom prst="rect">
            <a:avLst/>
          </a:prstGeom>
          <a:noFill/>
          <a:ln/>
        </p:spPr>
        <p:txBody>
          <a:bodyPr wrap="none" lIns="0" tIns="0" rIns="0" bIns="0" rtlCol="0" anchor="t">
            <a:spAutoFit/>
          </a:bodyPr>
          <a:lstStyle/>
          <a:p>
            <a:pPr marL="0" indent="0" algn="ctr">
              <a:lnSpc>
                <a:spcPts val="1100"/>
              </a:lnSpc>
              <a:buNone/>
            </a:pPr>
            <a:r>
              <a:rPr lang="en-US" sz="1100" b="1" dirty="0">
                <a:solidFill>
                  <a:srgbClr val="EA580C"/>
                </a:solidFill>
                <a:latin typeface="Inter" pitchFamily="34" charset="0"/>
                <a:ea typeface="Inter" pitchFamily="34" charset="-122"/>
                <a:cs typeface="Inter" pitchFamily="34" charset="-120"/>
              </a:rPr>
              <a:t>FEEDBACK</a:t>
            </a:r>
            <a:endParaRPr lang="en-US" sz="900" dirty="0"/>
          </a:p>
        </p:txBody>
      </p:sp>
      <p:sp>
        <p:nvSpPr>
          <p:cNvPr id="15" name="Text 14">
            <a:extLst>
              <a:ext uri="{FF2B5EF4-FFF2-40B4-BE49-F238E27FC236}">
                <a16:creationId xmlns:a16="http://schemas.microsoft.com/office/drawing/2014/main" id="{F3298F8E-0B29-FAEF-18B9-0E9E91D17098}"/>
              </a:ext>
            </a:extLst>
          </p:cNvPr>
          <p:cNvSpPr/>
          <p:nvPr/>
        </p:nvSpPr>
        <p:spPr>
          <a:xfrm>
            <a:off x="5782912" y="2469582"/>
            <a:ext cx="1094852" cy="157928"/>
          </a:xfrm>
          <a:prstGeom prst="rect">
            <a:avLst/>
          </a:prstGeom>
          <a:noFill/>
          <a:ln/>
        </p:spPr>
        <p:txBody>
          <a:bodyPr wrap="none" lIns="0" tIns="0" rIns="0" bIns="0" rtlCol="0" anchor="t">
            <a:spAutoFit/>
          </a:bodyPr>
          <a:lstStyle/>
          <a:p>
            <a:pPr marL="0" indent="0" algn="ctr">
              <a:lnSpc>
                <a:spcPts val="1300"/>
              </a:lnSpc>
              <a:buNone/>
            </a:pPr>
            <a:r>
              <a:rPr lang="en-US" sz="1000" b="1" dirty="0">
                <a:solidFill>
                  <a:srgbClr val="4B5563"/>
                </a:solidFill>
                <a:latin typeface="JetBrains Mono" pitchFamily="34" charset="0"/>
                <a:ea typeface="JetBrains Mono" pitchFamily="34" charset="-122"/>
                <a:cs typeface="JetBrains Mono" pitchFamily="34" charset="-120"/>
              </a:rPr>
              <a:t>Continuous Learning</a:t>
            </a:r>
            <a:endParaRPr lang="en-US" sz="1000" b="1" dirty="0"/>
          </a:p>
        </p:txBody>
      </p:sp>
      <p:sp>
        <p:nvSpPr>
          <p:cNvPr id="16" name="Text 15">
            <a:extLst>
              <a:ext uri="{FF2B5EF4-FFF2-40B4-BE49-F238E27FC236}">
                <a16:creationId xmlns:a16="http://schemas.microsoft.com/office/drawing/2014/main" id="{93AD15C9-868F-C925-AB3F-4FDEBCCE44CE}"/>
              </a:ext>
            </a:extLst>
          </p:cNvPr>
          <p:cNvSpPr/>
          <p:nvPr/>
        </p:nvSpPr>
        <p:spPr>
          <a:xfrm>
            <a:off x="603430" y="3386205"/>
            <a:ext cx="2300288" cy="18930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11827"/>
                </a:solidFill>
                <a:latin typeface="JetBrains Mono" pitchFamily="34" charset="0"/>
                <a:ea typeface="JetBrains Mono" pitchFamily="34" charset="-122"/>
                <a:cs typeface="JetBrains Mono" pitchFamily="34" charset="-120"/>
              </a:rPr>
              <a:t>OWNERS</a:t>
            </a:r>
            <a:endParaRPr lang="en-US" sz="987" dirty="0"/>
          </a:p>
        </p:txBody>
      </p:sp>
      <p:sp>
        <p:nvSpPr>
          <p:cNvPr id="17" name="Text 16">
            <a:extLst>
              <a:ext uri="{FF2B5EF4-FFF2-40B4-BE49-F238E27FC236}">
                <a16:creationId xmlns:a16="http://schemas.microsoft.com/office/drawing/2014/main" id="{484AB71C-FAE2-4564-231C-83116B02EE4B}"/>
              </a:ext>
            </a:extLst>
          </p:cNvPr>
          <p:cNvSpPr/>
          <p:nvPr/>
        </p:nvSpPr>
        <p:spPr>
          <a:xfrm>
            <a:off x="513376" y="3733072"/>
            <a:ext cx="2300288" cy="34169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4B5563"/>
                </a:solidFill>
                <a:latin typeface="JetBrains Mono" pitchFamily="34" charset="0"/>
                <a:ea typeface="JetBrains Mono" pitchFamily="34" charset="-122"/>
                <a:cs typeface="JetBrains Mono" pitchFamily="34" charset="-120"/>
              </a:rPr>
              <a:t>Realistic financial planning and reduced capital lock-up in contingency buffers.</a:t>
            </a:r>
            <a:endParaRPr lang="en-US" sz="834" b="1" dirty="0"/>
          </a:p>
        </p:txBody>
      </p:sp>
      <p:sp>
        <p:nvSpPr>
          <p:cNvPr id="18" name="Text 17">
            <a:extLst>
              <a:ext uri="{FF2B5EF4-FFF2-40B4-BE49-F238E27FC236}">
                <a16:creationId xmlns:a16="http://schemas.microsoft.com/office/drawing/2014/main" id="{B1E4EF22-30A2-9A07-88CF-D2A0631EC8BF}"/>
              </a:ext>
            </a:extLst>
          </p:cNvPr>
          <p:cNvSpPr/>
          <p:nvPr/>
        </p:nvSpPr>
        <p:spPr>
          <a:xfrm>
            <a:off x="3393280" y="3312247"/>
            <a:ext cx="2300288" cy="18930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11827"/>
                </a:solidFill>
                <a:latin typeface="JetBrains Mono" pitchFamily="34" charset="0"/>
                <a:ea typeface="JetBrains Mono" pitchFamily="34" charset="-122"/>
                <a:cs typeface="JetBrains Mono" pitchFamily="34" charset="-120"/>
              </a:rPr>
              <a:t>CONTRACTORS</a:t>
            </a:r>
            <a:endParaRPr lang="en-US" sz="987" dirty="0"/>
          </a:p>
        </p:txBody>
      </p:sp>
      <p:sp>
        <p:nvSpPr>
          <p:cNvPr id="19" name="Text 18">
            <a:extLst>
              <a:ext uri="{FF2B5EF4-FFF2-40B4-BE49-F238E27FC236}">
                <a16:creationId xmlns:a16="http://schemas.microsoft.com/office/drawing/2014/main" id="{DD7ABFCE-F5BF-D896-8DD1-ADF45C4F1EBB}"/>
              </a:ext>
            </a:extLst>
          </p:cNvPr>
          <p:cNvSpPr/>
          <p:nvPr/>
        </p:nvSpPr>
        <p:spPr>
          <a:xfrm>
            <a:off x="3136900" y="3743161"/>
            <a:ext cx="2300288" cy="34169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4B5563"/>
                </a:solidFill>
                <a:latin typeface="JetBrains Mono" pitchFamily="34" charset="0"/>
                <a:ea typeface="JetBrains Mono" pitchFamily="34" charset="-122"/>
                <a:cs typeface="JetBrains Mono" pitchFamily="34" charset="-120"/>
              </a:rPr>
              <a:t>Competitive and profitable bidding with 7x faster estimation speed.</a:t>
            </a:r>
            <a:endParaRPr lang="en-US" sz="834" b="1" dirty="0"/>
          </a:p>
        </p:txBody>
      </p:sp>
      <p:sp>
        <p:nvSpPr>
          <p:cNvPr id="20" name="Text 19">
            <a:extLst>
              <a:ext uri="{FF2B5EF4-FFF2-40B4-BE49-F238E27FC236}">
                <a16:creationId xmlns:a16="http://schemas.microsoft.com/office/drawing/2014/main" id="{3068C11A-A2EA-9B4E-7619-ADE3DB658187}"/>
              </a:ext>
            </a:extLst>
          </p:cNvPr>
          <p:cNvSpPr/>
          <p:nvPr/>
        </p:nvSpPr>
        <p:spPr>
          <a:xfrm>
            <a:off x="5832372" y="3279761"/>
            <a:ext cx="2314575" cy="18930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11827"/>
                </a:solidFill>
                <a:latin typeface="JetBrains Mono" pitchFamily="34" charset="0"/>
                <a:ea typeface="JetBrains Mono" pitchFamily="34" charset="-122"/>
                <a:cs typeface="JetBrains Mono" pitchFamily="34" charset="-120"/>
              </a:rPr>
              <a:t>MANAGERS</a:t>
            </a:r>
            <a:endParaRPr lang="en-US" sz="987" dirty="0"/>
          </a:p>
        </p:txBody>
      </p:sp>
      <p:sp>
        <p:nvSpPr>
          <p:cNvPr id="21" name="Text 20">
            <a:extLst>
              <a:ext uri="{FF2B5EF4-FFF2-40B4-BE49-F238E27FC236}">
                <a16:creationId xmlns:a16="http://schemas.microsoft.com/office/drawing/2014/main" id="{4221C3A8-C8E8-3356-EC83-2E8CC05B0869}"/>
              </a:ext>
            </a:extLst>
          </p:cNvPr>
          <p:cNvSpPr/>
          <p:nvPr/>
        </p:nvSpPr>
        <p:spPr>
          <a:xfrm>
            <a:off x="5760425" y="3598303"/>
            <a:ext cx="1370626" cy="52123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4B5563"/>
                </a:solidFill>
                <a:latin typeface="JetBrains Mono" pitchFamily="34" charset="0"/>
                <a:ea typeface="JetBrains Mono" pitchFamily="34" charset="-122"/>
                <a:cs typeface="JetBrains Mono" pitchFamily="34" charset="-120"/>
              </a:rPr>
              <a:t>Real-time monitoring against budget and proactive risk identification.</a:t>
            </a:r>
            <a:endParaRPr lang="en-US" sz="834" b="1" dirty="0"/>
          </a:p>
        </p:txBody>
      </p:sp>
    </p:spTree>
    <p:extLst>
      <p:ext uri="{BB962C8B-B14F-4D97-AF65-F5344CB8AC3E}">
        <p14:creationId xmlns:p14="http://schemas.microsoft.com/office/powerpoint/2010/main" val="2669156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0"/>
          <p:cNvSpPr/>
          <p:nvPr/>
        </p:nvSpPr>
        <p:spPr>
          <a:xfrm>
            <a:off x="89188" y="800847"/>
            <a:ext cx="5815695" cy="466923"/>
          </a:xfrm>
          <a:prstGeom prst="rect">
            <a:avLst/>
          </a:prstGeom>
          <a:noFill/>
          <a:ln/>
        </p:spPr>
        <p:txBody>
          <a:bodyPr wrap="none" lIns="0" tIns="0" rIns="0" bIns="0" rtlCol="0" anchor="t">
            <a:spAutoFit/>
          </a:bodyPr>
          <a:lstStyle/>
          <a:p>
            <a:pPr marL="0" indent="0" algn="l">
              <a:lnSpc>
                <a:spcPts val="4000"/>
              </a:lnSpc>
              <a:buNone/>
            </a:pPr>
            <a:r>
              <a:rPr lang="en-US" sz="2800" b="1" dirty="0">
                <a:solidFill>
                  <a:srgbClr val="18181B"/>
                </a:solidFill>
                <a:latin typeface="Playfair Display" pitchFamily="34" charset="0"/>
                <a:ea typeface="Playfair Display" pitchFamily="34" charset="-122"/>
                <a:cs typeface="Playfair Display" pitchFamily="34" charset="-120"/>
              </a:rPr>
              <a:t>Accuracy Redefined: </a:t>
            </a:r>
            <a:r>
              <a:rPr lang="en-US" sz="2600" b="1" dirty="0">
                <a:solidFill>
                  <a:srgbClr val="18181B"/>
                </a:solidFill>
                <a:latin typeface="Playfair Display" pitchFamily="34" charset="0"/>
                <a:ea typeface="Playfair Display" pitchFamily="34" charset="-122"/>
                <a:cs typeface="Playfair Display" pitchFamily="34" charset="-120"/>
              </a:rPr>
              <a:t>MAPE</a:t>
            </a:r>
            <a:r>
              <a:rPr lang="en-US" sz="2800" b="1" dirty="0">
                <a:solidFill>
                  <a:srgbClr val="18181B"/>
                </a:solidFill>
                <a:latin typeface="Playfair Display" pitchFamily="34" charset="0"/>
                <a:ea typeface="Playfair Display" pitchFamily="34" charset="-122"/>
                <a:cs typeface="Playfair Display" pitchFamily="34" charset="-120"/>
              </a:rPr>
              <a:t> Results</a:t>
            </a:r>
            <a:endParaRPr lang="en-US" sz="2800" dirty="0"/>
          </a:p>
        </p:txBody>
      </p:sp>
      <p:sp>
        <p:nvSpPr>
          <p:cNvPr id="5" name="Text 1"/>
          <p:cNvSpPr/>
          <p:nvPr/>
        </p:nvSpPr>
        <p:spPr>
          <a:xfrm>
            <a:off x="571500" y="1560184"/>
            <a:ext cx="2092752" cy="206531"/>
          </a:xfrm>
          <a:prstGeom prst="rect">
            <a:avLst/>
          </a:prstGeom>
          <a:noFill/>
          <a:ln/>
        </p:spPr>
        <p:txBody>
          <a:bodyPr wrap="none" lIns="0" tIns="0" rIns="0" bIns="0" rtlCol="0" anchor="t">
            <a:spAutoFit/>
          </a:bodyPr>
          <a:lstStyle/>
          <a:p>
            <a:pPr marL="0" indent="0" algn="l">
              <a:lnSpc>
                <a:spcPts val="1600"/>
              </a:lnSpc>
              <a:buNone/>
            </a:pPr>
            <a:r>
              <a:rPr lang="en-US" sz="1600" b="1" kern="0" spc="1" dirty="0">
                <a:solidFill>
                  <a:srgbClr val="18181B"/>
                </a:solidFill>
                <a:latin typeface="Inter" pitchFamily="34" charset="0"/>
                <a:ea typeface="Inter" pitchFamily="34" charset="-122"/>
                <a:cs typeface="Inter" pitchFamily="34" charset="-120"/>
              </a:rPr>
              <a:t>TRADITIONAL METHODS</a:t>
            </a:r>
            <a:endParaRPr lang="en-US" sz="1600" dirty="0"/>
          </a:p>
        </p:txBody>
      </p:sp>
      <p:sp>
        <p:nvSpPr>
          <p:cNvPr id="6" name="Text 2"/>
          <p:cNvSpPr/>
          <p:nvPr/>
        </p:nvSpPr>
        <p:spPr>
          <a:xfrm>
            <a:off x="150725" y="1840270"/>
            <a:ext cx="2782813" cy="1076961"/>
          </a:xfrm>
          <a:prstGeom prst="rect">
            <a:avLst/>
          </a:prstGeom>
          <a:noFill/>
          <a:ln/>
        </p:spPr>
        <p:txBody>
          <a:bodyPr wrap="none" lIns="0" tIns="0" rIns="0" bIns="0" rtlCol="0" anchor="t">
            <a:spAutoFit/>
          </a:bodyPr>
          <a:lstStyle/>
          <a:p>
            <a:pPr marL="0" indent="0" algn="l">
              <a:lnSpc>
                <a:spcPts val="9000"/>
              </a:lnSpc>
              <a:buNone/>
            </a:pPr>
            <a:r>
              <a:rPr lang="en-US" sz="7200" b="1" dirty="0">
                <a:solidFill>
                  <a:srgbClr val="A1A1AA"/>
                </a:solidFill>
                <a:latin typeface="Playfair Display" pitchFamily="34" charset="0"/>
                <a:ea typeface="Playfair Display" pitchFamily="34" charset="-122"/>
                <a:cs typeface="Playfair Display" pitchFamily="34" charset="-120"/>
              </a:rPr>
              <a:t>14.50%</a:t>
            </a:r>
            <a:endParaRPr lang="en-US" sz="7200" dirty="0"/>
          </a:p>
        </p:txBody>
      </p:sp>
      <p:sp>
        <p:nvSpPr>
          <p:cNvPr id="7" name="Text 3"/>
          <p:cNvSpPr/>
          <p:nvPr/>
        </p:nvSpPr>
        <p:spPr>
          <a:xfrm>
            <a:off x="211469" y="3196749"/>
            <a:ext cx="3214688" cy="443455"/>
          </a:xfrm>
          <a:prstGeom prst="rect">
            <a:avLst/>
          </a:prstGeom>
          <a:noFill/>
          <a:ln/>
        </p:spPr>
        <p:txBody>
          <a:bodyPr wrap="square" lIns="0" tIns="0" rIns="0" bIns="0" rtlCol="0" anchor="t">
            <a:spAutoFit/>
          </a:bodyPr>
          <a:lstStyle/>
          <a:p>
            <a:pPr marL="0" indent="0" algn="l">
              <a:lnSpc>
                <a:spcPts val="1800"/>
              </a:lnSpc>
              <a:buNone/>
            </a:pPr>
            <a:r>
              <a:rPr lang="en-US" sz="1200" b="1" dirty="0">
                <a:solidFill>
                  <a:srgbClr val="52525B"/>
                </a:solidFill>
                <a:latin typeface="Inter" pitchFamily="34" charset="0"/>
                <a:ea typeface="Inter" pitchFamily="34" charset="-122"/>
                <a:cs typeface="Inter" pitchFamily="34" charset="-120"/>
              </a:rPr>
              <a:t>Baseline error rate using historical averages and expert judgment, often skewed by optimism bias.</a:t>
            </a:r>
            <a:endParaRPr lang="en-US" sz="1200" b="1" dirty="0"/>
          </a:p>
        </p:txBody>
      </p:sp>
      <p:sp>
        <p:nvSpPr>
          <p:cNvPr id="8" name="Text 4"/>
          <p:cNvSpPr/>
          <p:nvPr/>
        </p:nvSpPr>
        <p:spPr>
          <a:xfrm>
            <a:off x="4299239" y="1554125"/>
            <a:ext cx="1678793" cy="206531"/>
          </a:xfrm>
          <a:prstGeom prst="rect">
            <a:avLst/>
          </a:prstGeom>
          <a:noFill/>
          <a:ln/>
        </p:spPr>
        <p:txBody>
          <a:bodyPr wrap="none" lIns="0" tIns="0" rIns="0" bIns="0" rtlCol="0" anchor="t">
            <a:spAutoFit/>
          </a:bodyPr>
          <a:lstStyle/>
          <a:p>
            <a:pPr marL="0" indent="0" algn="l">
              <a:lnSpc>
                <a:spcPts val="1600"/>
              </a:lnSpc>
              <a:buNone/>
            </a:pPr>
            <a:r>
              <a:rPr lang="en-US" sz="1600" b="1" kern="0" spc="1" dirty="0">
                <a:solidFill>
                  <a:srgbClr val="18181B"/>
                </a:solidFill>
                <a:latin typeface="Inter" pitchFamily="34" charset="0"/>
                <a:ea typeface="Inter" pitchFamily="34" charset="-122"/>
                <a:cs typeface="Inter" pitchFamily="34" charset="-120"/>
              </a:rPr>
              <a:t>AI-DRIVEN MODELS</a:t>
            </a:r>
            <a:endParaRPr lang="en-US" sz="1600" dirty="0"/>
          </a:p>
        </p:txBody>
      </p:sp>
      <p:sp>
        <p:nvSpPr>
          <p:cNvPr id="9" name="Text 5"/>
          <p:cNvSpPr/>
          <p:nvPr/>
        </p:nvSpPr>
        <p:spPr>
          <a:xfrm>
            <a:off x="3981723" y="1840270"/>
            <a:ext cx="2778005" cy="1076961"/>
          </a:xfrm>
          <a:prstGeom prst="rect">
            <a:avLst/>
          </a:prstGeom>
          <a:noFill/>
          <a:ln/>
        </p:spPr>
        <p:txBody>
          <a:bodyPr wrap="none" lIns="0" tIns="0" rIns="0" bIns="0" rtlCol="0" anchor="t">
            <a:spAutoFit/>
          </a:bodyPr>
          <a:lstStyle/>
          <a:p>
            <a:pPr marL="0" indent="0" algn="l">
              <a:lnSpc>
                <a:spcPts val="9000"/>
              </a:lnSpc>
              <a:buNone/>
            </a:pPr>
            <a:r>
              <a:rPr lang="en-US" sz="7200" b="1" dirty="0">
                <a:solidFill>
                  <a:schemeClr val="tx1">
                    <a:lumMod val="50000"/>
                    <a:lumOff val="50000"/>
                  </a:schemeClr>
                </a:solidFill>
                <a:latin typeface="Playfair Display" pitchFamily="34" charset="0"/>
                <a:ea typeface="Playfair Display" pitchFamily="34" charset="-122"/>
                <a:cs typeface="Playfair Display" pitchFamily="34" charset="-120"/>
              </a:rPr>
              <a:t>10.25%</a:t>
            </a:r>
            <a:endParaRPr lang="en-US" sz="7200" dirty="0">
              <a:solidFill>
                <a:schemeClr val="tx1">
                  <a:lumMod val="50000"/>
                  <a:lumOff val="50000"/>
                </a:schemeClr>
              </a:solidFill>
            </a:endParaRPr>
          </a:p>
        </p:txBody>
      </p:sp>
      <p:sp>
        <p:nvSpPr>
          <p:cNvPr id="10" name="Text 6"/>
          <p:cNvSpPr/>
          <p:nvPr/>
        </p:nvSpPr>
        <p:spPr>
          <a:xfrm>
            <a:off x="3981723" y="3195111"/>
            <a:ext cx="3214688" cy="443455"/>
          </a:xfrm>
          <a:prstGeom prst="rect">
            <a:avLst/>
          </a:prstGeom>
          <a:noFill/>
          <a:ln/>
        </p:spPr>
        <p:txBody>
          <a:bodyPr wrap="square" lIns="0" tIns="0" rIns="0" bIns="0" rtlCol="0" anchor="t">
            <a:spAutoFit/>
          </a:bodyPr>
          <a:lstStyle/>
          <a:p>
            <a:pPr marL="0" indent="0" algn="l">
              <a:lnSpc>
                <a:spcPts val="1800"/>
              </a:lnSpc>
              <a:buNone/>
            </a:pPr>
            <a:r>
              <a:rPr lang="en-US" sz="1200" b="1" dirty="0">
                <a:solidFill>
                  <a:srgbClr val="52525B"/>
                </a:solidFill>
                <a:latin typeface="Inter" pitchFamily="34" charset="0"/>
                <a:ea typeface="Inter" pitchFamily="34" charset="-122"/>
                <a:cs typeface="Inter" pitchFamily="34" charset="-120"/>
              </a:rPr>
              <a:t>Enhanced precision through multi-modal data analysis and non-linear pattern recognition.</a:t>
            </a:r>
            <a:endParaRPr lang="en-US" sz="1200" b="1" dirty="0"/>
          </a:p>
        </p:txBody>
      </p:sp>
      <p:pic>
        <p:nvPicPr>
          <p:cNvPr id="2" name="Picture 6" descr="AASTMT Media Center - المركز الإعلامى للأكاديمية العربية ...">
            <a:extLst>
              <a:ext uri="{FF2B5EF4-FFF2-40B4-BE49-F238E27FC236}">
                <a16:creationId xmlns:a16="http://schemas.microsoft.com/office/drawing/2014/main" id="{5EE01C01-CFB0-5F1C-A3DF-698A82BA1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972"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0"/>
          <p:cNvSpPr/>
          <p:nvPr/>
        </p:nvSpPr>
        <p:spPr>
          <a:xfrm>
            <a:off x="571500" y="1022959"/>
            <a:ext cx="8001000" cy="532209"/>
          </a:xfrm>
          <a:prstGeom prst="rect">
            <a:avLst/>
          </a:prstGeom>
          <a:noFill/>
          <a:ln/>
        </p:spPr>
        <p:txBody>
          <a:bodyPr wrap="none" lIns="0" tIns="0" rIns="0" bIns="0" rtlCol="0" anchor="t">
            <a:spAutoFit/>
          </a:bodyPr>
          <a:lstStyle/>
          <a:p>
            <a:pPr marL="0" indent="0" algn="l">
              <a:lnSpc>
                <a:spcPts val="3800"/>
              </a:lnSpc>
              <a:buNone/>
            </a:pPr>
            <a:r>
              <a:rPr lang="en-US" sz="2862" b="1" dirty="0">
                <a:solidFill>
                  <a:srgbClr val="18181B"/>
                </a:solidFill>
                <a:latin typeface="Playfair Display" pitchFamily="34" charset="0"/>
                <a:ea typeface="Playfair Display" pitchFamily="34" charset="-122"/>
                <a:cs typeface="Playfair Display" pitchFamily="34" charset="-120"/>
              </a:rPr>
              <a:t>Financial Impact: The Overrun Gap</a:t>
            </a:r>
            <a:endParaRPr lang="en-US" sz="2862" dirty="0"/>
          </a:p>
        </p:txBody>
      </p:sp>
      <p:sp>
        <p:nvSpPr>
          <p:cNvPr id="5" name="Text 1"/>
          <p:cNvSpPr/>
          <p:nvPr/>
        </p:nvSpPr>
        <p:spPr>
          <a:xfrm>
            <a:off x="571500" y="1759658"/>
            <a:ext cx="1772348" cy="448270"/>
          </a:xfrm>
          <a:prstGeom prst="rect">
            <a:avLst/>
          </a:prstGeom>
          <a:noFill/>
          <a:ln/>
        </p:spPr>
        <p:txBody>
          <a:bodyPr wrap="square" lIns="0" tIns="170053" rIns="0" bIns="170053" rtlCol="0" anchor="ctr">
            <a:spAutoFit/>
          </a:bodyPr>
          <a:lstStyle/>
          <a:p>
            <a:pPr marL="0" indent="0" algn="l">
              <a:lnSpc>
                <a:spcPts val="1200"/>
              </a:lnSpc>
              <a:buNone/>
            </a:pPr>
            <a:r>
              <a:rPr lang="en-US" sz="885" b="1" kern="0" spc="1" dirty="0">
                <a:solidFill>
                  <a:srgbClr val="18181B"/>
                </a:solidFill>
                <a:latin typeface="Inter" pitchFamily="34" charset="0"/>
                <a:ea typeface="Inter" pitchFamily="34" charset="-122"/>
                <a:cs typeface="Inter" pitchFamily="34" charset="-120"/>
              </a:rPr>
              <a:t>METRIC</a:t>
            </a:r>
            <a:endParaRPr lang="en-US" sz="885" dirty="0"/>
          </a:p>
        </p:txBody>
      </p:sp>
      <p:sp>
        <p:nvSpPr>
          <p:cNvPr id="6" name="Text 2"/>
          <p:cNvSpPr/>
          <p:nvPr/>
        </p:nvSpPr>
        <p:spPr>
          <a:xfrm>
            <a:off x="2343848" y="1764439"/>
            <a:ext cx="1487630" cy="448270"/>
          </a:xfrm>
          <a:prstGeom prst="rect">
            <a:avLst/>
          </a:prstGeom>
          <a:noFill/>
          <a:ln/>
        </p:spPr>
        <p:txBody>
          <a:bodyPr wrap="square" lIns="0" tIns="170053" rIns="0" bIns="170053" rtlCol="0" anchor="ctr">
            <a:spAutoFit/>
          </a:bodyPr>
          <a:lstStyle/>
          <a:p>
            <a:pPr marL="0" indent="0" algn="l">
              <a:lnSpc>
                <a:spcPts val="1200"/>
              </a:lnSpc>
              <a:buNone/>
            </a:pPr>
            <a:r>
              <a:rPr lang="en-US" sz="885" b="1" kern="0" spc="1" dirty="0">
                <a:solidFill>
                  <a:srgbClr val="18181B"/>
                </a:solidFill>
                <a:latin typeface="Inter" pitchFamily="34" charset="0"/>
                <a:ea typeface="Inter" pitchFamily="34" charset="-122"/>
                <a:cs typeface="Inter" pitchFamily="34" charset="-120"/>
              </a:rPr>
              <a:t>TRADITIONAL</a:t>
            </a:r>
            <a:endParaRPr lang="en-US" sz="885" dirty="0"/>
          </a:p>
        </p:txBody>
      </p:sp>
      <p:sp>
        <p:nvSpPr>
          <p:cNvPr id="7" name="Text 3"/>
          <p:cNvSpPr/>
          <p:nvPr/>
        </p:nvSpPr>
        <p:spPr>
          <a:xfrm>
            <a:off x="3714414" y="1756281"/>
            <a:ext cx="1170933" cy="448270"/>
          </a:xfrm>
          <a:prstGeom prst="rect">
            <a:avLst/>
          </a:prstGeom>
          <a:noFill/>
          <a:ln/>
        </p:spPr>
        <p:txBody>
          <a:bodyPr wrap="square" lIns="0" tIns="170053" rIns="0" bIns="170053" rtlCol="0" anchor="ctr">
            <a:spAutoFit/>
          </a:bodyPr>
          <a:lstStyle/>
          <a:p>
            <a:pPr marL="0" indent="0" algn="l">
              <a:lnSpc>
                <a:spcPts val="1200"/>
              </a:lnSpc>
              <a:buNone/>
            </a:pPr>
            <a:r>
              <a:rPr lang="en-US" sz="885" b="1" kern="0" spc="1" dirty="0">
                <a:solidFill>
                  <a:srgbClr val="18181B"/>
                </a:solidFill>
                <a:latin typeface="Inter" pitchFamily="34" charset="0"/>
                <a:ea typeface="Inter" pitchFamily="34" charset="-122"/>
                <a:cs typeface="Inter" pitchFamily="34" charset="-120"/>
              </a:rPr>
              <a:t>AI-DRIVEN</a:t>
            </a:r>
            <a:endParaRPr lang="en-US" sz="885" dirty="0"/>
          </a:p>
        </p:txBody>
      </p:sp>
      <p:sp>
        <p:nvSpPr>
          <p:cNvPr id="8" name="Text 4"/>
          <p:cNvSpPr/>
          <p:nvPr/>
        </p:nvSpPr>
        <p:spPr>
          <a:xfrm>
            <a:off x="571500" y="2125923"/>
            <a:ext cx="1772348" cy="526852"/>
          </a:xfrm>
          <a:prstGeom prst="rect">
            <a:avLst/>
          </a:prstGeom>
          <a:noFill/>
          <a:ln/>
        </p:spPr>
        <p:txBody>
          <a:bodyPr wrap="square" lIns="0" tIns="204089" rIns="0" bIns="204089" rtlCol="0" anchor="ctr">
            <a:spAutoFit/>
          </a:bodyPr>
          <a:lstStyle/>
          <a:p>
            <a:pPr marL="0" indent="0" algn="l">
              <a:lnSpc>
                <a:spcPts val="1400"/>
              </a:lnSpc>
              <a:buNone/>
            </a:pPr>
            <a:r>
              <a:rPr lang="en-US" sz="987" b="1" dirty="0">
                <a:solidFill>
                  <a:srgbClr val="18181B"/>
                </a:solidFill>
                <a:latin typeface="Inter" pitchFamily="34" charset="0"/>
                <a:ea typeface="Inter" pitchFamily="34" charset="-122"/>
                <a:cs typeface="Inter" pitchFamily="34" charset="-120"/>
              </a:rPr>
              <a:t>Total Portfolio Overrun</a:t>
            </a:r>
            <a:endParaRPr lang="en-US" sz="987" dirty="0"/>
          </a:p>
        </p:txBody>
      </p:sp>
      <p:sp>
        <p:nvSpPr>
          <p:cNvPr id="9" name="Text 5"/>
          <p:cNvSpPr/>
          <p:nvPr/>
        </p:nvSpPr>
        <p:spPr>
          <a:xfrm>
            <a:off x="2258763" y="2124137"/>
            <a:ext cx="1487630" cy="526852"/>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$44.3 Million</a:t>
            </a:r>
            <a:endParaRPr lang="en-US" sz="1050" dirty="0"/>
          </a:p>
        </p:txBody>
      </p:sp>
      <p:sp>
        <p:nvSpPr>
          <p:cNvPr id="10" name="Text 6"/>
          <p:cNvSpPr/>
          <p:nvPr/>
        </p:nvSpPr>
        <p:spPr>
          <a:xfrm>
            <a:off x="3629329" y="2167487"/>
            <a:ext cx="1170933" cy="526852"/>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$9.1 Million</a:t>
            </a:r>
            <a:endParaRPr lang="en-US" sz="1050" dirty="0"/>
          </a:p>
        </p:txBody>
      </p:sp>
      <p:sp>
        <p:nvSpPr>
          <p:cNvPr id="11" name="Text 7"/>
          <p:cNvSpPr/>
          <p:nvPr/>
        </p:nvSpPr>
        <p:spPr>
          <a:xfrm>
            <a:off x="549468" y="2670652"/>
            <a:ext cx="1772348" cy="523280"/>
          </a:xfrm>
          <a:prstGeom prst="rect">
            <a:avLst/>
          </a:prstGeom>
          <a:noFill/>
          <a:ln/>
        </p:spPr>
        <p:txBody>
          <a:bodyPr wrap="square" lIns="0" tIns="204089" rIns="0" bIns="204089" rtlCol="0" anchor="ctr">
            <a:spAutoFit/>
          </a:bodyPr>
          <a:lstStyle/>
          <a:p>
            <a:pPr marL="0" indent="0" algn="l">
              <a:lnSpc>
                <a:spcPts val="1400"/>
              </a:lnSpc>
              <a:buNone/>
            </a:pPr>
            <a:r>
              <a:rPr lang="en-US" sz="987" b="1" dirty="0">
                <a:solidFill>
                  <a:srgbClr val="18181B"/>
                </a:solidFill>
                <a:latin typeface="Inter" pitchFamily="34" charset="0"/>
                <a:ea typeface="Inter" pitchFamily="34" charset="-122"/>
                <a:cs typeface="Inter" pitchFamily="34" charset="-120"/>
              </a:rPr>
              <a:t>Overrun Percentage</a:t>
            </a:r>
            <a:endParaRPr lang="en-US" sz="987" dirty="0"/>
          </a:p>
        </p:txBody>
      </p:sp>
      <p:sp>
        <p:nvSpPr>
          <p:cNvPr id="12" name="Text 8"/>
          <p:cNvSpPr/>
          <p:nvPr/>
        </p:nvSpPr>
        <p:spPr>
          <a:xfrm>
            <a:off x="2343848" y="2673660"/>
            <a:ext cx="1487630" cy="523280"/>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9.20%</a:t>
            </a:r>
            <a:endParaRPr lang="en-US" sz="1050" dirty="0"/>
          </a:p>
        </p:txBody>
      </p:sp>
      <p:sp>
        <p:nvSpPr>
          <p:cNvPr id="13" name="Text 9"/>
          <p:cNvSpPr/>
          <p:nvPr/>
        </p:nvSpPr>
        <p:spPr>
          <a:xfrm>
            <a:off x="3625958" y="2663175"/>
            <a:ext cx="1170933" cy="523280"/>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2.10%</a:t>
            </a:r>
            <a:endParaRPr lang="en-US" sz="1050" dirty="0"/>
          </a:p>
        </p:txBody>
      </p:sp>
      <p:sp>
        <p:nvSpPr>
          <p:cNvPr id="14" name="Shape 10"/>
          <p:cNvSpPr/>
          <p:nvPr/>
        </p:nvSpPr>
        <p:spPr>
          <a:xfrm>
            <a:off x="544478" y="3204272"/>
            <a:ext cx="3861268" cy="523280"/>
          </a:xfrm>
          <a:prstGeom prst="rect">
            <a:avLst/>
          </a:prstGeom>
          <a:solidFill>
            <a:srgbClr val="8B5CF6">
              <a:alpha val="5000"/>
            </a:srgbClr>
          </a:solidFill>
          <a:ln/>
        </p:spPr>
        <p:txBody>
          <a:bodyPr/>
          <a:lstStyle/>
          <a:p>
            <a:endParaRPr lang="en-US"/>
          </a:p>
        </p:txBody>
      </p:sp>
      <p:sp>
        <p:nvSpPr>
          <p:cNvPr id="15" name="Text 11"/>
          <p:cNvSpPr/>
          <p:nvPr/>
        </p:nvSpPr>
        <p:spPr>
          <a:xfrm>
            <a:off x="560484" y="3152200"/>
            <a:ext cx="1772348" cy="523280"/>
          </a:xfrm>
          <a:prstGeom prst="rect">
            <a:avLst/>
          </a:prstGeom>
          <a:noFill/>
          <a:ln/>
        </p:spPr>
        <p:txBody>
          <a:bodyPr wrap="square" lIns="0" tIns="204089" rIns="0" bIns="204089" rtlCol="0" anchor="ctr">
            <a:spAutoFit/>
          </a:bodyPr>
          <a:lstStyle/>
          <a:p>
            <a:pPr marL="0" indent="0" algn="l">
              <a:lnSpc>
                <a:spcPts val="1400"/>
              </a:lnSpc>
              <a:buNone/>
            </a:pPr>
            <a:r>
              <a:rPr lang="en-US" sz="987" b="1" dirty="0">
                <a:solidFill>
                  <a:srgbClr val="18181B"/>
                </a:solidFill>
                <a:latin typeface="Inter" pitchFamily="34" charset="0"/>
                <a:ea typeface="Inter" pitchFamily="34" charset="-122"/>
                <a:cs typeface="Inter" pitchFamily="34" charset="-120"/>
              </a:rPr>
              <a:t>Accuracy (MAPE)</a:t>
            </a:r>
            <a:endParaRPr lang="en-US" sz="987" dirty="0"/>
          </a:p>
        </p:txBody>
      </p:sp>
      <p:sp>
        <p:nvSpPr>
          <p:cNvPr id="16" name="Text 12"/>
          <p:cNvSpPr/>
          <p:nvPr/>
        </p:nvSpPr>
        <p:spPr>
          <a:xfrm>
            <a:off x="2299784" y="3155290"/>
            <a:ext cx="1487630" cy="523280"/>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14.50%</a:t>
            </a:r>
            <a:endParaRPr lang="en-US" sz="1050" dirty="0"/>
          </a:p>
        </p:txBody>
      </p:sp>
      <p:sp>
        <p:nvSpPr>
          <p:cNvPr id="17" name="Text 13"/>
          <p:cNvSpPr/>
          <p:nvPr/>
        </p:nvSpPr>
        <p:spPr>
          <a:xfrm>
            <a:off x="3555570" y="3165630"/>
            <a:ext cx="1170933" cy="523280"/>
          </a:xfrm>
          <a:prstGeom prst="rect">
            <a:avLst/>
          </a:prstGeom>
          <a:noFill/>
          <a:ln/>
        </p:spPr>
        <p:txBody>
          <a:bodyPr wrap="square" lIns="0" tIns="204089" rIns="0" bIns="204089" rtlCol="0" anchor="ctr">
            <a:spAutoFit/>
          </a:bodyPr>
          <a:lstStyle/>
          <a:p>
            <a:pPr marL="0" indent="0" algn="l">
              <a:lnSpc>
                <a:spcPts val="1400"/>
              </a:lnSpc>
              <a:buNone/>
            </a:pPr>
            <a:r>
              <a:rPr lang="en-US" sz="1050" dirty="0">
                <a:solidFill>
                  <a:srgbClr val="52525B"/>
                </a:solidFill>
                <a:latin typeface="Inter" pitchFamily="34" charset="0"/>
                <a:ea typeface="Inter" pitchFamily="34" charset="-122"/>
                <a:cs typeface="Inter" pitchFamily="34" charset="-120"/>
              </a:rPr>
              <a:t>10.25%</a:t>
            </a:r>
            <a:endParaRPr lang="en-US" sz="1050" dirty="0"/>
          </a:p>
        </p:txBody>
      </p:sp>
      <p:sp>
        <p:nvSpPr>
          <p:cNvPr id="18" name="Text 14"/>
          <p:cNvSpPr/>
          <p:nvPr/>
        </p:nvSpPr>
        <p:spPr>
          <a:xfrm>
            <a:off x="5202044" y="1957972"/>
            <a:ext cx="1451967"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Potential Savings</a:t>
            </a:r>
            <a:endParaRPr lang="en-US" sz="1193" dirty="0"/>
          </a:p>
        </p:txBody>
      </p:sp>
      <p:sp>
        <p:nvSpPr>
          <p:cNvPr id="19" name="Text 15"/>
          <p:cNvSpPr/>
          <p:nvPr/>
        </p:nvSpPr>
        <p:spPr>
          <a:xfrm>
            <a:off x="5050535" y="2334284"/>
            <a:ext cx="2000548" cy="817916"/>
          </a:xfrm>
          <a:prstGeom prst="rect">
            <a:avLst/>
          </a:prstGeom>
          <a:noFill/>
          <a:ln/>
        </p:spPr>
        <p:txBody>
          <a:bodyPr wrap="none" lIns="0" tIns="0" rIns="0" bIns="0" rtlCol="0" anchor="t">
            <a:spAutoFit/>
          </a:bodyPr>
          <a:lstStyle/>
          <a:p>
            <a:pPr marL="0" indent="0" algn="l">
              <a:lnSpc>
                <a:spcPts val="6800"/>
              </a:lnSpc>
              <a:buNone/>
            </a:pPr>
            <a:r>
              <a:rPr lang="en-US" sz="4800" b="1" dirty="0">
                <a:solidFill>
                  <a:schemeClr val="tx1">
                    <a:lumMod val="50000"/>
                    <a:lumOff val="50000"/>
                  </a:schemeClr>
                </a:solidFill>
                <a:latin typeface="Palatino Linotype" panose="02040502050505030304" pitchFamily="18" charset="0"/>
                <a:ea typeface="Playfair Display" pitchFamily="34" charset="-122"/>
                <a:cs typeface="Playfair Display" pitchFamily="34" charset="-120"/>
              </a:rPr>
              <a:t>$35.2M</a:t>
            </a:r>
            <a:endParaRPr lang="en-US" sz="4800" dirty="0">
              <a:solidFill>
                <a:schemeClr val="tx1">
                  <a:lumMod val="50000"/>
                  <a:lumOff val="50000"/>
                </a:schemeClr>
              </a:solidFill>
              <a:latin typeface="Palatino Linotype" panose="02040502050505030304" pitchFamily="18" charset="0"/>
            </a:endParaRPr>
          </a:p>
        </p:txBody>
      </p:sp>
      <p:sp>
        <p:nvSpPr>
          <p:cNvPr id="20" name="Text 16"/>
          <p:cNvSpPr/>
          <p:nvPr/>
        </p:nvSpPr>
        <p:spPr>
          <a:xfrm>
            <a:off x="4720761" y="3204272"/>
            <a:ext cx="284857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71717A"/>
                </a:solidFill>
                <a:latin typeface="Inter" pitchFamily="34" charset="0"/>
                <a:ea typeface="Inter" pitchFamily="34" charset="-122"/>
                <a:cs typeface="Inter" pitchFamily="34" charset="-120"/>
              </a:rPr>
              <a:t>Identified reduction in budget overruns across the </a:t>
            </a:r>
            <a:r>
              <a:rPr lang="ar-EG" sz="942" dirty="0">
                <a:solidFill>
                  <a:srgbClr val="71717A"/>
                </a:solidFill>
                <a:latin typeface="Inter" pitchFamily="34" charset="0"/>
                <a:ea typeface="Inter" pitchFamily="34" charset="-122"/>
                <a:cs typeface="Inter" pitchFamily="34" charset="-120"/>
              </a:rPr>
              <a:t>300</a:t>
            </a:r>
            <a:r>
              <a:rPr lang="en-US" sz="942" dirty="0">
                <a:solidFill>
                  <a:srgbClr val="71717A"/>
                </a:solidFill>
                <a:latin typeface="Inter" pitchFamily="34" charset="0"/>
                <a:ea typeface="Inter" pitchFamily="34" charset="-122"/>
                <a:cs typeface="Inter" pitchFamily="34" charset="-120"/>
              </a:rPr>
              <a:t>-project study by transitioning to AI-driven estimation frameworks.</a:t>
            </a:r>
            <a:endParaRPr lang="en-US" sz="942" dirty="0"/>
          </a:p>
        </p:txBody>
      </p:sp>
      <p:pic>
        <p:nvPicPr>
          <p:cNvPr id="2" name="Picture 6" descr="AASTMT Media Center - المركز الإعلامى للأكاديمية العربية ...">
            <a:extLst>
              <a:ext uri="{FF2B5EF4-FFF2-40B4-BE49-F238E27FC236}">
                <a16:creationId xmlns:a16="http://schemas.microsoft.com/office/drawing/2014/main" id="{BA294DFC-FA31-25B6-88E0-4A71E906E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8763"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0"/>
          <p:cNvSpPr/>
          <p:nvPr/>
        </p:nvSpPr>
        <p:spPr>
          <a:xfrm>
            <a:off x="225829" y="934053"/>
            <a:ext cx="5595852" cy="447687"/>
          </a:xfrm>
          <a:prstGeom prst="rect">
            <a:avLst/>
          </a:prstGeom>
          <a:noFill/>
          <a:ln/>
        </p:spPr>
        <p:txBody>
          <a:bodyPr wrap="square" lIns="0" tIns="0" rIns="0" bIns="0" rtlCol="0" anchor="t">
            <a:spAutoFit/>
          </a:bodyPr>
          <a:lstStyle/>
          <a:p>
            <a:pPr marL="0" indent="0" algn="l">
              <a:lnSpc>
                <a:spcPts val="3800"/>
              </a:lnSpc>
              <a:buNone/>
            </a:pPr>
            <a:r>
              <a:rPr lang="en-US" sz="2800" b="1" dirty="0">
                <a:solidFill>
                  <a:srgbClr val="18181B"/>
                </a:solidFill>
                <a:latin typeface="Playfair Display" pitchFamily="34" charset="0"/>
                <a:ea typeface="Playfair Display" pitchFamily="34" charset="-122"/>
                <a:cs typeface="Playfair Display" pitchFamily="34" charset="-120"/>
              </a:rPr>
              <a:t>Operational Efficiency and Speed</a:t>
            </a:r>
            <a:endParaRPr lang="en-US" sz="2800" dirty="0"/>
          </a:p>
        </p:txBody>
      </p:sp>
      <p:sp>
        <p:nvSpPr>
          <p:cNvPr id="5" name="Text 1"/>
          <p:cNvSpPr/>
          <p:nvPr/>
        </p:nvSpPr>
        <p:spPr>
          <a:xfrm>
            <a:off x="446809" y="1505278"/>
            <a:ext cx="1316066" cy="1169872"/>
          </a:xfrm>
          <a:prstGeom prst="rect">
            <a:avLst/>
          </a:prstGeom>
          <a:noFill/>
          <a:ln/>
        </p:spPr>
        <p:txBody>
          <a:bodyPr wrap="none" lIns="0" tIns="0" rIns="0" bIns="0" rtlCol="0" anchor="t">
            <a:spAutoFit/>
          </a:bodyPr>
          <a:lstStyle/>
          <a:p>
            <a:pPr marL="0" indent="0" algn="l">
              <a:lnSpc>
                <a:spcPts val="9000"/>
              </a:lnSpc>
              <a:buNone/>
            </a:pPr>
            <a:r>
              <a:rPr lang="en-US" sz="10363" b="1" dirty="0">
                <a:solidFill>
                  <a:schemeClr val="tx1">
                    <a:lumMod val="50000"/>
                    <a:lumOff val="50000"/>
                  </a:schemeClr>
                </a:solidFill>
                <a:latin typeface="Playfair Display" pitchFamily="34" charset="0"/>
                <a:ea typeface="Playfair Display" pitchFamily="34" charset="-122"/>
                <a:cs typeface="Playfair Display" pitchFamily="34" charset="-120"/>
              </a:rPr>
              <a:t>7x</a:t>
            </a:r>
            <a:endParaRPr lang="en-US" sz="10363" dirty="0">
              <a:solidFill>
                <a:schemeClr val="tx1">
                  <a:lumMod val="50000"/>
                  <a:lumOff val="50000"/>
                </a:schemeClr>
              </a:solidFill>
            </a:endParaRPr>
          </a:p>
        </p:txBody>
      </p:sp>
      <p:sp>
        <p:nvSpPr>
          <p:cNvPr id="6" name="Text 2"/>
          <p:cNvSpPr/>
          <p:nvPr/>
        </p:nvSpPr>
        <p:spPr>
          <a:xfrm>
            <a:off x="334125" y="2675150"/>
            <a:ext cx="2857500" cy="830461"/>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8181B"/>
                </a:solidFill>
                <a:latin typeface="Inter" pitchFamily="34" charset="0"/>
                <a:ea typeface="Inter" pitchFamily="34" charset="-122"/>
                <a:cs typeface="Inter" pitchFamily="34" charset="-120"/>
              </a:rPr>
              <a:t>Faster estimation compared to traditional human-led processes.</a:t>
            </a:r>
            <a:endParaRPr lang="en-US" sz="1602" dirty="0"/>
          </a:p>
        </p:txBody>
      </p:sp>
      <p:sp>
        <p:nvSpPr>
          <p:cNvPr id="7" name="Text 3"/>
          <p:cNvSpPr/>
          <p:nvPr/>
        </p:nvSpPr>
        <p:spPr>
          <a:xfrm>
            <a:off x="3668857" y="1721319"/>
            <a:ext cx="385762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Accelerated Decision Making</a:t>
            </a:r>
            <a:endParaRPr lang="en-US" sz="1193" dirty="0"/>
          </a:p>
        </p:txBody>
      </p:sp>
      <p:sp>
        <p:nvSpPr>
          <p:cNvPr id="8" name="Text 4"/>
          <p:cNvSpPr/>
          <p:nvPr/>
        </p:nvSpPr>
        <p:spPr>
          <a:xfrm>
            <a:off x="3668857" y="1989102"/>
            <a:ext cx="3857625"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Rapid generation of cost estimates allows project managers to evaluate multiple design scenarios and market fluctuations in real-time.</a:t>
            </a:r>
            <a:endParaRPr lang="en-US" sz="942" dirty="0"/>
          </a:p>
        </p:txBody>
      </p:sp>
      <p:sp>
        <p:nvSpPr>
          <p:cNvPr id="9" name="Text 5"/>
          <p:cNvSpPr/>
          <p:nvPr/>
        </p:nvSpPr>
        <p:spPr>
          <a:xfrm>
            <a:off x="3668857" y="2559820"/>
            <a:ext cx="385762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BIM-AI Automation</a:t>
            </a:r>
            <a:endParaRPr lang="en-US" sz="1193" dirty="0"/>
          </a:p>
        </p:txBody>
      </p:sp>
      <p:sp>
        <p:nvSpPr>
          <p:cNvPr id="10" name="Text 6"/>
          <p:cNvSpPr/>
          <p:nvPr/>
        </p:nvSpPr>
        <p:spPr>
          <a:xfrm>
            <a:off x="3668857" y="2851859"/>
            <a:ext cx="3857625"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Direct integration with Building Information Modeling (BIM) enables automatic quantity takeoffs, virtually eliminating manual data entry errors.</a:t>
            </a:r>
            <a:endParaRPr lang="en-US" sz="942" dirty="0"/>
          </a:p>
        </p:txBody>
      </p:sp>
      <p:sp>
        <p:nvSpPr>
          <p:cNvPr id="11" name="Text 7"/>
          <p:cNvSpPr/>
          <p:nvPr/>
        </p:nvSpPr>
        <p:spPr>
          <a:xfrm>
            <a:off x="3668857" y="3450297"/>
            <a:ext cx="3857625"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Resource Optimization</a:t>
            </a:r>
            <a:endParaRPr lang="en-US" sz="1193" dirty="0"/>
          </a:p>
        </p:txBody>
      </p:sp>
      <p:sp>
        <p:nvSpPr>
          <p:cNvPr id="12" name="Text 8"/>
          <p:cNvSpPr/>
          <p:nvPr/>
        </p:nvSpPr>
        <p:spPr>
          <a:xfrm>
            <a:off x="3668857" y="3763674"/>
            <a:ext cx="3857625"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Human estimators can shift focus from repetitive calculations to high-value strategic risk analysis and value engineering.</a:t>
            </a:r>
            <a:endParaRPr lang="en-US" sz="942" dirty="0"/>
          </a:p>
        </p:txBody>
      </p:sp>
      <p:pic>
        <p:nvPicPr>
          <p:cNvPr id="2" name="Picture 6" descr="AASTMT Media Center - المركز الإعلامى للأكاديمية العربية ...">
            <a:extLst>
              <a:ext uri="{FF2B5EF4-FFF2-40B4-BE49-F238E27FC236}">
                <a16:creationId xmlns:a16="http://schemas.microsoft.com/office/drawing/2014/main" id="{8433E119-B8E5-4943-42A5-EEC6B451F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4023"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0"/>
          <p:cNvSpPr/>
          <p:nvPr/>
        </p:nvSpPr>
        <p:spPr>
          <a:xfrm>
            <a:off x="571500" y="628650"/>
            <a:ext cx="8001000" cy="532209"/>
          </a:xfrm>
          <a:prstGeom prst="rect">
            <a:avLst/>
          </a:prstGeom>
          <a:noFill/>
          <a:ln/>
        </p:spPr>
        <p:txBody>
          <a:bodyPr wrap="none" lIns="0" tIns="0" rIns="0" bIns="0" rtlCol="0" anchor="t">
            <a:spAutoFit/>
          </a:bodyPr>
          <a:lstStyle/>
          <a:p>
            <a:pPr marL="0" indent="0" algn="l">
              <a:lnSpc>
                <a:spcPts val="3800"/>
              </a:lnSpc>
              <a:buNone/>
            </a:pPr>
            <a:r>
              <a:rPr lang="en-US" sz="2862" b="1" dirty="0">
                <a:solidFill>
                  <a:srgbClr val="18181B"/>
                </a:solidFill>
                <a:latin typeface="Playfair Display" pitchFamily="34" charset="0"/>
                <a:ea typeface="Playfair Display" pitchFamily="34" charset="-122"/>
                <a:cs typeface="Playfair Display" pitchFamily="34" charset="-120"/>
              </a:rPr>
              <a:t>Strategic Stakeholder Benefits</a:t>
            </a:r>
            <a:endParaRPr lang="en-US" sz="2862" dirty="0"/>
          </a:p>
        </p:txBody>
      </p:sp>
      <p:sp>
        <p:nvSpPr>
          <p:cNvPr id="5" name="Text 1"/>
          <p:cNvSpPr/>
          <p:nvPr/>
        </p:nvSpPr>
        <p:spPr>
          <a:xfrm>
            <a:off x="335973" y="1512417"/>
            <a:ext cx="1141787" cy="228717"/>
          </a:xfrm>
          <a:prstGeom prst="rect">
            <a:avLst/>
          </a:prstGeom>
          <a:noFill/>
          <a:ln/>
        </p:spPr>
        <p:txBody>
          <a:bodyPr wrap="none" lIns="0" tIns="0" rIns="0" bIns="0" rtlCol="0" anchor="t">
            <a:spAutoFit/>
          </a:bodyPr>
          <a:lstStyle/>
          <a:p>
            <a:pPr marL="0" indent="0" algn="l">
              <a:lnSpc>
                <a:spcPts val="1900"/>
              </a:lnSpc>
              <a:buNone/>
            </a:pPr>
            <a:r>
              <a:rPr lang="en-US" sz="1397" b="1" dirty="0">
                <a:latin typeface="Inter" pitchFamily="34" charset="0"/>
                <a:ea typeface="Inter" pitchFamily="34" charset="-122"/>
                <a:cs typeface="Inter" pitchFamily="34" charset="-120"/>
              </a:rPr>
              <a:t>Project Owners</a:t>
            </a:r>
            <a:endParaRPr lang="en-US" sz="1397" dirty="0"/>
          </a:p>
        </p:txBody>
      </p:sp>
      <p:sp>
        <p:nvSpPr>
          <p:cNvPr id="6" name="Text 2"/>
          <p:cNvSpPr/>
          <p:nvPr/>
        </p:nvSpPr>
        <p:spPr>
          <a:xfrm>
            <a:off x="335973" y="1896666"/>
            <a:ext cx="3786188"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Gain unprecedented financial certainty and improved capital allocation through reliable budget forecasting and risk mitigation.</a:t>
            </a:r>
            <a:endParaRPr lang="en-US" sz="942" dirty="0"/>
          </a:p>
        </p:txBody>
      </p:sp>
      <p:sp>
        <p:nvSpPr>
          <p:cNvPr id="7" name="Text 3"/>
          <p:cNvSpPr/>
          <p:nvPr/>
        </p:nvSpPr>
        <p:spPr>
          <a:xfrm>
            <a:off x="4391458" y="1422388"/>
            <a:ext cx="862544" cy="228717"/>
          </a:xfrm>
          <a:prstGeom prst="rect">
            <a:avLst/>
          </a:prstGeom>
          <a:noFill/>
          <a:ln/>
        </p:spPr>
        <p:txBody>
          <a:bodyPr wrap="none" lIns="0" tIns="0" rIns="0" bIns="0" rtlCol="0" anchor="t">
            <a:spAutoFit/>
          </a:bodyPr>
          <a:lstStyle/>
          <a:p>
            <a:pPr marL="0" indent="0" algn="l">
              <a:lnSpc>
                <a:spcPts val="1900"/>
              </a:lnSpc>
              <a:buNone/>
            </a:pPr>
            <a:r>
              <a:rPr lang="en-US" sz="1397" b="1" dirty="0">
                <a:latin typeface="Inter" pitchFamily="34" charset="0"/>
                <a:ea typeface="Inter" pitchFamily="34" charset="-122"/>
                <a:cs typeface="Inter" pitchFamily="34" charset="-120"/>
              </a:rPr>
              <a:t>Contractors</a:t>
            </a:r>
            <a:endParaRPr lang="en-US" sz="1397" dirty="0"/>
          </a:p>
        </p:txBody>
      </p:sp>
      <p:sp>
        <p:nvSpPr>
          <p:cNvPr id="8" name="Text 4"/>
          <p:cNvSpPr/>
          <p:nvPr/>
        </p:nvSpPr>
        <p:spPr>
          <a:xfrm>
            <a:off x="4122161" y="1914025"/>
            <a:ext cx="2985221" cy="39004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Submit more competitive and accurate bids, protecting profit margins and reducing the likelihood of costly disputes.</a:t>
            </a:r>
            <a:endParaRPr lang="en-US" sz="942" dirty="0"/>
          </a:p>
        </p:txBody>
      </p:sp>
      <p:sp>
        <p:nvSpPr>
          <p:cNvPr id="9" name="Text 5"/>
          <p:cNvSpPr/>
          <p:nvPr/>
        </p:nvSpPr>
        <p:spPr>
          <a:xfrm>
            <a:off x="335973" y="2629682"/>
            <a:ext cx="1544910" cy="228717"/>
          </a:xfrm>
          <a:prstGeom prst="rect">
            <a:avLst/>
          </a:prstGeom>
          <a:noFill/>
          <a:ln/>
        </p:spPr>
        <p:txBody>
          <a:bodyPr wrap="none" lIns="0" tIns="0" rIns="0" bIns="0" rtlCol="0" anchor="t">
            <a:spAutoFit/>
          </a:bodyPr>
          <a:lstStyle/>
          <a:p>
            <a:pPr marL="0" indent="0" algn="l">
              <a:lnSpc>
                <a:spcPts val="1900"/>
              </a:lnSpc>
              <a:buNone/>
            </a:pPr>
            <a:r>
              <a:rPr lang="en-US" sz="1397" b="1" dirty="0">
                <a:latin typeface="Inter" pitchFamily="34" charset="0"/>
                <a:ea typeface="Inter" pitchFamily="34" charset="-122"/>
                <a:cs typeface="Inter" pitchFamily="34" charset="-120"/>
              </a:rPr>
              <a:t>Financial Institutions</a:t>
            </a:r>
            <a:endParaRPr lang="en-US" sz="1397" dirty="0"/>
          </a:p>
        </p:txBody>
      </p:sp>
      <p:sp>
        <p:nvSpPr>
          <p:cNvPr id="10" name="Text 6"/>
          <p:cNvSpPr/>
          <p:nvPr/>
        </p:nvSpPr>
        <p:spPr>
          <a:xfrm>
            <a:off x="335973" y="3176792"/>
            <a:ext cx="3557154" cy="39004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Receive more reliable project appraisals and risk assessments, leading to reduced investment risk and better loan terms.</a:t>
            </a:r>
            <a:endParaRPr lang="en-US" sz="942" dirty="0"/>
          </a:p>
        </p:txBody>
      </p:sp>
      <p:sp>
        <p:nvSpPr>
          <p:cNvPr id="11" name="Text 7"/>
          <p:cNvSpPr/>
          <p:nvPr/>
        </p:nvSpPr>
        <p:spPr>
          <a:xfrm>
            <a:off x="4374356" y="2582569"/>
            <a:ext cx="1674626" cy="228717"/>
          </a:xfrm>
          <a:prstGeom prst="rect">
            <a:avLst/>
          </a:prstGeom>
          <a:noFill/>
          <a:ln/>
        </p:spPr>
        <p:txBody>
          <a:bodyPr wrap="none" lIns="0" tIns="0" rIns="0" bIns="0" rtlCol="0" anchor="t">
            <a:spAutoFit/>
          </a:bodyPr>
          <a:lstStyle/>
          <a:p>
            <a:pPr marL="0" indent="0" algn="l">
              <a:lnSpc>
                <a:spcPts val="1900"/>
              </a:lnSpc>
              <a:buNone/>
            </a:pPr>
            <a:r>
              <a:rPr lang="en-US" sz="1397" b="1" dirty="0">
                <a:latin typeface="Inter" pitchFamily="34" charset="0"/>
                <a:ea typeface="Inter" pitchFamily="34" charset="-122"/>
                <a:cs typeface="Inter" pitchFamily="34" charset="-120"/>
              </a:rPr>
              <a:t>Architects &amp; Engineers</a:t>
            </a:r>
            <a:endParaRPr lang="en-US" sz="1397" dirty="0"/>
          </a:p>
        </p:txBody>
      </p:sp>
      <p:sp>
        <p:nvSpPr>
          <p:cNvPr id="12" name="Text 8"/>
          <p:cNvSpPr/>
          <p:nvPr/>
        </p:nvSpPr>
        <p:spPr>
          <a:xfrm>
            <a:off x="4252913" y="3103959"/>
            <a:ext cx="2750560" cy="617153"/>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Utilize early cost feedback loops to optimize designs for cost-effectiveness without compromising on functionality or aesthetics.</a:t>
            </a:r>
            <a:endParaRPr lang="en-US" sz="942" dirty="0"/>
          </a:p>
        </p:txBody>
      </p:sp>
      <p:pic>
        <p:nvPicPr>
          <p:cNvPr id="2" name="Picture 6" descr="AASTMT Media Center - المركز الإعلامى للأكاديمية العربية ...">
            <a:extLst>
              <a:ext uri="{FF2B5EF4-FFF2-40B4-BE49-F238E27FC236}">
                <a16:creationId xmlns:a16="http://schemas.microsoft.com/office/drawing/2014/main" id="{2F63D3F6-9827-B035-6C17-34C602C03F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8303"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5" name="Text 1"/>
          <p:cNvSpPr/>
          <p:nvPr/>
        </p:nvSpPr>
        <p:spPr>
          <a:xfrm>
            <a:off x="369690" y="656324"/>
            <a:ext cx="4736874" cy="487313"/>
          </a:xfrm>
          <a:prstGeom prst="rect">
            <a:avLst/>
          </a:prstGeom>
          <a:noFill/>
          <a:ln/>
        </p:spPr>
        <p:txBody>
          <a:bodyPr wrap="none" lIns="0" tIns="0" rIns="0" bIns="0" rtlCol="0" anchor="t">
            <a:spAutoFit/>
          </a:bodyPr>
          <a:lstStyle/>
          <a:p>
            <a:pPr marL="0" indent="0" algn="l">
              <a:lnSpc>
                <a:spcPts val="3800"/>
              </a:lnSpc>
              <a:buNone/>
            </a:pPr>
            <a:r>
              <a:rPr lang="en-US" sz="3200" b="1" dirty="0">
                <a:solidFill>
                  <a:srgbClr val="18181B"/>
                </a:solidFill>
                <a:latin typeface="Playfair Display" pitchFamily="34" charset="0"/>
                <a:ea typeface="Playfair Display" pitchFamily="34" charset="-122"/>
                <a:cs typeface="Playfair Display" pitchFamily="34" charset="-120"/>
              </a:rPr>
              <a:t>Risk Management and AI</a:t>
            </a:r>
            <a:endParaRPr lang="en-US" sz="3200" dirty="0"/>
          </a:p>
        </p:txBody>
      </p:sp>
      <p:sp>
        <p:nvSpPr>
          <p:cNvPr id="6" name="Text 2"/>
          <p:cNvSpPr/>
          <p:nvPr/>
        </p:nvSpPr>
        <p:spPr>
          <a:xfrm>
            <a:off x="571500" y="1512390"/>
            <a:ext cx="3786188"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8181B"/>
                </a:solidFill>
                <a:latin typeface="Inter" pitchFamily="34" charset="0"/>
                <a:ea typeface="Inter" pitchFamily="34" charset="-122"/>
                <a:cs typeface="Inter" pitchFamily="34" charset="-120"/>
              </a:rPr>
              <a:t>BEYOND NUMBERS</a:t>
            </a:r>
            <a:endParaRPr lang="en-US" sz="1193" dirty="0"/>
          </a:p>
        </p:txBody>
      </p:sp>
      <p:sp>
        <p:nvSpPr>
          <p:cNvPr id="7" name="Text 3"/>
          <p:cNvSpPr/>
          <p:nvPr/>
        </p:nvSpPr>
        <p:spPr>
          <a:xfrm>
            <a:off x="571499" y="1873226"/>
            <a:ext cx="3786188" cy="617153"/>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52525B"/>
                </a:solidFill>
                <a:latin typeface="Inter" pitchFamily="34" charset="0"/>
                <a:ea typeface="Inter" pitchFamily="34" charset="-122"/>
                <a:cs typeface="Inter" pitchFamily="34" charset="-120"/>
              </a:rPr>
              <a:t>AI identifies subtle risk patterns across multiple dimensions, </a:t>
            </a:r>
            <a:r>
              <a:rPr lang="en-US" sz="1200" b="1" dirty="0">
                <a:solidFill>
                  <a:srgbClr val="52525B"/>
                </a:solidFill>
                <a:latin typeface="Inter" pitchFamily="34" charset="0"/>
                <a:ea typeface="Inter" pitchFamily="34" charset="-122"/>
                <a:cs typeface="Inter" pitchFamily="34" charset="-120"/>
              </a:rPr>
              <a:t>such as </a:t>
            </a:r>
            <a:r>
              <a:rPr lang="en-US" sz="1200" dirty="0">
                <a:solidFill>
                  <a:srgbClr val="52525B"/>
                </a:solidFill>
                <a:latin typeface="Inter" pitchFamily="34" charset="0"/>
                <a:ea typeface="Inter" pitchFamily="34" charset="-122"/>
                <a:cs typeface="Inter" pitchFamily="34" charset="-120"/>
              </a:rPr>
              <a:t>correlating inflation spikes with material supply chain delays that traditional methods miss.</a:t>
            </a:r>
            <a:endParaRPr lang="en-US" sz="1200" dirty="0"/>
          </a:p>
        </p:txBody>
      </p:sp>
      <p:sp>
        <p:nvSpPr>
          <p:cNvPr id="8" name="Text 4"/>
          <p:cNvSpPr/>
          <p:nvPr/>
        </p:nvSpPr>
        <p:spPr>
          <a:xfrm>
            <a:off x="571499" y="2695371"/>
            <a:ext cx="3786188"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8181B"/>
                </a:solidFill>
                <a:latin typeface="Inter" pitchFamily="34" charset="0"/>
                <a:ea typeface="Inter" pitchFamily="34" charset="-122"/>
                <a:cs typeface="Inter" pitchFamily="34" charset="-120"/>
              </a:rPr>
              <a:t>PROACTIVE WARNINGS</a:t>
            </a:r>
            <a:endParaRPr lang="en-US" sz="1193" dirty="0"/>
          </a:p>
        </p:txBody>
      </p:sp>
      <p:sp>
        <p:nvSpPr>
          <p:cNvPr id="9" name="Text 5"/>
          <p:cNvSpPr/>
          <p:nvPr/>
        </p:nvSpPr>
        <p:spPr>
          <a:xfrm>
            <a:off x="571499" y="3122862"/>
            <a:ext cx="3786188" cy="599780"/>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52525B"/>
                </a:solidFill>
                <a:latin typeface="Inter" pitchFamily="34" charset="0"/>
                <a:ea typeface="Inter" pitchFamily="34" charset="-122"/>
                <a:cs typeface="Inter" pitchFamily="34" charset="-120"/>
              </a:rPr>
              <a:t>Early warning systems provide real-time alerts for potential budget deviations, allowing for immediate corrective action before costs spiral.</a:t>
            </a:r>
            <a:endParaRPr lang="en-US" sz="1200" dirty="0"/>
          </a:p>
        </p:txBody>
      </p:sp>
      <p:sp>
        <p:nvSpPr>
          <p:cNvPr id="10" name="Text 6"/>
          <p:cNvSpPr/>
          <p:nvPr/>
        </p:nvSpPr>
        <p:spPr>
          <a:xfrm>
            <a:off x="584002" y="3854139"/>
            <a:ext cx="3786188" cy="20716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8181B"/>
                </a:solidFill>
                <a:latin typeface="Inter" pitchFamily="34" charset="0"/>
                <a:ea typeface="Inter" pitchFamily="34" charset="-122"/>
                <a:cs typeface="Inter" pitchFamily="34" charset="-120"/>
              </a:rPr>
              <a:t>PROBABILISTIC CONTINGENCY</a:t>
            </a:r>
            <a:endParaRPr lang="en-US" sz="1193" dirty="0"/>
          </a:p>
        </p:txBody>
      </p:sp>
      <p:sp>
        <p:nvSpPr>
          <p:cNvPr id="11" name="Text 7"/>
          <p:cNvSpPr/>
          <p:nvPr/>
        </p:nvSpPr>
        <p:spPr>
          <a:xfrm>
            <a:off x="584002" y="4150437"/>
            <a:ext cx="3786188" cy="604909"/>
          </a:xfrm>
          <a:prstGeom prst="rect">
            <a:avLst/>
          </a:prstGeom>
          <a:noFill/>
          <a:ln/>
        </p:spPr>
        <p:txBody>
          <a:bodyPr wrap="square" lIns="0" tIns="0" rIns="0" bIns="0" rtlCol="0" anchor="t">
            <a:spAutoFit/>
          </a:bodyPr>
          <a:lstStyle/>
          <a:p>
            <a:pPr marL="0" indent="0" algn="l">
              <a:lnSpc>
                <a:spcPts val="1600"/>
              </a:lnSpc>
              <a:buNone/>
            </a:pPr>
            <a:r>
              <a:rPr lang="en-US" sz="1200" dirty="0">
                <a:solidFill>
                  <a:srgbClr val="52525B"/>
                </a:solidFill>
                <a:latin typeface="Inter" pitchFamily="34" charset="0"/>
                <a:ea typeface="Inter" pitchFamily="34" charset="-122"/>
              </a:rPr>
              <a:t>Setting realistic contingency funds based on data-driven confidence intervals rather than arbitrary industry-standard percentages.</a:t>
            </a:r>
          </a:p>
        </p:txBody>
      </p:sp>
      <p:sp>
        <p:nvSpPr>
          <p:cNvPr id="13" name="Text 9"/>
          <p:cNvSpPr/>
          <p:nvPr/>
        </p:nvSpPr>
        <p:spPr>
          <a:xfrm>
            <a:off x="4693445" y="1966330"/>
            <a:ext cx="1541100" cy="132600"/>
          </a:xfrm>
          <a:prstGeom prst="rect">
            <a:avLst/>
          </a:prstGeom>
          <a:noFill/>
          <a:ln/>
        </p:spPr>
        <p:txBody>
          <a:bodyPr wrap="square" lIns="0" tIns="0" rIns="0" bIns="0" rtlCol="0" anchor="t">
            <a:spAutoFit/>
          </a:bodyPr>
          <a:lstStyle/>
          <a:p>
            <a:pPr marL="0" indent="0" algn="l">
              <a:lnSpc>
                <a:spcPts val="900"/>
              </a:lnSpc>
              <a:buNone/>
            </a:pPr>
            <a:r>
              <a:rPr lang="en-US" sz="1400" b="1" kern="0" spc="2" dirty="0">
                <a:latin typeface="Inter" pitchFamily="34" charset="0"/>
                <a:ea typeface="Inter" pitchFamily="34" charset="-122"/>
                <a:cs typeface="Inter" pitchFamily="34" charset="-120"/>
              </a:rPr>
              <a:t>STRATEGIC SHIFT</a:t>
            </a:r>
            <a:endParaRPr lang="en-US" sz="1400" dirty="0"/>
          </a:p>
        </p:txBody>
      </p:sp>
      <p:sp>
        <p:nvSpPr>
          <p:cNvPr id="14" name="Text 10"/>
          <p:cNvSpPr/>
          <p:nvPr/>
        </p:nvSpPr>
        <p:spPr>
          <a:xfrm>
            <a:off x="4693445" y="2208564"/>
            <a:ext cx="2457449" cy="675378"/>
          </a:xfrm>
          <a:prstGeom prst="rect">
            <a:avLst/>
          </a:prstGeom>
          <a:noFill/>
          <a:ln/>
        </p:spPr>
        <p:txBody>
          <a:bodyPr wrap="square" lIns="0" tIns="0" rIns="0" bIns="0" rtlCol="0" anchor="t">
            <a:spAutoFit/>
          </a:bodyPr>
          <a:lstStyle/>
          <a:p>
            <a:pPr marL="0" indent="0" algn="l">
              <a:lnSpc>
                <a:spcPts val="2800"/>
              </a:lnSpc>
              <a:buNone/>
            </a:pPr>
            <a:r>
              <a:rPr lang="en-US" sz="1600" b="1" dirty="0">
                <a:solidFill>
                  <a:schemeClr val="tx1">
                    <a:lumMod val="50000"/>
                    <a:lumOff val="50000"/>
                  </a:schemeClr>
                </a:solidFill>
                <a:latin typeface="Playfair Display" pitchFamily="34" charset="0"/>
                <a:ea typeface="Playfair Display" pitchFamily="34" charset="-122"/>
                <a:cs typeface="Playfair Display" pitchFamily="34" charset="-120"/>
              </a:rPr>
              <a:t>From Reactive Auditing to Proactive Intelligence.</a:t>
            </a:r>
            <a:endParaRPr lang="en-US" sz="1600" dirty="0">
              <a:solidFill>
                <a:schemeClr val="tx1">
                  <a:lumMod val="50000"/>
                  <a:lumOff val="50000"/>
                </a:schemeClr>
              </a:solidFill>
            </a:endParaRPr>
          </a:p>
        </p:txBody>
      </p:sp>
      <p:sp>
        <p:nvSpPr>
          <p:cNvPr id="15" name="Text 11"/>
          <p:cNvSpPr/>
          <p:nvPr/>
        </p:nvSpPr>
        <p:spPr>
          <a:xfrm>
            <a:off x="4693445" y="3105489"/>
            <a:ext cx="2085974" cy="1010854"/>
          </a:xfrm>
          <a:prstGeom prst="rect">
            <a:avLst/>
          </a:prstGeom>
          <a:noFill/>
          <a:ln/>
        </p:spPr>
        <p:txBody>
          <a:bodyPr wrap="square" lIns="0" tIns="0" rIns="0" bIns="0" rtlCol="0" anchor="t">
            <a:spAutoFit/>
          </a:bodyPr>
          <a:lstStyle/>
          <a:p>
            <a:pPr marL="0" indent="0" algn="l">
              <a:lnSpc>
                <a:spcPts val="1600"/>
              </a:lnSpc>
              <a:buNone/>
            </a:pPr>
            <a:r>
              <a:rPr lang="en-US" sz="1100" b="1" dirty="0">
                <a:solidFill>
                  <a:srgbClr val="A1A1AA"/>
                </a:solidFill>
                <a:latin typeface="Inter" pitchFamily="34" charset="0"/>
                <a:ea typeface="Inter" pitchFamily="34" charset="-122"/>
                <a:cs typeface="Inter" pitchFamily="34" charset="-120"/>
              </a:rPr>
              <a:t>AI-driven risk management transforms cost control from a "look-back" exercise into a forward-looking strategic advantage.</a:t>
            </a:r>
            <a:endParaRPr lang="en-US" sz="1100" b="1" dirty="0"/>
          </a:p>
        </p:txBody>
      </p:sp>
      <p:pic>
        <p:nvPicPr>
          <p:cNvPr id="2" name="Picture 6" descr="AASTMT Media Center - المركز الإعلامى للأكاديمية العربية ...">
            <a:extLst>
              <a:ext uri="{FF2B5EF4-FFF2-40B4-BE49-F238E27FC236}">
                <a16:creationId xmlns:a16="http://schemas.microsoft.com/office/drawing/2014/main" id="{5422CAF8-14AB-D340-1585-8F0B50828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432" y="58240"/>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0"/>
          <p:cNvSpPr/>
          <p:nvPr/>
        </p:nvSpPr>
        <p:spPr>
          <a:xfrm>
            <a:off x="571500" y="628650"/>
            <a:ext cx="8001000" cy="532209"/>
          </a:xfrm>
          <a:prstGeom prst="rect">
            <a:avLst/>
          </a:prstGeom>
          <a:noFill/>
          <a:ln/>
        </p:spPr>
        <p:txBody>
          <a:bodyPr wrap="none" lIns="0" tIns="0" rIns="0" bIns="0" rtlCol="0" anchor="t">
            <a:spAutoFit/>
          </a:bodyPr>
          <a:lstStyle/>
          <a:p>
            <a:pPr marL="0" indent="0" algn="l">
              <a:lnSpc>
                <a:spcPts val="3800"/>
              </a:lnSpc>
              <a:buNone/>
            </a:pPr>
            <a:r>
              <a:rPr lang="en-US" sz="2862" b="1" dirty="0">
                <a:solidFill>
                  <a:srgbClr val="18181B"/>
                </a:solidFill>
                <a:latin typeface="Playfair Display" pitchFamily="34" charset="0"/>
                <a:ea typeface="Playfair Display" pitchFamily="34" charset="-122"/>
                <a:cs typeface="Playfair Display" pitchFamily="34" charset="-120"/>
              </a:rPr>
              <a:t>Challenges to Implementation</a:t>
            </a:r>
            <a:endParaRPr lang="en-US" sz="2862" dirty="0"/>
          </a:p>
        </p:txBody>
      </p:sp>
      <p:sp>
        <p:nvSpPr>
          <p:cNvPr id="5" name="Text 1"/>
          <p:cNvSpPr/>
          <p:nvPr/>
        </p:nvSpPr>
        <p:spPr>
          <a:xfrm>
            <a:off x="377536" y="1843031"/>
            <a:ext cx="2171700" cy="414338"/>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Data Quality &amp; Fragmentation</a:t>
            </a:r>
            <a:endParaRPr lang="en-US" sz="1193" dirty="0"/>
          </a:p>
        </p:txBody>
      </p:sp>
      <p:sp>
        <p:nvSpPr>
          <p:cNvPr id="6" name="Text 2"/>
          <p:cNvSpPr/>
          <p:nvPr/>
        </p:nvSpPr>
        <p:spPr>
          <a:xfrm>
            <a:off x="251114" y="2228125"/>
            <a:ext cx="2171700" cy="1028588"/>
          </a:xfrm>
          <a:prstGeom prst="rect">
            <a:avLst/>
          </a:prstGeom>
          <a:noFill/>
          <a:ln/>
        </p:spPr>
        <p:txBody>
          <a:bodyPr wrap="square" lIns="238125"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AI models are highly dependent on high-quality historical data. The construction industry suffers from fragmented, non-standardized data silos.</a:t>
            </a:r>
            <a:endParaRPr lang="en-US" sz="942" dirty="0"/>
          </a:p>
        </p:txBody>
      </p:sp>
      <p:sp>
        <p:nvSpPr>
          <p:cNvPr id="7" name="Text 3"/>
          <p:cNvSpPr/>
          <p:nvPr/>
        </p:nvSpPr>
        <p:spPr>
          <a:xfrm>
            <a:off x="2943225" y="1875234"/>
            <a:ext cx="217170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High Initial Investment</a:t>
            </a:r>
            <a:endParaRPr lang="en-US" sz="1193" dirty="0"/>
          </a:p>
        </p:txBody>
      </p:sp>
      <p:sp>
        <p:nvSpPr>
          <p:cNvPr id="8" name="Text 4"/>
          <p:cNvSpPr/>
          <p:nvPr/>
        </p:nvSpPr>
        <p:spPr>
          <a:xfrm>
            <a:off x="2613313" y="2249855"/>
            <a:ext cx="1958687" cy="1005596"/>
          </a:xfrm>
          <a:prstGeom prst="rect">
            <a:avLst/>
          </a:prstGeom>
          <a:noFill/>
          <a:ln/>
        </p:spPr>
        <p:txBody>
          <a:bodyPr wrap="square" lIns="238125"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Significant upfront costs for technology infrastructure, software licensing, and specialized talent acquisition can be a barrier for smaller firms.</a:t>
            </a:r>
            <a:endParaRPr lang="en-US" sz="942" dirty="0"/>
          </a:p>
        </p:txBody>
      </p:sp>
      <p:sp>
        <p:nvSpPr>
          <p:cNvPr id="9" name="Text 5"/>
          <p:cNvSpPr/>
          <p:nvPr/>
        </p:nvSpPr>
        <p:spPr>
          <a:xfrm>
            <a:off x="441613" y="3496630"/>
            <a:ext cx="217170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Cultural Resistance</a:t>
            </a:r>
            <a:endParaRPr lang="en-US" sz="1193" dirty="0"/>
          </a:p>
        </p:txBody>
      </p:sp>
      <p:sp>
        <p:nvSpPr>
          <p:cNvPr id="10" name="Text 6"/>
          <p:cNvSpPr/>
          <p:nvPr/>
        </p:nvSpPr>
        <p:spPr>
          <a:xfrm>
            <a:off x="251114" y="3732062"/>
            <a:ext cx="2171700" cy="1028588"/>
          </a:xfrm>
          <a:prstGeom prst="rect">
            <a:avLst/>
          </a:prstGeom>
          <a:noFill/>
          <a:ln/>
        </p:spPr>
        <p:txBody>
          <a:bodyPr wrap="square" lIns="238125"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Resistance to change from traditional estimators and project managers who may perceive AI as a threat to their professional expertise.</a:t>
            </a:r>
            <a:endParaRPr lang="en-US" sz="942" dirty="0"/>
          </a:p>
        </p:txBody>
      </p:sp>
      <p:sp>
        <p:nvSpPr>
          <p:cNvPr id="11" name="Text 7"/>
          <p:cNvSpPr/>
          <p:nvPr/>
        </p:nvSpPr>
        <p:spPr>
          <a:xfrm>
            <a:off x="2803812" y="3496630"/>
            <a:ext cx="2171700" cy="414338"/>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Ethics &amp; Regulatory Barriers</a:t>
            </a:r>
            <a:endParaRPr lang="en-US" sz="1193" dirty="0"/>
          </a:p>
        </p:txBody>
      </p:sp>
      <p:sp>
        <p:nvSpPr>
          <p:cNvPr id="12" name="Text 8"/>
          <p:cNvSpPr/>
          <p:nvPr/>
        </p:nvSpPr>
        <p:spPr>
          <a:xfrm>
            <a:off x="2613313" y="3732062"/>
            <a:ext cx="2171700" cy="1028588"/>
          </a:xfrm>
          <a:prstGeom prst="rect">
            <a:avLst/>
          </a:prstGeom>
          <a:noFill/>
          <a:ln/>
        </p:spPr>
        <p:txBody>
          <a:bodyPr wrap="square" lIns="238125" tIns="0" rIns="0" bIns="0" rtlCol="0" anchor="t">
            <a:spAutoFit/>
          </a:bodyPr>
          <a:lstStyle/>
          <a:p>
            <a:pPr marL="0" indent="0" algn="l">
              <a:lnSpc>
                <a:spcPts val="1600"/>
              </a:lnSpc>
              <a:buNone/>
            </a:pPr>
            <a:r>
              <a:rPr lang="en-US" sz="942" dirty="0">
                <a:solidFill>
                  <a:srgbClr val="52525B"/>
                </a:solidFill>
                <a:latin typeface="Inter" pitchFamily="34" charset="0"/>
                <a:ea typeface="Inter" pitchFamily="34" charset="-122"/>
                <a:cs typeface="Inter" pitchFamily="34" charset="-120"/>
              </a:rPr>
              <a:t>Questions regarding accountability for AI-generated errors, data privacy, and the need for clear legal frameworks in construction contracts.</a:t>
            </a:r>
            <a:endParaRPr lang="en-US" sz="942" dirty="0"/>
          </a:p>
        </p:txBody>
      </p:sp>
      <p:sp>
        <p:nvSpPr>
          <p:cNvPr id="14" name="Text 10"/>
          <p:cNvSpPr/>
          <p:nvPr/>
        </p:nvSpPr>
        <p:spPr>
          <a:xfrm>
            <a:off x="5739245" y="1696088"/>
            <a:ext cx="936154" cy="872034"/>
          </a:xfrm>
          <a:prstGeom prst="rect">
            <a:avLst/>
          </a:prstGeom>
          <a:noFill/>
          <a:ln/>
        </p:spPr>
        <p:txBody>
          <a:bodyPr wrap="none" lIns="0" tIns="0" rIns="0" bIns="0" rtlCol="0" anchor="t">
            <a:spAutoFit/>
          </a:bodyPr>
          <a:lstStyle/>
          <a:p>
            <a:pPr marL="0" indent="0" algn="l">
              <a:lnSpc>
                <a:spcPts val="6800"/>
              </a:lnSpc>
              <a:buNone/>
            </a:pPr>
            <a:r>
              <a:rPr lang="en-US" sz="6218" b="1" dirty="0">
                <a:latin typeface="Playfair Display" pitchFamily="34" charset="0"/>
                <a:ea typeface="Playfair Display" pitchFamily="34" charset="-122"/>
                <a:cs typeface="Playfair Display" pitchFamily="34" charset="-120"/>
              </a:rPr>
              <a:t>04</a:t>
            </a:r>
            <a:endParaRPr lang="en-US" sz="6218" dirty="0"/>
          </a:p>
        </p:txBody>
      </p:sp>
      <p:sp>
        <p:nvSpPr>
          <p:cNvPr id="15" name="Text 11"/>
          <p:cNvSpPr/>
          <p:nvPr/>
        </p:nvSpPr>
        <p:spPr>
          <a:xfrm>
            <a:off x="5635336" y="2650275"/>
            <a:ext cx="1569028" cy="949940"/>
          </a:xfrm>
          <a:prstGeom prst="rect">
            <a:avLst/>
          </a:prstGeom>
          <a:noFill/>
          <a:ln/>
        </p:spPr>
        <p:txBody>
          <a:bodyPr wrap="square" lIns="0" tIns="0" rIns="0" bIns="0" rtlCol="0" anchor="t">
            <a:spAutoFit/>
          </a:bodyPr>
          <a:lstStyle/>
          <a:p>
            <a:pPr marL="0" indent="0" algn="l">
              <a:lnSpc>
                <a:spcPts val="1900"/>
              </a:lnSpc>
              <a:buNone/>
            </a:pPr>
            <a:r>
              <a:rPr lang="en-US" sz="1050" b="1" dirty="0">
                <a:solidFill>
                  <a:schemeClr val="bg2">
                    <a:lumMod val="75000"/>
                  </a:schemeClr>
                </a:solidFill>
                <a:latin typeface="Inter" pitchFamily="34" charset="0"/>
                <a:ea typeface="Inter" pitchFamily="34" charset="-122"/>
                <a:cs typeface="Inter" pitchFamily="34" charset="-120"/>
              </a:rPr>
              <a:t>Critical hurdles that must be addressed to unlock the full potential of AI-driven cost management.</a:t>
            </a:r>
            <a:endParaRPr lang="en-US" sz="1050" dirty="0">
              <a:solidFill>
                <a:schemeClr val="bg2">
                  <a:lumMod val="75000"/>
                </a:schemeClr>
              </a:solidFill>
            </a:endParaRPr>
          </a:p>
        </p:txBody>
      </p:sp>
      <p:pic>
        <p:nvPicPr>
          <p:cNvPr id="2" name="Picture 6" descr="AASTMT Media Center - المركز الإعلامى للأكاديمية العربية ...">
            <a:extLst>
              <a:ext uri="{FF2B5EF4-FFF2-40B4-BE49-F238E27FC236}">
                <a16:creationId xmlns:a16="http://schemas.microsoft.com/office/drawing/2014/main" id="{9AF4459F-ABA4-A217-B82C-08B94CADE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4983" y="90242"/>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ext 0"/>
          <p:cNvSpPr/>
          <p:nvPr/>
        </p:nvSpPr>
        <p:spPr>
          <a:xfrm>
            <a:off x="262574" y="239150"/>
            <a:ext cx="4182610" cy="867673"/>
          </a:xfrm>
          <a:prstGeom prst="rect">
            <a:avLst/>
          </a:prstGeom>
          <a:noFill/>
          <a:ln/>
        </p:spPr>
        <p:txBody>
          <a:bodyPr wrap="square" lIns="0" tIns="0" rIns="0" bIns="0" rtlCol="0" anchor="t">
            <a:spAutoFit/>
          </a:bodyPr>
          <a:lstStyle/>
          <a:p>
            <a:pPr marL="0" indent="0" algn="l">
              <a:lnSpc>
                <a:spcPts val="3500"/>
              </a:lnSpc>
              <a:buNone/>
            </a:pPr>
            <a:r>
              <a:rPr lang="en-US" sz="2800" b="1" dirty="0">
                <a:solidFill>
                  <a:srgbClr val="18181B"/>
                </a:solidFill>
                <a:latin typeface="Playfair Display" pitchFamily="34" charset="0"/>
                <a:ea typeface="Playfair Display" pitchFamily="34" charset="-122"/>
                <a:cs typeface="Playfair Display" pitchFamily="34" charset="-120"/>
              </a:rPr>
              <a:t>The Future: Generative AI and Digital Twins</a:t>
            </a:r>
            <a:endParaRPr lang="en-US" sz="2800" dirty="0"/>
          </a:p>
        </p:txBody>
      </p:sp>
      <p:sp>
        <p:nvSpPr>
          <p:cNvPr id="6" name="Text 2"/>
          <p:cNvSpPr/>
          <p:nvPr/>
        </p:nvSpPr>
        <p:spPr>
          <a:xfrm>
            <a:off x="408134" y="1656616"/>
            <a:ext cx="1708966" cy="974626"/>
          </a:xfrm>
          <a:prstGeom prst="rect">
            <a:avLst/>
          </a:prstGeom>
          <a:noFill/>
          <a:ln/>
        </p:spPr>
        <p:txBody>
          <a:bodyPr wrap="square" lIns="0" tIns="0" rIns="0" bIns="0" rtlCol="0" anchor="t">
            <a:spAutoFit/>
          </a:bodyPr>
          <a:lstStyle/>
          <a:p>
            <a:pPr marL="0" indent="0" algn="l">
              <a:lnSpc>
                <a:spcPts val="1900"/>
              </a:lnSpc>
              <a:buNone/>
            </a:pPr>
            <a:r>
              <a:rPr lang="en-US" b="1" dirty="0">
                <a:solidFill>
                  <a:srgbClr val="18181B"/>
                </a:solidFill>
                <a:latin typeface="Inter" pitchFamily="34" charset="0"/>
                <a:ea typeface="Inter" pitchFamily="34" charset="-122"/>
                <a:cs typeface="Inter" pitchFamily="34" charset="-120"/>
              </a:rPr>
              <a:t>The Evolution of Autonomous Construction Management</a:t>
            </a:r>
            <a:endParaRPr lang="en-US" dirty="0"/>
          </a:p>
        </p:txBody>
      </p:sp>
      <p:sp>
        <p:nvSpPr>
          <p:cNvPr id="7" name="Text 3"/>
          <p:cNvSpPr/>
          <p:nvPr/>
        </p:nvSpPr>
        <p:spPr>
          <a:xfrm>
            <a:off x="2549182" y="1348541"/>
            <a:ext cx="1797749" cy="197826"/>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Generative Design-to-Cost</a:t>
            </a:r>
            <a:endParaRPr lang="en-US" sz="1193" dirty="0"/>
          </a:p>
        </p:txBody>
      </p:sp>
      <p:sp>
        <p:nvSpPr>
          <p:cNvPr id="8" name="Text 4"/>
          <p:cNvSpPr/>
          <p:nvPr/>
        </p:nvSpPr>
        <p:spPr>
          <a:xfrm>
            <a:off x="2549182" y="1656616"/>
            <a:ext cx="1570704" cy="348750"/>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52525B"/>
                </a:solidFill>
                <a:latin typeface="Inter" pitchFamily="34" charset="0"/>
                <a:ea typeface="Inter" pitchFamily="34" charset="-122"/>
                <a:cs typeface="Inter" pitchFamily="34" charset="-120"/>
              </a:rPr>
              <a:t>AI optimizes design options to meet budgets efficiently.</a:t>
            </a:r>
            <a:endParaRPr lang="en-US" sz="1050" b="1" dirty="0"/>
          </a:p>
        </p:txBody>
      </p:sp>
      <p:sp>
        <p:nvSpPr>
          <p:cNvPr id="9" name="Text 5"/>
          <p:cNvSpPr/>
          <p:nvPr/>
        </p:nvSpPr>
        <p:spPr>
          <a:xfrm>
            <a:off x="4984050" y="1353237"/>
            <a:ext cx="1797749" cy="193130"/>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Digital Twin Synchronization</a:t>
            </a:r>
            <a:endParaRPr lang="en-US" sz="1193" dirty="0"/>
          </a:p>
        </p:txBody>
      </p:sp>
      <p:sp>
        <p:nvSpPr>
          <p:cNvPr id="10" name="Text 6"/>
          <p:cNvSpPr/>
          <p:nvPr/>
        </p:nvSpPr>
        <p:spPr>
          <a:xfrm>
            <a:off x="4984051" y="1709931"/>
            <a:ext cx="1797748" cy="345159"/>
          </a:xfrm>
          <a:prstGeom prst="rect">
            <a:avLst/>
          </a:prstGeom>
          <a:noFill/>
          <a:ln/>
        </p:spPr>
        <p:txBody>
          <a:bodyPr wrap="square" lIns="0" tIns="0" rIns="0" bIns="0" rtlCol="0" anchor="t">
            <a:spAutoFit/>
          </a:bodyPr>
          <a:lstStyle/>
          <a:p>
            <a:pPr marL="0" indent="0" algn="l">
              <a:lnSpc>
                <a:spcPts val="1400"/>
              </a:lnSpc>
              <a:buNone/>
            </a:pPr>
            <a:r>
              <a:rPr lang="en-US" sz="942" b="1" dirty="0">
                <a:solidFill>
                  <a:srgbClr val="52525B"/>
                </a:solidFill>
                <a:latin typeface="Inter" pitchFamily="34" charset="0"/>
                <a:ea typeface="Inter" pitchFamily="34" charset="-122"/>
                <a:cs typeface="Inter" pitchFamily="34" charset="-120"/>
              </a:rPr>
              <a:t>Syncs physical sites with virtual models to spot cost deviations fast.</a:t>
            </a:r>
            <a:endParaRPr lang="en-US" sz="942" b="1" dirty="0"/>
          </a:p>
        </p:txBody>
      </p:sp>
      <p:sp>
        <p:nvSpPr>
          <p:cNvPr id="11" name="Text 7"/>
          <p:cNvSpPr/>
          <p:nvPr/>
        </p:nvSpPr>
        <p:spPr>
          <a:xfrm>
            <a:off x="3918852" y="2402897"/>
            <a:ext cx="1570704" cy="414338"/>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Predictive Robotic Maintenance</a:t>
            </a:r>
            <a:endParaRPr lang="en-US" sz="1193" dirty="0"/>
          </a:p>
        </p:txBody>
      </p:sp>
      <p:sp>
        <p:nvSpPr>
          <p:cNvPr id="12" name="Text 8"/>
          <p:cNvSpPr/>
          <p:nvPr/>
        </p:nvSpPr>
        <p:spPr>
          <a:xfrm>
            <a:off x="3831092" y="2877033"/>
            <a:ext cx="1436569" cy="345159"/>
          </a:xfrm>
          <a:prstGeom prst="rect">
            <a:avLst/>
          </a:prstGeom>
          <a:noFill/>
          <a:ln/>
        </p:spPr>
        <p:txBody>
          <a:bodyPr wrap="square" lIns="0" tIns="0" rIns="0" bIns="0" rtlCol="0" anchor="t">
            <a:spAutoFit/>
          </a:bodyPr>
          <a:lstStyle/>
          <a:p>
            <a:pPr marL="0" indent="0" algn="l">
              <a:lnSpc>
                <a:spcPts val="1400"/>
              </a:lnSpc>
              <a:buNone/>
            </a:pPr>
            <a:r>
              <a:rPr lang="en-US" sz="942" b="1" dirty="0">
                <a:solidFill>
                  <a:srgbClr val="52525B"/>
                </a:solidFill>
                <a:latin typeface="Inter" pitchFamily="34" charset="0"/>
                <a:ea typeface="Inter" pitchFamily="34" charset="-122"/>
                <a:cs typeface="Inter" pitchFamily="34" charset="-120"/>
              </a:rPr>
              <a:t>Predicts equipment issues to cut downtime and costs.</a:t>
            </a:r>
            <a:endParaRPr lang="en-US" sz="942" b="1" dirty="0"/>
          </a:p>
        </p:txBody>
      </p:sp>
      <p:sp>
        <p:nvSpPr>
          <p:cNvPr id="13" name="Text 9"/>
          <p:cNvSpPr/>
          <p:nvPr/>
        </p:nvSpPr>
        <p:spPr>
          <a:xfrm>
            <a:off x="457200" y="3691840"/>
            <a:ext cx="6463180" cy="220573"/>
          </a:xfrm>
          <a:prstGeom prst="rect">
            <a:avLst/>
          </a:prstGeom>
          <a:noFill/>
          <a:ln/>
        </p:spPr>
        <p:txBody>
          <a:bodyPr wrap="none" lIns="0" tIns="68072" rIns="0" bIns="0" rtlCol="0" anchor="t">
            <a:spAutoFit/>
          </a:bodyPr>
          <a:lstStyle/>
          <a:p>
            <a:pPr marL="0" indent="0" algn="l">
              <a:lnSpc>
                <a:spcPts val="1100"/>
              </a:lnSpc>
              <a:buNone/>
            </a:pPr>
            <a:r>
              <a:rPr lang="en-US" sz="1400" b="1" kern="0" spc="1" dirty="0">
                <a:solidFill>
                  <a:schemeClr val="tx1">
                    <a:lumMod val="50000"/>
                    <a:lumOff val="50000"/>
                  </a:schemeClr>
                </a:solidFill>
                <a:latin typeface="Inter" pitchFamily="34" charset="0"/>
                <a:ea typeface="Inter" pitchFamily="34" charset="-122"/>
                <a:cs typeface="Inter" pitchFamily="34" charset="-120"/>
              </a:rPr>
              <a:t>STRATEGIC HORIZON: INTEGRATING REAL-TIME DATA WITH PREDICTIVE INTELLIGENCE</a:t>
            </a:r>
            <a:endParaRPr lang="en-US" sz="1400" dirty="0">
              <a:solidFill>
                <a:schemeClr val="tx1">
                  <a:lumMod val="50000"/>
                  <a:lumOff val="50000"/>
                </a:schemeClr>
              </a:solidFill>
            </a:endParaRPr>
          </a:p>
        </p:txBody>
      </p:sp>
      <p:pic>
        <p:nvPicPr>
          <p:cNvPr id="2" name="Picture 6" descr="AASTMT Media Center - المركز الإعلامى للأكاديمية العربية ...">
            <a:extLst>
              <a:ext uri="{FF2B5EF4-FFF2-40B4-BE49-F238E27FC236}">
                <a16:creationId xmlns:a16="http://schemas.microsoft.com/office/drawing/2014/main" id="{579B9143-1459-222A-5EFB-5CC61DD71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490" y="120584"/>
            <a:ext cx="1166890" cy="997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0"/>
          <p:cNvSpPr/>
          <p:nvPr/>
        </p:nvSpPr>
        <p:spPr>
          <a:xfrm>
            <a:off x="225137" y="816894"/>
            <a:ext cx="3714750" cy="989566"/>
          </a:xfrm>
          <a:prstGeom prst="rect">
            <a:avLst/>
          </a:prstGeom>
          <a:noFill/>
          <a:ln/>
        </p:spPr>
        <p:txBody>
          <a:bodyPr wrap="square" lIns="0" tIns="0" rIns="0" bIns="0" rtlCol="0" anchor="t">
            <a:spAutoFit/>
          </a:bodyPr>
          <a:lstStyle/>
          <a:p>
            <a:pPr marL="0" indent="0" algn="l">
              <a:lnSpc>
                <a:spcPts val="4000"/>
              </a:lnSpc>
              <a:buNone/>
            </a:pPr>
            <a:r>
              <a:rPr lang="en-US" sz="2800" b="1" dirty="0">
                <a:solidFill>
                  <a:srgbClr val="18181B"/>
                </a:solidFill>
                <a:latin typeface="Playfair Display" pitchFamily="34" charset="0"/>
                <a:ea typeface="Playfair Display" pitchFamily="34" charset="-122"/>
                <a:cs typeface="Playfair Display" pitchFamily="34" charset="-120"/>
              </a:rPr>
              <a:t>Future directions and Recommendation</a:t>
            </a:r>
            <a:endParaRPr lang="en-US" sz="2800" dirty="0"/>
          </a:p>
        </p:txBody>
      </p:sp>
      <p:sp>
        <p:nvSpPr>
          <p:cNvPr id="5" name="Text 1"/>
          <p:cNvSpPr/>
          <p:nvPr/>
        </p:nvSpPr>
        <p:spPr>
          <a:xfrm>
            <a:off x="225137" y="2068786"/>
            <a:ext cx="3714750" cy="816249"/>
          </a:xfrm>
          <a:prstGeom prst="rect">
            <a:avLst/>
          </a:prstGeom>
          <a:noFill/>
          <a:ln/>
        </p:spPr>
        <p:txBody>
          <a:bodyPr wrap="square" lIns="0" tIns="0" rIns="0" bIns="0" rtlCol="0" anchor="t">
            <a:spAutoFit/>
          </a:bodyPr>
          <a:lstStyle/>
          <a:p>
            <a:pPr marL="0" indent="0" algn="l">
              <a:lnSpc>
                <a:spcPts val="2200"/>
              </a:lnSpc>
              <a:buNone/>
            </a:pPr>
            <a:r>
              <a:rPr lang="en-US" sz="1200" b="1" dirty="0">
                <a:solidFill>
                  <a:srgbClr val="52525B"/>
                </a:solidFill>
                <a:latin typeface="Inter" pitchFamily="34" charset="0"/>
                <a:ea typeface="Inter" pitchFamily="34" charset="-122"/>
                <a:cs typeface="Inter" pitchFamily="34" charset="-120"/>
              </a:rPr>
              <a:t>AI is no longer a luxury but a strategic necessity for financial predictability and risk mitigation in the modern construction landscape.</a:t>
            </a:r>
            <a:endParaRPr lang="en-US" sz="1200" b="1" dirty="0"/>
          </a:p>
        </p:txBody>
      </p:sp>
      <p:sp>
        <p:nvSpPr>
          <p:cNvPr id="6" name="Text 2"/>
          <p:cNvSpPr/>
          <p:nvPr/>
        </p:nvSpPr>
        <p:spPr>
          <a:xfrm>
            <a:off x="4461910" y="985915"/>
            <a:ext cx="1502591"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latin typeface="Inter" pitchFamily="34" charset="0"/>
                <a:ea typeface="Inter" pitchFamily="34" charset="-122"/>
                <a:cs typeface="Inter" pitchFamily="34" charset="-120"/>
              </a:rPr>
              <a:t>RECOMMENDATION</a:t>
            </a:r>
            <a:r>
              <a:rPr lang="en-US" sz="1200" b="1" kern="0" spc="1" dirty="0">
                <a:solidFill>
                  <a:schemeClr val="tx1">
                    <a:lumMod val="50000"/>
                    <a:lumOff val="50000"/>
                  </a:schemeClr>
                </a:solidFill>
                <a:latin typeface="Inter" pitchFamily="34" charset="0"/>
                <a:ea typeface="Inter" pitchFamily="34" charset="-122"/>
                <a:cs typeface="Inter" pitchFamily="34" charset="-120"/>
              </a:rPr>
              <a:t> </a:t>
            </a:r>
            <a:r>
              <a:rPr lang="en-US" sz="1200" b="1" kern="0" spc="1" dirty="0">
                <a:latin typeface="Inter" pitchFamily="34" charset="0"/>
                <a:ea typeface="Inter" pitchFamily="34" charset="-122"/>
                <a:cs typeface="Inter" pitchFamily="34" charset="-120"/>
              </a:rPr>
              <a:t>01</a:t>
            </a:r>
            <a:endParaRPr lang="en-US" sz="1200" dirty="0"/>
          </a:p>
        </p:txBody>
      </p:sp>
      <p:sp>
        <p:nvSpPr>
          <p:cNvPr id="7" name="Text 3"/>
          <p:cNvSpPr/>
          <p:nvPr/>
        </p:nvSpPr>
        <p:spPr>
          <a:xfrm>
            <a:off x="4452819" y="1128945"/>
            <a:ext cx="371475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Standardize Data Collection</a:t>
            </a:r>
            <a:endParaRPr lang="en-US" sz="1193" dirty="0"/>
          </a:p>
        </p:txBody>
      </p:sp>
      <p:sp>
        <p:nvSpPr>
          <p:cNvPr id="8" name="Text 4"/>
          <p:cNvSpPr/>
          <p:nvPr/>
        </p:nvSpPr>
        <p:spPr>
          <a:xfrm>
            <a:off x="4499264" y="1401908"/>
            <a:ext cx="2221923" cy="600485"/>
          </a:xfrm>
          <a:prstGeom prst="rect">
            <a:avLst/>
          </a:prstGeom>
          <a:noFill/>
          <a:ln/>
        </p:spPr>
        <p:txBody>
          <a:bodyPr wrap="square" lIns="0" tIns="0" rIns="0" bIns="0" rtlCol="0" anchor="t">
            <a:spAutoFit/>
          </a:bodyPr>
          <a:lstStyle/>
          <a:p>
            <a:pPr marL="0" indent="0" algn="l">
              <a:lnSpc>
                <a:spcPts val="1600"/>
              </a:lnSpc>
              <a:buNone/>
            </a:pPr>
            <a:r>
              <a:rPr lang="en-US" sz="1100" b="1" dirty="0">
                <a:solidFill>
                  <a:schemeClr val="bg2">
                    <a:lumMod val="50000"/>
                  </a:schemeClr>
                </a:solidFill>
                <a:latin typeface="Inter" pitchFamily="34" charset="0"/>
                <a:ea typeface="Inter" pitchFamily="34" charset="-122"/>
                <a:cs typeface="Inter" pitchFamily="34" charset="-120"/>
              </a:rPr>
              <a:t>Invest in high-quality, structured historical data collection to fuel more accurate predictive models.</a:t>
            </a:r>
            <a:endParaRPr lang="en-US" sz="1100" b="1" dirty="0">
              <a:solidFill>
                <a:schemeClr val="bg2">
                  <a:lumMod val="50000"/>
                </a:schemeClr>
              </a:solidFill>
            </a:endParaRPr>
          </a:p>
        </p:txBody>
      </p:sp>
      <p:sp>
        <p:nvSpPr>
          <p:cNvPr id="9" name="Text 5"/>
          <p:cNvSpPr/>
          <p:nvPr/>
        </p:nvSpPr>
        <p:spPr>
          <a:xfrm>
            <a:off x="4493201" y="2306673"/>
            <a:ext cx="1502591"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latin typeface="Inter" pitchFamily="34" charset="0"/>
                <a:ea typeface="Inter" pitchFamily="34" charset="-122"/>
                <a:cs typeface="Inter" pitchFamily="34" charset="-120"/>
              </a:rPr>
              <a:t>RECOMMENDATION</a:t>
            </a:r>
            <a:r>
              <a:rPr lang="en-US" sz="1200" b="1" kern="0" spc="1" dirty="0">
                <a:solidFill>
                  <a:schemeClr val="tx1">
                    <a:lumMod val="50000"/>
                    <a:lumOff val="50000"/>
                  </a:schemeClr>
                </a:solidFill>
                <a:latin typeface="Inter" pitchFamily="34" charset="0"/>
                <a:ea typeface="Inter" pitchFamily="34" charset="-122"/>
                <a:cs typeface="Inter" pitchFamily="34" charset="-120"/>
              </a:rPr>
              <a:t> </a:t>
            </a:r>
            <a:r>
              <a:rPr lang="en-US" sz="1200" b="1" kern="0" spc="1" dirty="0">
                <a:latin typeface="Inter" pitchFamily="34" charset="0"/>
                <a:ea typeface="Inter" pitchFamily="34" charset="-122"/>
                <a:cs typeface="Inter" pitchFamily="34" charset="-120"/>
              </a:rPr>
              <a:t>02</a:t>
            </a:r>
            <a:endParaRPr lang="en-US" sz="683" dirty="0"/>
          </a:p>
        </p:txBody>
      </p:sp>
      <p:sp>
        <p:nvSpPr>
          <p:cNvPr id="10" name="Text 6"/>
          <p:cNvSpPr/>
          <p:nvPr/>
        </p:nvSpPr>
        <p:spPr>
          <a:xfrm>
            <a:off x="4502966" y="2433895"/>
            <a:ext cx="2923070" cy="193130"/>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Foster Cross-Domain Synergy</a:t>
            </a:r>
            <a:endParaRPr lang="en-US" sz="1193" dirty="0"/>
          </a:p>
        </p:txBody>
      </p:sp>
      <p:sp>
        <p:nvSpPr>
          <p:cNvPr id="11" name="Text 7"/>
          <p:cNvSpPr/>
          <p:nvPr/>
        </p:nvSpPr>
        <p:spPr>
          <a:xfrm>
            <a:off x="4502966" y="2745529"/>
            <a:ext cx="2794289" cy="600485"/>
          </a:xfrm>
          <a:prstGeom prst="rect">
            <a:avLst/>
          </a:prstGeom>
          <a:noFill/>
          <a:ln/>
        </p:spPr>
        <p:txBody>
          <a:bodyPr wrap="square" lIns="0" tIns="0" rIns="0" bIns="0" rtlCol="0" anchor="t">
            <a:spAutoFit/>
          </a:bodyPr>
          <a:lstStyle/>
          <a:p>
            <a:pPr marL="0" indent="0" algn="l">
              <a:lnSpc>
                <a:spcPts val="1600"/>
              </a:lnSpc>
              <a:buNone/>
            </a:pPr>
            <a:r>
              <a:rPr lang="en-US" sz="1100" b="1" dirty="0">
                <a:solidFill>
                  <a:schemeClr val="bg2">
                    <a:lumMod val="50000"/>
                  </a:schemeClr>
                </a:solidFill>
                <a:latin typeface="Inter" pitchFamily="34" charset="0"/>
                <a:ea typeface="Inter" pitchFamily="34" charset="-122"/>
                <a:cs typeface="Inter" pitchFamily="34" charset="-120"/>
              </a:rPr>
              <a:t>Bridge the gap between AI specialists and domain experts to ensure models are grounded in construction reality.</a:t>
            </a:r>
            <a:endParaRPr lang="en-US" sz="1100" b="1" dirty="0">
              <a:solidFill>
                <a:schemeClr val="bg2">
                  <a:lumMod val="50000"/>
                </a:schemeClr>
              </a:solidFill>
            </a:endParaRPr>
          </a:p>
        </p:txBody>
      </p:sp>
      <p:sp>
        <p:nvSpPr>
          <p:cNvPr id="12" name="Text 8"/>
          <p:cNvSpPr/>
          <p:nvPr/>
        </p:nvSpPr>
        <p:spPr>
          <a:xfrm>
            <a:off x="4502966" y="3502284"/>
            <a:ext cx="1502591"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latin typeface="Inter" pitchFamily="34" charset="0"/>
                <a:ea typeface="Inter" pitchFamily="34" charset="-122"/>
              </a:rPr>
              <a:t>RECOMMENDATION</a:t>
            </a:r>
            <a:r>
              <a:rPr lang="en-US" sz="1200" b="1" kern="0" spc="1" dirty="0">
                <a:solidFill>
                  <a:srgbClr val="8B5CF6"/>
                </a:solidFill>
                <a:latin typeface="Inter" pitchFamily="34" charset="0"/>
                <a:ea typeface="Inter" pitchFamily="34" charset="-122"/>
              </a:rPr>
              <a:t> </a:t>
            </a:r>
            <a:r>
              <a:rPr lang="en-US" sz="1200" b="1" kern="0" spc="1" dirty="0">
                <a:latin typeface="Inter" pitchFamily="34" charset="0"/>
                <a:ea typeface="Inter" pitchFamily="34" charset="-122"/>
              </a:rPr>
              <a:t>03</a:t>
            </a:r>
          </a:p>
        </p:txBody>
      </p:sp>
      <p:sp>
        <p:nvSpPr>
          <p:cNvPr id="13" name="Text 9"/>
          <p:cNvSpPr/>
          <p:nvPr/>
        </p:nvSpPr>
        <p:spPr>
          <a:xfrm>
            <a:off x="4502966" y="3684771"/>
            <a:ext cx="3714750" cy="20716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8181B"/>
                </a:solidFill>
                <a:latin typeface="Inter" pitchFamily="34" charset="0"/>
                <a:ea typeface="Inter" pitchFamily="34" charset="-122"/>
                <a:cs typeface="Inter" pitchFamily="34" charset="-120"/>
              </a:rPr>
              <a:t>Adopt Probabilistic Frameworks</a:t>
            </a:r>
            <a:endParaRPr lang="en-US" sz="1193" dirty="0"/>
          </a:p>
        </p:txBody>
      </p:sp>
      <p:sp>
        <p:nvSpPr>
          <p:cNvPr id="14" name="Text 10"/>
          <p:cNvSpPr/>
          <p:nvPr/>
        </p:nvSpPr>
        <p:spPr>
          <a:xfrm>
            <a:off x="4502966" y="3968255"/>
            <a:ext cx="2405181" cy="600485"/>
          </a:xfrm>
          <a:prstGeom prst="rect">
            <a:avLst/>
          </a:prstGeom>
          <a:noFill/>
          <a:ln/>
        </p:spPr>
        <p:txBody>
          <a:bodyPr wrap="square" lIns="0" tIns="0" rIns="0" bIns="0" rtlCol="0" anchor="t">
            <a:spAutoFit/>
          </a:bodyPr>
          <a:lstStyle/>
          <a:p>
            <a:pPr marL="0" indent="0" algn="l">
              <a:lnSpc>
                <a:spcPts val="1600"/>
              </a:lnSpc>
              <a:buNone/>
            </a:pPr>
            <a:r>
              <a:rPr lang="en-US" sz="1100" b="1" dirty="0">
                <a:solidFill>
                  <a:schemeClr val="bg2">
                    <a:lumMod val="50000"/>
                  </a:schemeClr>
                </a:solidFill>
                <a:latin typeface="Inter" pitchFamily="34" charset="0"/>
                <a:ea typeface="Inter" pitchFamily="34" charset="-122"/>
                <a:cs typeface="Inter" pitchFamily="34" charset="-120"/>
              </a:rPr>
              <a:t>Transition from static estimates to probabilistic frameworks that account for market volatility and project risks.</a:t>
            </a:r>
            <a:endParaRPr lang="en-US" sz="1100" b="1" dirty="0">
              <a:solidFill>
                <a:schemeClr val="bg2">
                  <a:lumMod val="50000"/>
                </a:schemeClr>
              </a:solidFill>
            </a:endParaRPr>
          </a:p>
        </p:txBody>
      </p:sp>
      <p:pic>
        <p:nvPicPr>
          <p:cNvPr id="2" name="Picture 6" descr="AASTMT Media Center - المركز الإعلامى للأكاديمية العربية ...">
            <a:extLst>
              <a:ext uri="{FF2B5EF4-FFF2-40B4-BE49-F238E27FC236}">
                <a16:creationId xmlns:a16="http://schemas.microsoft.com/office/drawing/2014/main" id="{48EB0FFE-72B0-CDA8-2D06-DF2DE23EDA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4897" y="8750"/>
            <a:ext cx="1166890" cy="9639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5700</TotalTime>
  <Words>2425</Words>
  <Application>Microsoft Office PowerPoint</Application>
  <PresentationFormat>On-screen Show (16:9)</PresentationFormat>
  <Paragraphs>197</Paragraphs>
  <Slides>16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Inter</vt:lpstr>
      <vt:lpstr>JetBrains Mono</vt:lpstr>
      <vt:lpstr>Palatino Linotype</vt:lpstr>
      <vt:lpstr>Playfair Display</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Mostafa Abdellatif</cp:lastModifiedBy>
  <cp:revision>6</cp:revision>
  <cp:lastPrinted>2026-03-30T20:24:33Z</cp:lastPrinted>
  <dcterms:created xsi:type="dcterms:W3CDTF">2026-03-28T19:49:10Z</dcterms:created>
  <dcterms:modified xsi:type="dcterms:W3CDTF">2026-04-02T22:34:18Z</dcterms:modified>
</cp:coreProperties>
</file>